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Masters/slideMaster1.xml" ContentType="application/vnd.openxmlformats-officedocument.presentationml.slideMaster+xml"/>
  <Override PartName="/ppt/slides/slide8.xml" ContentType="application/vnd.openxmlformats-officedocument.presentationml.slide+xml"/>
  <Override PartName="/ppt/slides/slide13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6.xml" ContentType="application/vnd.openxmlformats-officedocument.presentationml.slide+xml"/>
  <Override PartName="/ppt/slideLayouts/slideLayout9.xml" ContentType="application/vnd.openxmlformats-officedocument.presentationml.slideLayout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8.xml" ContentType="application/vnd.openxmlformats-officedocument.presentationml.slideLayout+xml"/>
  <Override PartName="/ppt/presProps.xml" ContentType="application/vnd.openxmlformats-officedocument.presentationml.presProps+xml"/>
  <Override PartName="/ppt/notesSlides/notesSlide4.xml" ContentType="application/vnd.openxmlformats-officedocument.presentationml.notesSlide+xml"/>
  <Override PartName="/ppt/tableStyles.xml" ContentType="application/vnd.openxmlformats-officedocument.presentationml.tableStyles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slideLayouts/slideLayout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8.xml" ContentType="application/vnd.openxmlformats-officedocument.presentationml.notesSlide+xml"/>
  <Override PartName="/ppt/theme/theme2.xml" ContentType="application/vnd.openxmlformats-officedocument.them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</Types>
</file>

<file path=_rels/.rels><?xml version="1.0" encoding="UTF-8" standalone="yes"?><Relationships xmlns="http://schemas.openxmlformats.org/package/2006/relationships"><Relationship Id="rId0" Type="http://schemas.openxmlformats.org/officeDocument/2006/relationships/officeDocument" Target="ppt/presentation.xml" /><Relationship Id="rId1" Type="http://schemas.openxmlformats.org/package/2006/relationships/metadata/core-properties" Target="docProps/core.xml" /><Relationship Id="rId2" Type="http://schemas.openxmlformats.org/officeDocument/2006/relationships/extended-properties" Target="docProps/app.xml" 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 firstSlideNum="1">
  <p:sldMasterIdLst>
    <p:sldMasterId id="2147483648" r:id="rId0"/>
  </p:sldMasterIdLst>
  <p:notesMasterIdLst>
    <p:notesMasterId r:id="rId15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0" Type="http://schemas.openxmlformats.org/officeDocument/2006/relationships/slideMaster" Target="slideMasters/slideMaster1.xml" /><Relationship Id="rId8" Type="http://schemas.openxmlformats.org/officeDocument/2006/relationships/slide" Target="slides/slide8.xml" /><Relationship Id="rId1" Type="http://schemas.openxmlformats.org/officeDocument/2006/relationships/slide" Target="slides/slide1.xml" /><Relationship Id="rId13" Type="http://schemas.openxmlformats.org/officeDocument/2006/relationships/slide" Target="slides/slide13.xml" /><Relationship Id="rId11" Type="http://schemas.openxmlformats.org/officeDocument/2006/relationships/slide" Target="slides/slide11.xml" /><Relationship Id="rId10" Type="http://schemas.openxmlformats.org/officeDocument/2006/relationships/slide" Target="slides/slide10.xml" /><Relationship Id="rId12" Type="http://schemas.openxmlformats.org/officeDocument/2006/relationships/slide" Target="slides/slide12.xml" /><Relationship Id="rId6" Type="http://schemas.openxmlformats.org/officeDocument/2006/relationships/slide" Target="slides/slide6.xml" /><Relationship Id="rId14" Type="http://schemas.openxmlformats.org/officeDocument/2006/relationships/slide" Target="slides/slide14.xml" /><Relationship Id="rId15" Type="http://schemas.openxmlformats.org/officeDocument/2006/relationships/notesMaster" Target="notesMasters/notesMaster1.xml" /><Relationship Id="rId16" Type="http://schemas.openxmlformats.org/officeDocument/2006/relationships/presProps" Target="presProps.xml" /><Relationship Id="rId17" Type="http://schemas.openxmlformats.org/officeDocument/2006/relationships/tableStyles" Target="tableStyles.xml" /><Relationship Id="rId18" Type="http://schemas.openxmlformats.org/officeDocument/2006/relationships/viewProps" Target="viewProps.xml" /><Relationship Id="rId2" Type="http://schemas.openxmlformats.org/officeDocument/2006/relationships/slide" Target="slides/slide2.xml" /><Relationship Id="rId3" Type="http://schemas.openxmlformats.org/officeDocument/2006/relationships/slide" Target="slides/slide3.xml" /><Relationship Id="rId4" Type="http://schemas.openxmlformats.org/officeDocument/2006/relationships/slide" Target="slides/slide4.xml" /><Relationship Id="rId5" Type="http://schemas.openxmlformats.org/officeDocument/2006/relationships/slide" Target="slides/slide5.xml" /><Relationship Id="rId7" Type="http://schemas.openxmlformats.org/officeDocument/2006/relationships/slide" Target="slides/slide7.xml" /><Relationship Id="rId9" Type="http://schemas.openxmlformats.org/officeDocument/2006/relationships/slide" Target="slides/slide9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/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/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/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/>
          </a:p>
          <a:p>
            <a:pPr lvl="1"/>
            <a:r>
              <a:rPr lang="en-US" smtClean="0"/>
              <a:t>Second level</a:t>
            </a:r>
            <a:endParaRPr/>
          </a:p>
          <a:p>
            <a:pPr lvl="2"/>
            <a:r>
              <a:rPr lang="en-US" smtClean="0"/>
              <a:t>Third level</a:t>
            </a:r>
            <a:endParaRPr/>
          </a:p>
          <a:p>
            <a:pPr lvl="3"/>
            <a:r>
              <a:rPr lang="en-US" smtClean="0"/>
              <a:t>Fourth level</a:t>
            </a:r>
            <a:endParaRPr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/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0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<Relationships xmlns="http://schemas.openxmlformats.org/package/2006/relationships"><Relationship Id="rId0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_rels/notesSlide3.xml.rels><?xml version="1.0" encoding="UTF-8" standalone="yes"?><Relationships xmlns="http://schemas.openxmlformats.org/package/2006/relationships"><Relationship Id="rId0" Type="http://schemas.openxmlformats.org/officeDocument/2006/relationships/slide" Target="../slides/slide11.xml" /><Relationship Id="rId1" Type="http://schemas.openxmlformats.org/officeDocument/2006/relationships/notesMaster" Target="../notesMasters/notesMaster1.xml" /></Relationships>
</file>

<file path=ppt/notesSlides/_rels/notesSlide4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12.xml" /></Relationships>
</file>

<file path=ppt/notesSlides/_rels/notesSlide5.xml.rels><?xml version="1.0" encoding="UTF-8" standalone="yes"?><Relationships xmlns="http://schemas.openxmlformats.org/package/2006/relationships"><Relationship Id="rId0" Type="http://schemas.openxmlformats.org/officeDocument/2006/relationships/slide" Target="../slides/slide13.xml" /><Relationship Id="rId1" Type="http://schemas.openxmlformats.org/officeDocument/2006/relationships/notesMaster" Target="../notesMasters/notesMaster1.xml" /></Relationships>
</file>

<file path=ppt/notesSlides/_rels/notesSlide6.xml.rels><?xml version="1.0" encoding="UTF-8" standalone="yes"?><Relationships xmlns="http://schemas.openxmlformats.org/package/2006/relationships"><Relationship Id="rId0" Type="http://schemas.openxmlformats.org/officeDocument/2006/relationships/slide" Target="../slides/slide14.xml" /><Relationship Id="rId1" Type="http://schemas.openxmlformats.org/officeDocument/2006/relationships/notesMaster" Target="../notesMasters/notesMaster1.xml" /></Relationships>
</file>

<file path=ppt/notesSlides/_rels/notesSlide7.xml.rels><?xml version="1.0" encoding="UTF-8" standalone="yes"?><Relationships xmlns="http://schemas.openxmlformats.org/package/2006/relationships"><Relationship Id="rId0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8.xml.rels><?xml version="1.0" encoding="UTF-8" standalone="yes"?><Relationships xmlns="http://schemas.openxmlformats.org/package/2006/relationships"><Relationship Id="rId0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9.xml.rels><?xml version="1.0" encoding="UTF-8" standalone="yes"?><Relationships xmlns="http://schemas.openxmlformats.org/package/2006/relationships"><Relationship Id="rId0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 standalone="yes"?><Relationships xmlns="http://schemas.openxmlformats.org/package/2006/relationships"><Relationship Id="rId0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1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6.xml" /></Relationships>
</file>

<file path=ppt/notesSlides/_rels/notesSlide12.xml.rels><?xml version="1.0" encoding="UTF-8" standalone="yes"?><Relationships xmlns="http://schemas.openxmlformats.org/package/2006/relationships"><Relationship Id="rId0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13.xml.rels><?xml version="1.0" encoding="UTF-8" standalone="yes"?><Relationships xmlns="http://schemas.openxmlformats.org/package/2006/relationships"><Relationship Id="rId0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14.xml.rels><?xml version="1.0" encoding="UTF-8" standalone="yes"?><Relationships xmlns="http://schemas.openxmlformats.org/package/2006/relationships"><Relationship Id="rId0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>
            <a:pPr/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/>
              <a:t>我们是微积分学伴，面向一元函数微分学，只做三件事：导数、切线、单调性。一句话定位：先回答学生问的问题；当他问不出来的时候，替他找出缺的那一块并补上。市面上不缺能答疑的 AI，缺的是替学生发现「他不知道自己不知道什么」的那一步。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pPr/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>
      <p:nvGrpSpPr>
        <p:cNvPr id="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>
            <a:pPr/>
            <a:endParaRPr/>
          </a:p>
        </p:txBody>
      </p:sp>
      <p:sp>
        <p:nvSpPr>
          <p:cNvPr id="7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/>
              <a:t>三条边界我们写在界面上，而不是文档里：我已掌握不会把材料未覆盖改判为已覆盖；AI 已补充不等于已验证；补充内容不跨会话迁移。配色上收敛到白、绿、黄三个色族，红并入黄、蓝并入绿。</a:t>
            </a:r>
            <a:endParaRPr/>
          </a:p>
        </p:txBody>
      </p:sp>
      <p:sp>
        <p:nvSpPr>
          <p:cNvPr id="8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pPr/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>
      <p:nvGrpSpPr>
        <p:cNvPr id="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>
            <a:pPr/>
            <a:endParaRPr/>
          </a:p>
        </p:txBody>
      </p:sp>
      <p:sp>
        <p:nvSpPr>
          <p:cNvPr id="11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/>
              <a:t>兜底的是工程：回归七百二十七项全部通过，接口十一个十个可用，第十一个如实返回 501；错误响应只有一个出口；教学模块不读密钥，可以离线单测。也有不好看的数字：七个文件超过三百行，已登记待拆分。</a:t>
            </a:r>
            <a:endParaRPr/>
          </a:p>
        </p:txBody>
      </p:sp>
      <p:sp>
        <p:nvSpPr>
          <p:cNvPr id="12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pPr/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>
            <a:pPr/>
            <a:endParaRPr/>
          </a:p>
        </p:txBody>
      </p:sp>
      <p:sp>
        <p:nvSpPr>
          <p:cNvPr id="15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/>
              <a:t>交付四件套如实汇报：在线链接已部署、源码仓库已公开、对话记录持续积累、可交互作品主体可演示。三条在线限制都不是故障：访问提示中间页、冷启动首探 503、以及平台网关加的响应头。</a:t>
            </a:r>
            <a:endParaRPr/>
          </a:p>
        </p:txBody>
      </p:sp>
      <p:sp>
        <p:nvSpPr>
          <p:cNvPr id="16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pPr/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>
      <p:nvGrpSpPr>
        <p:cNvPr id="1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>
            <a:pPr/>
            <a:endParaRPr/>
          </a:p>
        </p:txBody>
      </p:sp>
      <p:sp>
        <p:nvSpPr>
          <p:cNvPr id="19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/>
              <a:t>能力分三档，每档都能被检查。已实现的有回归与线上实测；已设计未实现的是教师视图、错题归因、多智能体；只能演一半的是图谱关系边与符号验证的真实通道。判据是：每一句关于能做什么的话，都对应一份可运行的实现或一条通过了的断言。</a:t>
            </a:r>
            <a:endParaRPr/>
          </a:p>
        </p:txBody>
      </p:sp>
      <p:sp>
        <p:nvSpPr>
          <p:cNvPr id="20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pPr/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>
      <p:nvGrpSpPr>
        <p:cNvPr id="2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>
            <a:pPr/>
            <a:endParaRPr/>
          </a:p>
        </p:txBody>
      </p:sp>
      <p:sp>
        <p:nvSpPr>
          <p:cNvPr id="2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/>
              <a:t>回到最开始那一句：先回答学生问的问题；当他问不出来的时候，替他找出缺的那一块并补上。一个教学智能体，可以在帮到学生和不欺骗学生之间同时站住。谢谢各位老师。</a:t>
            </a:r>
            <a:endParaRPr/>
          </a:p>
        </p:txBody>
      </p:sp>
      <p:sp>
        <p:nvSpPr>
          <p:cNvPr id="2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pPr/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>
            <a:pPr/>
            <a:endParaRPr/>
          </a:p>
        </p:txBody>
      </p:sp>
      <p:sp>
        <p:nvSpPr>
          <p:cNvPr id="27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/>
              <a:t>五段讲完：问题在哪、我们的核心命题与闭环、六个特色功能、工程底座与交付现状、以及能力边界与后续路线。</a:t>
            </a:r>
            <a:endParaRPr/>
          </a:p>
        </p:txBody>
      </p:sp>
      <p:sp>
        <p:nvSpPr>
          <p:cNvPr id="28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pPr/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>
      <p:nvGrpSpPr>
        <p:cNvPr id="2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>
            <a:pPr/>
            <a:endParaRPr/>
          </a:p>
        </p:txBody>
      </p:sp>
      <p:sp>
        <p:nvSpPr>
          <p:cNvPr id="31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/>
              <a:t>学生拿到一份只讲单调性判定的讲义，想弄明白为什么导数大于零就说明函数递增，但这份讲义通篇没有解释导数是什么。学生此刻的困难，恰恰不是他问出来的那个问题。</a:t>
            </a:r>
            <a:endParaRPr/>
          </a:p>
        </p:txBody>
      </p:sp>
      <p:sp>
        <p:nvSpPr>
          <p:cNvPr id="32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pPr/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>
      <p:nvGrpSpPr>
        <p:cNvPr id="3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>
            <a:pPr/>
            <a:endParaRPr/>
          </a:p>
        </p:txBody>
      </p:sp>
      <p:sp>
        <p:nvSpPr>
          <p:cNvPr id="35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/>
              <a:t>普通工具只回答你问的那一句，默认你缺的地基都在。我们多做一步：先检查讲义里有没有解释所依赖的前置概念，发现缺口就补上最小必要说明。补齐的责任在系统，不在刚发现自己看不懂的学生。</a:t>
            </a:r>
            <a:endParaRPr/>
          </a:p>
        </p:txBody>
      </p:sp>
      <p:sp>
        <p:nvSpPr>
          <p:cNvPr id="36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pPr/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>
      <p:nvGrpSpPr>
        <p:cNvPr id="3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>
            <a:pPr/>
            <a:endParaRPr/>
          </a:p>
        </p:txBody>
      </p:sp>
      <p:sp>
        <p:nvSpPr>
          <p:cNvPr id="39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/>
              <a:t>走一遍六步：不上传材料也能问，但会标注未基于你的材料；传了讲义，系统指出判断单调性依赖导数而讲义没解释导数；点一下补齐，生成两百到四百字并标注 AI 补充；再问，回答带来源和验证状态。</a:t>
            </a:r>
            <a:endParaRPr/>
          </a:p>
        </p:txBody>
      </p:sp>
      <p:sp>
        <p:nvSpPr>
          <p:cNvPr id="40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pPr/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>
            <a:pPr/>
            <a:endParaRPr/>
          </a:p>
        </p:txBody>
      </p:sp>
      <p:sp>
        <p:nvSpPr>
          <p:cNvPr id="4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/>
              <a:t>依赖有六态，每一态都有进入条件。三条硬规则：学生点我已掌握不会把材料未覆盖改判成已覆盖；仅仅提到术语不算解释；补充内容不跨会话迁移。</a:t>
            </a:r>
            <a:endParaRPr/>
          </a:p>
        </p:txBody>
      </p:sp>
      <p:sp>
        <p:nvSpPr>
          <p:cNvPr id="4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pPr/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>
      <p:nvGrpSpPr>
        <p:cNvPr id="4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>
            <a:pPr/>
            <a:endParaRPr/>
          </a:p>
        </p:txBody>
      </p:sp>
      <p:sp>
        <p:nvSpPr>
          <p:cNvPr id="47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/>
              <a:t>技术上最重的一件：不允许模型自由发挥数学结论，模型回结构化断言 —— 求导值、切线、单调区间、极值点 —— 我们的符号引擎逐条核验：全过判已验证，任一不过直接判有争议并带出证据，算不出来的停在未验证。</a:t>
            </a:r>
            <a:endParaRPr/>
          </a:p>
        </p:txBody>
      </p:sp>
      <p:sp>
        <p:nvSpPr>
          <p:cNvPr id="48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pPr/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>
      <p:nvGrpSpPr>
        <p:cNvPr id="4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>
            <a:pPr/>
            <a:endParaRPr/>
          </a:p>
        </p:txBody>
      </p:sp>
      <p:sp>
        <p:nvSpPr>
          <p:cNvPr id="51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/>
              <a:t>所有模型输出都过两道闸。一：归一，验证状态缺失或非法一律落到未验证，不是落到已验证。二：校验，引用不存在的来源、没有授权的补充块、摘录找不到的，全部被拒绝并返回可重试错误。这是我们拦住编造讲义引用的地方。</a:t>
            </a:r>
            <a:endParaRPr/>
          </a:p>
        </p:txBody>
      </p:sp>
      <p:sp>
        <p:nvSpPr>
          <p:cNvPr id="52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pPr/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>
      <p:nvGrpSpPr>
        <p:cNvPr id="5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>
            <a:pPr/>
            <a:endParaRPr/>
          </a:p>
        </p:txBody>
      </p:sp>
      <p:sp>
        <p:nvSpPr>
          <p:cNvPr id="55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/>
              <a:t>入口有三个：文字、图片、语音，汇进同一条管道。图片线上真实通道实测 200、2.07 秒。语音走浏览器内置识别，服务端不转写 —— 所以接口里如实返回语音通道不可用，这是能力边界的事实陈述，不是故障。</a:t>
            </a:r>
            <a:endParaRPr/>
          </a:p>
        </p:txBody>
      </p:sp>
      <p:sp>
        <p:nvSpPr>
          <p:cNvPr id="56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pPr/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2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3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4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5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6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7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8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9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0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p="http://schemas.openxmlformats.org/presentationml/2006/main" xmlns:a="http://schemas.openxmlformats.org/drawing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pPr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/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p="http://schemas.openxmlformats.org/presentationml/2006/main" xmlns:a="http://schemas.openxmlformats.org/drawingml/2006/main" type="obj">
  <p:cSld name="Title and Content">
    <p:spTree>
      <p:nvGrpSpPr>
        <p:cNvPr id="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/>
          </a:p>
          <a:p>
            <a:pPr lvl="1"/>
            <a:r>
              <a:rPr lang="en-US" smtClean="0"/>
              <a:t>Second level</a:t>
            </a:r>
            <a:endParaRPr/>
          </a:p>
          <a:p>
            <a:pPr lvl="2"/>
            <a:r>
              <a:rPr lang="en-US" smtClean="0"/>
              <a:t>Third level</a:t>
            </a:r>
            <a:endParaRPr/>
          </a:p>
          <a:p>
            <a:pPr lvl="3"/>
            <a:r>
              <a:rPr lang="en-US" smtClean="0"/>
              <a:t>Fourth level</a:t>
            </a:r>
            <a:endParaRPr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p="http://schemas.openxmlformats.org/presentationml/2006/main" xmlns:a="http://schemas.openxmlformats.org/drawingml/2006/main" type="secHead">
  <p:cSld name="Section Header">
    <p:spTree>
      <p:nvGrpSpPr>
        <p:cNvPr id="1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21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/>
          </a:p>
        </p:txBody>
      </p:sp>
      <p:sp>
        <p:nvSpPr>
          <p:cNvPr id="2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2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2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p="http://schemas.openxmlformats.org/presentationml/2006/main" xmlns:a="http://schemas.openxmlformats.org/drawingml/2006/main" type="twoObj">
  <p:cSld name="Two Content"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27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/>
          </a:p>
          <a:p>
            <a:pPr lvl="1"/>
            <a:r>
              <a:rPr lang="en-US" smtClean="0"/>
              <a:t>Second level</a:t>
            </a:r>
            <a:endParaRPr/>
          </a:p>
          <a:p>
            <a:pPr lvl="2"/>
            <a:r>
              <a:rPr lang="en-US" smtClean="0"/>
              <a:t>Third level</a:t>
            </a:r>
            <a:endParaRPr/>
          </a:p>
          <a:p>
            <a:pPr lvl="3"/>
            <a:r>
              <a:rPr lang="en-US" smtClean="0"/>
              <a:t>Fourth level</a:t>
            </a:r>
            <a:endParaRPr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28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/>
          </a:p>
          <a:p>
            <a:pPr lvl="1"/>
            <a:r>
              <a:rPr lang="en-US" smtClean="0"/>
              <a:t>Second level</a:t>
            </a:r>
            <a:endParaRPr/>
          </a:p>
          <a:p>
            <a:pPr lvl="2"/>
            <a:r>
              <a:rPr lang="en-US" smtClean="0"/>
              <a:t>Third level</a:t>
            </a:r>
            <a:endParaRPr/>
          </a:p>
          <a:p>
            <a:pPr lvl="3"/>
            <a:r>
              <a:rPr lang="en-US" smtClean="0"/>
              <a:t>Fourth level</a:t>
            </a:r>
            <a:endParaRPr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29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0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31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p="http://schemas.openxmlformats.org/presentationml/2006/main" xmlns:a="http://schemas.openxmlformats.org/drawingml/2006/main" type="twoTxTwoObj">
  <p:cSld name="Comparison">
    <p:spTree>
      <p:nvGrpSpPr>
        <p:cNvPr id="3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4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/>
          </a:p>
        </p:txBody>
      </p:sp>
      <p:sp>
        <p:nvSpPr>
          <p:cNvPr id="35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/>
          </a:p>
          <a:p>
            <a:pPr lvl="1"/>
            <a:r>
              <a:rPr lang="en-US" smtClean="0"/>
              <a:t>Second level</a:t>
            </a:r>
            <a:endParaRPr/>
          </a:p>
          <a:p>
            <a:pPr lvl="2"/>
            <a:r>
              <a:rPr lang="en-US" smtClean="0"/>
              <a:t>Third level</a:t>
            </a:r>
            <a:endParaRPr/>
          </a:p>
          <a:p>
            <a:pPr lvl="3"/>
            <a:r>
              <a:rPr lang="en-US" smtClean="0"/>
              <a:t>Fourth level</a:t>
            </a:r>
            <a:endParaRPr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36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/>
          </a:p>
        </p:txBody>
      </p:sp>
      <p:sp>
        <p:nvSpPr>
          <p:cNvPr id="37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/>
          </a:p>
          <a:p>
            <a:pPr lvl="1"/>
            <a:r>
              <a:rPr lang="en-US" smtClean="0"/>
              <a:t>Second level</a:t>
            </a:r>
            <a:endParaRPr/>
          </a:p>
          <a:p>
            <a:pPr lvl="2"/>
            <a:r>
              <a:rPr lang="en-US" smtClean="0"/>
              <a:t>Third level</a:t>
            </a:r>
            <a:endParaRPr/>
          </a:p>
          <a:p>
            <a:pPr lvl="3"/>
            <a:r>
              <a:rPr lang="en-US" smtClean="0"/>
              <a:t>Fourth level</a:t>
            </a:r>
            <a:endParaRPr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38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9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40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p="http://schemas.openxmlformats.org/presentationml/2006/main" xmlns:a="http://schemas.openxmlformats.org/drawingml/2006/main" type="titleOnly">
  <p:cSld name="Title Only"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4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4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p="http://schemas.openxmlformats.org/presentationml/2006/main" xmlns:a="http://schemas.openxmlformats.org/drawingml/2006/main" type="blank">
  <p:cSld name="Blank">
    <p:spTree>
      <p:nvGrpSpPr>
        <p:cNvPr id="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8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49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p="http://schemas.openxmlformats.org/presentationml/2006/main" xmlns:a="http://schemas.openxmlformats.org/drawingml/2006/main" type="objTx">
  <p:cSld name="Content with Caption">
    <p:spTree>
      <p:nvGrpSpPr>
        <p:cNvPr id="5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52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/>
          </a:p>
          <a:p>
            <a:pPr lvl="1"/>
            <a:r>
              <a:rPr lang="en-US" smtClean="0"/>
              <a:t>Second level</a:t>
            </a:r>
            <a:endParaRPr/>
          </a:p>
          <a:p>
            <a:pPr lvl="2"/>
            <a:r>
              <a:rPr lang="en-US" smtClean="0"/>
              <a:t>Third level</a:t>
            </a:r>
            <a:endParaRPr/>
          </a:p>
          <a:p>
            <a:pPr lvl="3"/>
            <a:r>
              <a:rPr lang="en-US" smtClean="0"/>
              <a:t>Fourth level</a:t>
            </a:r>
            <a:endParaRPr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3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/>
          </a:p>
        </p:txBody>
      </p:sp>
      <p:sp>
        <p:nvSpPr>
          <p:cNvPr id="54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5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p="http://schemas.openxmlformats.org/presentationml/2006/main" xmlns:a="http://schemas.openxmlformats.org/drawingml/2006/main" type="picTx">
  <p:cSld name="Picture with Caption">
    <p:spTree>
      <p:nvGrpSpPr>
        <p:cNvPr id="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59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/>
            <a:endParaRPr lang="en-US"/>
          </a:p>
        </p:txBody>
      </p:sp>
      <p:sp>
        <p:nvSpPr>
          <p:cNvPr id="60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/>
          </a:p>
        </p:txBody>
      </p:sp>
      <p:sp>
        <p:nvSpPr>
          <p:cNvPr id="61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2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63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p="http://schemas.openxmlformats.org/presentationml/2006/main" xmlns:a="http://schemas.openxmlformats.org/drawingml/2006/main" type="vertTx">
  <p:cSld name="Title and Vertical Text">
    <p:spTree>
      <p:nvGrpSpPr>
        <p:cNvPr id="6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66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/>
          </a:p>
          <a:p>
            <a:pPr lvl="1"/>
            <a:r>
              <a:rPr lang="en-US" smtClean="0"/>
              <a:t>Second level</a:t>
            </a:r>
            <a:endParaRPr/>
          </a:p>
          <a:p>
            <a:pPr lvl="2"/>
            <a:r>
              <a:rPr lang="en-US" smtClean="0"/>
              <a:t>Third level</a:t>
            </a:r>
            <a:endParaRPr/>
          </a:p>
          <a:p>
            <a:pPr lvl="3"/>
            <a:r>
              <a:rPr lang="en-US" smtClean="0"/>
              <a:t>Fourth level</a:t>
            </a:r>
            <a:endParaRPr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6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p="http://schemas.openxmlformats.org/presentationml/2006/main" xmlns:a="http://schemas.openxmlformats.org/drawingml/2006/main" type="vertTitleAndTx">
  <p:cSld name="Vertical Title and Text"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pPr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5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/>
          </a:p>
          <a:p>
            <a:pPr lvl="1"/>
            <a:r>
              <a:rPr lang="en-US" smtClean="0"/>
              <a:t>Second level</a:t>
            </a:r>
            <a:endParaRPr/>
          </a:p>
          <a:p>
            <a:pPr lvl="2"/>
            <a:r>
              <a:rPr lang="en-US" smtClean="0"/>
              <a:t>Third level</a:t>
            </a:r>
            <a:endParaRPr/>
          </a:p>
          <a:p>
            <a:pPr lvl="3"/>
            <a:r>
              <a:rPr lang="en-US" smtClean="0"/>
              <a:t>Fourth level</a:t>
            </a:r>
            <a:endParaRPr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1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1" Type="http://schemas.openxmlformats.org/officeDocument/2006/relationships/theme" Target="../theme/theme1.xml" /><Relationship Id="rId0" Type="http://schemas.openxmlformats.org/officeDocument/2006/relationships/slideLayout" Target="../slideLayouts/slideLayout1.xml" /><Relationship Id="rId5" Type="http://schemas.openxmlformats.org/officeDocument/2006/relationships/slideLayout" Target="../slideLayouts/slideLayout6.xml" /><Relationship Id="rId10" Type="http://schemas.openxmlformats.org/officeDocument/2006/relationships/slideLayout" Target="../slideLayouts/slideLayout11.xml" /><Relationship Id="rId1" Type="http://schemas.openxmlformats.org/officeDocument/2006/relationships/slideLayout" Target="../slideLayouts/slideLayout2.xml" /><Relationship Id="rId4" Type="http://schemas.openxmlformats.org/officeDocument/2006/relationships/slideLayout" Target="../slideLayouts/slideLayout5.xml" /><Relationship Id="rId2" Type="http://schemas.openxmlformats.org/officeDocument/2006/relationships/slideLayout" Target="../slideLayouts/slideLayout3.xml" /><Relationship Id="rId3" Type="http://schemas.openxmlformats.org/officeDocument/2006/relationships/slideLayout" Target="../slideLayouts/slideLayout4.xml" /><Relationship Id="rId6" Type="http://schemas.openxmlformats.org/officeDocument/2006/relationships/slideLayout" Target="../slideLayouts/slideLayout7.xml" /><Relationship Id="rId7" Type="http://schemas.openxmlformats.org/officeDocument/2006/relationships/slideLayout" Target="../slideLayouts/slideLayout8.xml" /><Relationship Id="rId8" Type="http://schemas.openxmlformats.org/officeDocument/2006/relationships/slideLayout" Target="../slideLayouts/slideLayout9.xml" /><Relationship Id="rId9" Type="http://schemas.openxmlformats.org/officeDocument/2006/relationships/slideLayout" Target="../slideLayouts/slideLayout10.xml" /></Relationships>
</file>

<file path=ppt/slideMasters/slideMaster1.xml><?xml version="1.0" encoding="utf-8"?>
<p:sldMaster xmlns:p="http://schemas.openxmlformats.org/presentationml/2006/main" xmlns:r="http://schemas.openxmlformats.org/officeDocument/2006/relationships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/>
          </a:p>
          <a:p>
            <a:pPr lvl="1"/>
            <a:r>
              <a:rPr lang="en-US" smtClean="0"/>
              <a:t>Second level</a:t>
            </a:r>
            <a:endParaRPr/>
          </a:p>
          <a:p>
            <a:pPr lvl="2"/>
            <a:r>
              <a:rPr lang="en-US" smtClean="0"/>
              <a:t>Third level</a:t>
            </a:r>
            <a:endParaRPr/>
          </a:p>
          <a:p>
            <a:pPr lvl="3"/>
            <a:r>
              <a:rPr lang="en-US" smtClean="0"/>
              <a:t>Fourth level</a:t>
            </a:r>
            <a:endParaRPr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txStyles>
    <p:titleStyle>
      <a:lvl1pPr algn="ctr" defTabSz="4572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7.xml" /><Relationship Id="rId1" Type="http://schemas.openxmlformats.org/officeDocument/2006/relationships/notesSlide" Target="../notesSlides/notesSlide1.xml" /></Relationships>
</file>

<file path=ppt/slides/_rels/slide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7.xml" /><Relationship Id="rId1" Type="http://schemas.openxmlformats.org/officeDocument/2006/relationships/notesSlide" Target="../notesSlides/notesSlide7.xml" /></Relationships>
</file>

<file path=ppt/slides/_rels/slide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7.xml" /><Relationship Id="rId1" Type="http://schemas.openxmlformats.org/officeDocument/2006/relationships/notesSlide" Target="../notesSlides/notesSlide8.xml" /></Relationships>
</file>

<file path=ppt/slides/_rels/slide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7.xml" /><Relationship Id="rId1" Type="http://schemas.openxmlformats.org/officeDocument/2006/relationships/notesSlide" Target="../notesSlides/notesSlide9.xml" /></Relationships>
</file>

<file path=ppt/slides/_rels/slide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7.xml" /><Relationship Id="rId1" Type="http://schemas.openxmlformats.org/officeDocument/2006/relationships/notesSlide" Target="../notesSlides/notesSlide10.xml" /></Relationships>
</file>

<file path=ppt/slides/_rels/slide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7.xml" /><Relationship Id="rId1" Type="http://schemas.openxmlformats.org/officeDocument/2006/relationships/notesSlide" Target="../notesSlides/notesSlide11.xml" /></Relationships>
</file>

<file path=ppt/slides/_rels/slide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7.xml" /><Relationship Id="rId1" Type="http://schemas.openxmlformats.org/officeDocument/2006/relationships/notesSlide" Target="../notesSlides/notesSlide12.xml" /></Relationships>
</file>

<file path=ppt/slides/_rels/slide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7.xml" /><Relationship Id="rId1" Type="http://schemas.openxmlformats.org/officeDocument/2006/relationships/notesSlide" Target="../notesSlides/notesSlide13.xml" /></Relationships>
</file>

<file path=ppt/slides/_rels/slide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7.xml" /><Relationship Id="rId1" Type="http://schemas.openxmlformats.org/officeDocument/2006/relationships/notesSlide" Target="../notesSlides/notesSlide14.xml" /><Relationship Id="rId2" Type="http://schemas.openxmlformats.org/officeDocument/2006/relationships/image" Target="media/image1.png" /></Relationships>
</file>

<file path=ppt/slides/_rels/slide1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7.xml" /><Relationship Id="rId1" Type="http://schemas.openxmlformats.org/officeDocument/2006/relationships/notesSlide" Target="../notesSlides/notesSlide2.xml" /></Relationships>
</file>

<file path=ppt/slides/_rels/slide1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7.xml" /><Relationship Id="rId1" Type="http://schemas.openxmlformats.org/officeDocument/2006/relationships/notesSlide" Target="../notesSlides/notesSlide3.xml" /></Relationships>
</file>

<file path=ppt/slides/_rels/slide1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7.xml" /><Relationship Id="rId1" Type="http://schemas.openxmlformats.org/officeDocument/2006/relationships/notesSlide" Target="../notesSlides/notesSlide4.xml" /></Relationships>
</file>

<file path=ppt/slides/_rels/slide1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7.xml" /><Relationship Id="rId1" Type="http://schemas.openxmlformats.org/officeDocument/2006/relationships/notesSlide" Target="../notesSlides/notesSlide5.xml" /></Relationships>
</file>

<file path=ppt/slides/_rels/slide1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7.xml" /><Relationship Id="rId1" Type="http://schemas.openxmlformats.org/officeDocument/2006/relationships/notesSlide" Target="../notesSlides/notesSlide6.xml" 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00" cy="6858000"/>
          </a:xfrm>
          <a:prstGeom prst="rect">
            <a:avLst/>
          </a:prstGeom>
          <a:gradFill rotWithShape="1">
            <a:gsLst>
              <a:gs pos="0">
                <a:srgbClr val="0F6E56"/>
              </a:gs>
              <a:gs pos="100000">
                <a:srgbClr val="0B5A46"/>
              </a:gs>
            </a:gsLst>
            <a:lin ang="18900000" scaled="0"/>
          </a:gra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52450" y="1390650"/>
            <a:ext cx="6286500" cy="2476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B7D4CC"/>
                </a:solidFill>
                <a:latin typeface="Microsoft YaHei"/>
                <a:ea typeface="Microsoft YaHei"/>
                <a:cs typeface="Microsoft YaHei"/>
              </a:rPr>
              <a:t>大湾区 AI CODING 创新大赛 · 方向一 AI + 教学管理助手</a:t>
            </a:r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52450" y="1733550"/>
            <a:ext cx="6286500" cy="952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800"/>
              </a:lnSpc>
            </a:pPr>
            <a:r>
              <a:rPr sz="4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微积分学伴</a:t>
            </a:r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52450" y="2857500"/>
            <a:ext cx="609600" cy="38100"/>
          </a:xfrm>
          <a:prstGeom prst="rect">
            <a:avLst/>
          </a:prstGeom>
          <a:solidFill>
            <a:srgbClr val="CFE2DD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52450" y="3067050"/>
            <a:ext cx="6286500" cy="12382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575" b="0">
                <a:solidFill>
                  <a:srgbClr val="F1F6F5"/>
                </a:solidFill>
                <a:latin typeface="Microsoft YaHei"/>
                <a:ea typeface="Microsoft YaHei"/>
                <a:cs typeface="Microsoft YaHei"/>
              </a:rPr>
              <a:t>先回答学生问的问题；</a:t>
            </a:r>
            <a:endParaRPr/>
          </a:p>
          <a:p>
            <a:pPr algn="l">
              <a:lnSpc>
                <a:spcPct val="150000"/>
              </a:lnSpc>
            </a:pPr>
            <a:r>
              <a:rPr sz="1575" b="0">
                <a:solidFill>
                  <a:srgbClr val="F1F6F5"/>
                </a:solidFill>
                <a:latin typeface="Microsoft YaHei"/>
                <a:ea typeface="Microsoft YaHei"/>
                <a:cs typeface="Microsoft YaHei"/>
              </a:rPr>
              <a:t>当他问不出来的时候，</a:t>
            </a:r>
            <a:r>
              <a:rPr sz="1575" b="1">
                <a:solidFill>
                  <a:srgbClr val="F1F6F5"/>
                </a:solidFill>
                <a:latin typeface="Microsoft YaHei"/>
                <a:ea typeface="Microsoft YaHei"/>
                <a:cs typeface="Microsoft YaHei"/>
              </a:rPr>
              <a:t>替他找出缺的那一块并补上</a:t>
            </a:r>
            <a:r>
              <a:rPr sz="1575" b="0">
                <a:solidFill>
                  <a:srgbClr val="F1F6F5"/>
                </a:solidFill>
                <a:latin typeface="Microsoft YaHei"/>
                <a:ea typeface="Microsoft YaHei"/>
                <a:cs typeface="Microsoft YaHei"/>
              </a:rPr>
              <a:t>。</a:t>
            </a:r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52450" y="4572000"/>
            <a:ext cx="6286500" cy="8572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1700"/>
              </a:lnSpc>
            </a:pPr>
            <a:r>
              <a:rPr sz="1200" b="0">
                <a:solidFill>
                  <a:srgbClr val="CADFDA"/>
                </a:solidFill>
                <a:latin typeface="Microsoft YaHei"/>
                <a:ea typeface="Microsoft YaHei"/>
                <a:cs typeface="Microsoft YaHei"/>
              </a:rPr>
              <a:t>面向一元函数微分学的多模态教学智能体</a:t>
            </a:r>
            <a:endParaRPr/>
          </a:p>
          <a:p>
            <a:pPr algn="l">
              <a:lnSpc>
                <a:spcPct val="141700"/>
              </a:lnSpc>
            </a:pPr>
            <a:r>
              <a:rPr sz="1200" b="0">
                <a:solidFill>
                  <a:srgbClr val="CADFDA"/>
                </a:solidFill>
                <a:latin typeface="Microsoft YaHei"/>
                <a:ea typeface="Microsoft YaHei"/>
                <a:cs typeface="Microsoft YaHei"/>
              </a:rPr>
              <a:t>课程范围：导数 / 切线 / 单调性</a:t>
            </a:r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524750" y="1543050"/>
            <a:ext cx="3810000" cy="2476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975" b="0">
                <a:solidFill>
                  <a:srgbClr val="854F0B"/>
                </a:solidFill>
                <a:latin typeface="Microsoft YaHei"/>
                <a:ea typeface="Microsoft YaHei"/>
                <a:cs typeface="Microsoft YaHei"/>
              </a:rPr>
              <a:t>导数 ＝ 切线斜率</a:t>
            </a:r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191500" y="4476750"/>
            <a:ext cx="3619500" cy="14288"/>
          </a:xfrm>
          <a:prstGeom prst="rect">
            <a:avLst/>
          </a:prstGeom>
          <a:solidFill>
            <a:srgbClr val="E2E1DC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496300" y="1866900"/>
            <a:ext cx="14288" cy="2895600"/>
          </a:xfrm>
          <a:prstGeom prst="rect">
            <a:avLst/>
          </a:prstGeom>
          <a:solidFill>
            <a:srgbClr val="E2E1DC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Freeform 11"/>
          <p:cNvSpPr/>
          <p:nvPr/>
        </p:nvSpPr>
        <p:spPr>
          <a:xfrm>
            <a:off x="8648700" y="2209800"/>
            <a:ext cx="2552700" cy="2209800"/>
          </a:xfrm>
          <a:custGeom>
            <a:avLst/>
            <a:gdLst/>
            <a:ahLst/>
            <a:cxnLst/>
            <a:rect l="l" t="t" r="r" b="b"/>
            <a:pathLst>
              <a:path w="2552700" h="2209800">
                <a:moveTo>
                  <a:pt x="0" y="2209800"/>
                </a:moveTo>
                <a:lnTo>
                  <a:pt x="84066" y="2207293"/>
                </a:lnTo>
                <a:lnTo>
                  <a:pt x="164911" y="2199899"/>
                </a:lnTo>
                <a:lnTo>
                  <a:pt x="242678" y="2187809"/>
                </a:lnTo>
                <a:lnTo>
                  <a:pt x="317510" y="2171213"/>
                </a:lnTo>
                <a:lnTo>
                  <a:pt x="389551" y="2150302"/>
                </a:lnTo>
                <a:lnTo>
                  <a:pt x="458944" y="2125267"/>
                </a:lnTo>
                <a:lnTo>
                  <a:pt x="525834" y="2096297"/>
                </a:lnTo>
                <a:lnTo>
                  <a:pt x="590364" y="2063583"/>
                </a:lnTo>
                <a:lnTo>
                  <a:pt x="652677" y="2027316"/>
                </a:lnTo>
                <a:lnTo>
                  <a:pt x="712917" y="1987687"/>
                </a:lnTo>
                <a:lnTo>
                  <a:pt x="771227" y="1944886"/>
                </a:lnTo>
                <a:lnTo>
                  <a:pt x="827752" y="1899103"/>
                </a:lnTo>
                <a:lnTo>
                  <a:pt x="882634" y="1850530"/>
                </a:lnTo>
                <a:lnTo>
                  <a:pt x="936017" y="1799356"/>
                </a:lnTo>
                <a:lnTo>
                  <a:pt x="988045" y="1745772"/>
                </a:lnTo>
                <a:lnTo>
                  <a:pt x="1038862" y="1689968"/>
                </a:lnTo>
                <a:lnTo>
                  <a:pt x="1088610" y="1632136"/>
                </a:lnTo>
                <a:lnTo>
                  <a:pt x="1137434" y="1572466"/>
                </a:lnTo>
                <a:lnTo>
                  <a:pt x="1185477" y="1511148"/>
                </a:lnTo>
                <a:lnTo>
                  <a:pt x="1232883" y="1448373"/>
                </a:lnTo>
                <a:lnTo>
                  <a:pt x="1279795" y="1384331"/>
                </a:lnTo>
                <a:lnTo>
                  <a:pt x="1326356" y="1319212"/>
                </a:lnTo>
                <a:lnTo>
                  <a:pt x="1372711" y="1253209"/>
                </a:lnTo>
                <a:lnTo>
                  <a:pt x="1419003" y="1186510"/>
                </a:lnTo>
                <a:lnTo>
                  <a:pt x="1465376" y="1119307"/>
                </a:lnTo>
                <a:lnTo>
                  <a:pt x="1511972" y="1051790"/>
                </a:lnTo>
                <a:lnTo>
                  <a:pt x="1558936" y="984149"/>
                </a:lnTo>
                <a:lnTo>
                  <a:pt x="1606412" y="916576"/>
                </a:lnTo>
                <a:lnTo>
                  <a:pt x="1654542" y="849260"/>
                </a:lnTo>
                <a:lnTo>
                  <a:pt x="1703470" y="782392"/>
                </a:lnTo>
                <a:lnTo>
                  <a:pt x="1753341" y="716163"/>
                </a:lnTo>
                <a:lnTo>
                  <a:pt x="1804297" y="650763"/>
                </a:lnTo>
                <a:lnTo>
                  <a:pt x="1856482" y="586383"/>
                </a:lnTo>
                <a:lnTo>
                  <a:pt x="1910040" y="523213"/>
                </a:lnTo>
                <a:lnTo>
                  <a:pt x="1965114" y="461444"/>
                </a:lnTo>
                <a:lnTo>
                  <a:pt x="2021848" y="401267"/>
                </a:lnTo>
                <a:lnTo>
                  <a:pt x="2080385" y="342871"/>
                </a:lnTo>
                <a:lnTo>
                  <a:pt x="2140869" y="286448"/>
                </a:lnTo>
                <a:lnTo>
                  <a:pt x="2203444" y="232188"/>
                </a:lnTo>
                <a:lnTo>
                  <a:pt x="2268252" y="180281"/>
                </a:lnTo>
                <a:lnTo>
                  <a:pt x="2335439" y="130918"/>
                </a:lnTo>
                <a:lnTo>
                  <a:pt x="2405147" y="84290"/>
                </a:lnTo>
                <a:lnTo>
                  <a:pt x="2477519" y="40587"/>
                </a:lnTo>
                <a:lnTo>
                  <a:pt x="2552700" y="0"/>
                </a:lnTo>
              </a:path>
            </a:pathLst>
          </a:custGeom>
          <a:noFill/>
          <a:ln w="33020">
            <a:solidFill>
              <a:srgbClr val="0F6E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Freeform 12"/>
          <p:cNvSpPr/>
          <p:nvPr/>
        </p:nvSpPr>
        <p:spPr>
          <a:xfrm>
            <a:off x="8972550" y="2114550"/>
            <a:ext cx="2000250" cy="2828925"/>
          </a:xfrm>
          <a:custGeom>
            <a:avLst/>
            <a:gdLst/>
            <a:ahLst/>
            <a:cxnLst/>
            <a:rect l="l" t="t" r="r" b="b"/>
            <a:pathLst>
              <a:path w="2000250" h="2828925">
                <a:moveTo>
                  <a:pt x="0" y="2828925"/>
                </a:moveTo>
                <a:lnTo>
                  <a:pt x="2000250" y="0"/>
                </a:lnTo>
              </a:path>
            </a:pathLst>
          </a:custGeom>
          <a:noFill/>
          <a:ln w="25400">
            <a:solidFill>
              <a:srgbClr val="854F0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9906000" y="3457575"/>
            <a:ext cx="142875" cy="142875"/>
          </a:xfrm>
          <a:prstGeom prst="ellipse">
            <a:avLst/>
          </a:prstGeom>
          <a:solidFill>
            <a:srgbClr val="0F6E5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Freeform 14"/>
          <p:cNvSpPr/>
          <p:nvPr/>
        </p:nvSpPr>
        <p:spPr>
          <a:xfrm>
            <a:off x="9972675" y="3533775"/>
            <a:ext cx="7620" cy="942975"/>
          </a:xfrm>
          <a:custGeom>
            <a:avLst/>
            <a:gdLst/>
            <a:ahLst/>
            <a:cxnLst/>
            <a:rect l="l" t="t" r="r" b="b"/>
            <a:pathLst>
              <a:path w="7620" h="942975">
                <a:moveTo>
                  <a:pt x="0" y="0"/>
                </a:moveTo>
                <a:lnTo>
                  <a:pt x="7620" y="942975"/>
                </a:lnTo>
              </a:path>
            </a:pathLst>
          </a:custGeom>
          <a:noFill/>
          <a:ln w="12700">
            <a:solidFill>
              <a:srgbClr val="E2E1D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620000" y="5143500"/>
            <a:ext cx="3619500" cy="762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41700"/>
              </a:lnSpc>
            </a:pPr>
            <a:r>
              <a:rPr sz="1125" b="0">
                <a:solidFill>
                  <a:srgbClr val="6B6B66"/>
                </a:solidFill>
                <a:latin typeface="Microsoft YaHei"/>
                <a:ea typeface="Microsoft YaHei"/>
                <a:cs typeface="Microsoft YaHei"/>
              </a:rPr>
              <a:t>把抽象结论落回可核验的符号与图形，是这个项目全部技术选择的出发点。</a:t>
            </a:r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52450" y="6362700"/>
            <a:ext cx="38100" cy="190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04850" y="6324600"/>
            <a:ext cx="5334000" cy="2476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CADFDA"/>
                </a:solidFill>
                <a:latin typeface="Microsoft YaHei"/>
                <a:ea typeface="Microsoft YaHei"/>
                <a:cs typeface="Microsoft YaHei"/>
              </a:rPr>
              <a:t>微积分学伴 · 项目介绍</a:t>
            </a:r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620250" y="6324600"/>
            <a:ext cx="1962150" cy="2476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050" b="0">
                <a:solidFill>
                  <a:srgbClr val="CADFDA"/>
                </a:solidFill>
                <a:latin typeface="Microsoft YaHei"/>
                <a:ea typeface="Microsoft YaHei"/>
                <a:cs typeface="Microsoft YaHei"/>
              </a:rPr>
              <a:t>2026-09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2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3" name="TextBox 2"/>
          <p:cNvSpPr txBox="1"/>
          <p:nvPr/>
        </p:nvSpPr>
        <p:spPr>
          <a:xfrm>
            <a:off x="609600" y="171450"/>
            <a:ext cx="8953500" cy="5143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300"/>
              </a:lnSpc>
            </a:pPr>
            <a:r>
              <a:rPr sz="2700" b="1">
                <a:solidFill>
                  <a:srgbClr val="1F1F1D"/>
                </a:solidFill>
                <a:latin typeface="Microsoft YaHei"/>
                <a:ea typeface="Microsoft YaHei"/>
                <a:cs typeface="Microsoft YaHei"/>
              </a:rPr>
              <a:t>目录</a:t>
            </a:r>
            <a:endParaRPr/>
          </a:p>
        </p:txBody>
      </p:sp>
      <p:sp>
        <p:nvSpPr>
          <p:cNvPr id="204" name="TextBox 3"/>
          <p:cNvSpPr txBox="1"/>
          <p:nvPr/>
        </p:nvSpPr>
        <p:spPr>
          <a:xfrm>
            <a:off x="609600" y="704850"/>
            <a:ext cx="9906000" cy="2857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500"/>
              </a:lnSpc>
            </a:pPr>
            <a:r>
              <a:rPr sz="1350" b="0">
                <a:solidFill>
                  <a:srgbClr val="6B6B66"/>
                </a:solidFill>
                <a:latin typeface="Microsoft YaHei"/>
                <a:ea typeface="Microsoft YaHei"/>
                <a:cs typeface="Microsoft YaHei"/>
              </a:rPr>
              <a:t>从问题出发，到边界收束 —— 五个章节，十四页</a:t>
            </a:r>
            <a:endParaRPr/>
          </a:p>
        </p:txBody>
      </p:sp>
      <p:sp>
        <p:nvSpPr>
          <p:cNvPr id="205" name="Rectangle 4"/>
          <p:cNvSpPr/>
          <p:nvPr/>
        </p:nvSpPr>
        <p:spPr>
          <a:xfrm>
            <a:off x="609600" y="1143000"/>
            <a:ext cx="10972800" cy="14288"/>
          </a:xfrm>
          <a:prstGeom prst="rect">
            <a:avLst/>
          </a:prstGeom>
          <a:solidFill>
            <a:srgbClr val="E2E1DC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6" name="Rounded Rectangle 5"/>
          <p:cNvSpPr/>
          <p:nvPr/>
        </p:nvSpPr>
        <p:spPr>
          <a:xfrm>
            <a:off x="609600" y="1333500"/>
            <a:ext cx="3143250" cy="4953000"/>
          </a:xfrm>
          <a:prstGeom prst="roundRect">
            <a:avLst>
              <a:gd name="adj" fmla="val 3636"/>
            </a:avLst>
          </a:prstGeom>
          <a:solidFill>
            <a:srgbClr val="E1F5EE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7" name="TextBox 6"/>
          <p:cNvSpPr txBox="1"/>
          <p:nvPr/>
        </p:nvSpPr>
        <p:spPr>
          <a:xfrm>
            <a:off x="838200" y="1562100"/>
            <a:ext cx="268605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75" b="0">
                <a:solidFill>
                  <a:srgbClr val="0B5A46"/>
                </a:solidFill>
                <a:latin typeface="Microsoft YaHei"/>
                <a:ea typeface="Microsoft YaHei"/>
                <a:cs typeface="Microsoft YaHei"/>
              </a:rPr>
              <a:t>章节导航</a:t>
            </a:r>
            <a:endParaRPr/>
          </a:p>
        </p:txBody>
      </p:sp>
      <p:sp>
        <p:nvSpPr>
          <p:cNvPr id="208" name="TextBox 7"/>
          <p:cNvSpPr txBox="1"/>
          <p:nvPr/>
        </p:nvSpPr>
        <p:spPr>
          <a:xfrm>
            <a:off x="838200" y="1828800"/>
            <a:ext cx="2686050" cy="1066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83300"/>
              </a:lnSpc>
            </a:pPr>
            <a:r>
              <a:rPr sz="6300" b="1">
                <a:solidFill>
                  <a:srgbClr val="0F6E56"/>
                </a:solidFill>
                <a:latin typeface="Segoe UI"/>
                <a:ea typeface="Segoe UI"/>
                <a:cs typeface="Segoe UI"/>
              </a:rPr>
              <a:t>05</a:t>
            </a:r>
            <a:endParaRPr/>
          </a:p>
        </p:txBody>
      </p:sp>
      <p:sp>
        <p:nvSpPr>
          <p:cNvPr id="209" name="TextBox 8"/>
          <p:cNvSpPr txBox="1"/>
          <p:nvPr/>
        </p:nvSpPr>
        <p:spPr>
          <a:xfrm>
            <a:off x="838200" y="3028950"/>
            <a:ext cx="2686050" cy="2095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800"/>
              </a:lnSpc>
            </a:pPr>
            <a:r>
              <a:rPr sz="1275" b="0">
                <a:solidFill>
                  <a:srgbClr val="0B5A46"/>
                </a:solidFill>
                <a:latin typeface="Microsoft YaHei"/>
                <a:ea typeface="Microsoft YaHei"/>
                <a:cs typeface="Microsoft YaHei"/>
              </a:rPr>
              <a:t>五段讲完：问题在哪、我们主张什么、六个特色功能、工程与交付现状、以及</a:t>
            </a:r>
            <a:r>
              <a:rPr sz="1275" b="1">
                <a:solidFill>
                  <a:srgbClr val="0B5A46"/>
                </a:solidFill>
                <a:latin typeface="Microsoft YaHei"/>
                <a:ea typeface="Microsoft YaHei"/>
                <a:cs typeface="Microsoft YaHei"/>
              </a:rPr>
              <a:t>哪些现在还不能演</a:t>
            </a:r>
            <a:r>
              <a:rPr sz="1275" b="0">
                <a:solidFill>
                  <a:srgbClr val="0B5A46"/>
                </a:solidFill>
                <a:latin typeface="Microsoft YaHei"/>
                <a:ea typeface="Microsoft YaHei"/>
                <a:cs typeface="Microsoft YaHei"/>
              </a:rPr>
              <a:t>。</a:t>
            </a:r>
            <a:endParaRPr/>
          </a:p>
        </p:txBody>
      </p:sp>
      <p:sp>
        <p:nvSpPr>
          <p:cNvPr id="210" name="Rectangle 9"/>
          <p:cNvSpPr/>
          <p:nvPr/>
        </p:nvSpPr>
        <p:spPr>
          <a:xfrm>
            <a:off x="838200" y="5353050"/>
            <a:ext cx="2686050" cy="14288"/>
          </a:xfrm>
          <a:prstGeom prst="rect">
            <a:avLst/>
          </a:prstGeom>
          <a:solidFill>
            <a:srgbClr val="0F6E5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1" name="TextBox 10"/>
          <p:cNvSpPr txBox="1"/>
          <p:nvPr/>
        </p:nvSpPr>
        <p:spPr>
          <a:xfrm>
            <a:off x="838200" y="5505450"/>
            <a:ext cx="2686050" cy="6667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3300"/>
              </a:lnSpc>
            </a:pPr>
            <a:r>
              <a:rPr sz="1050" b="0">
                <a:solidFill>
                  <a:srgbClr val="0B5A46"/>
                </a:solidFill>
                <a:latin typeface="Microsoft YaHei"/>
                <a:ea typeface="Microsoft YaHei"/>
                <a:cs typeface="Microsoft YaHei"/>
              </a:rPr>
              <a:t>最后一章最值得看：我们把没做到的部分单独列了一页。</a:t>
            </a:r>
            <a:endParaRPr/>
          </a:p>
        </p:txBody>
      </p:sp>
      <p:sp>
        <p:nvSpPr>
          <p:cNvPr id="212" name="Oval 11"/>
          <p:cNvSpPr/>
          <p:nvPr/>
        </p:nvSpPr>
        <p:spPr>
          <a:xfrm>
            <a:off x="3943350" y="1504950"/>
            <a:ext cx="323850" cy="32385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F6E5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3" name="TextBox 12"/>
          <p:cNvSpPr txBox="1"/>
          <p:nvPr/>
        </p:nvSpPr>
        <p:spPr>
          <a:xfrm>
            <a:off x="3943350" y="1504950"/>
            <a:ext cx="323850" cy="32385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83300"/>
              </a:lnSpc>
            </a:pPr>
            <a:r>
              <a:rPr sz="1125" b="1">
                <a:solidFill>
                  <a:srgbClr val="0F6E56"/>
                </a:solidFill>
                <a:latin typeface="Consolas"/>
                <a:ea typeface="Consolas"/>
                <a:cs typeface="Consolas"/>
              </a:rPr>
              <a:t>01</a:t>
            </a:r>
            <a:endParaRPr/>
          </a:p>
        </p:txBody>
      </p:sp>
      <p:sp>
        <p:nvSpPr>
          <p:cNvPr id="214" name="TextBox 13"/>
          <p:cNvSpPr txBox="1"/>
          <p:nvPr/>
        </p:nvSpPr>
        <p:spPr>
          <a:xfrm>
            <a:off x="4419600" y="1447800"/>
            <a:ext cx="7162800" cy="2667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300"/>
              </a:lnSpc>
            </a:pPr>
            <a:r>
              <a:rPr sz="1650" b="1">
                <a:solidFill>
                  <a:srgbClr val="1F1F1D"/>
                </a:solidFill>
                <a:latin typeface="Microsoft YaHei"/>
                <a:ea typeface="Microsoft YaHei"/>
                <a:cs typeface="Microsoft YaHei"/>
              </a:rPr>
              <a:t>问题在哪</a:t>
            </a:r>
            <a:endParaRPr/>
          </a:p>
        </p:txBody>
      </p:sp>
      <p:sp>
        <p:nvSpPr>
          <p:cNvPr id="215" name="TextBox 14"/>
          <p:cNvSpPr txBox="1"/>
          <p:nvPr/>
        </p:nvSpPr>
        <p:spPr>
          <a:xfrm>
            <a:off x="4419600" y="1771650"/>
            <a:ext cx="7162800" cy="2857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3300"/>
              </a:lnSpc>
            </a:pPr>
            <a:r>
              <a:rPr sz="1350" b="0">
                <a:solidFill>
                  <a:srgbClr val="6B6B66"/>
                </a:solidFill>
                <a:latin typeface="Microsoft YaHei"/>
                <a:ea typeface="Microsoft YaHei"/>
                <a:cs typeface="Microsoft YaHei"/>
              </a:rPr>
              <a:t>学生真正的困难，往往不是他问出来的那个问题，而是讲义里断裂的那一环。</a:t>
            </a:r>
            <a:endParaRPr/>
          </a:p>
        </p:txBody>
      </p:sp>
      <p:sp>
        <p:nvSpPr>
          <p:cNvPr id="216" name="Oval 15"/>
          <p:cNvSpPr/>
          <p:nvPr/>
        </p:nvSpPr>
        <p:spPr>
          <a:xfrm>
            <a:off x="3943350" y="2514600"/>
            <a:ext cx="323850" cy="32385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F6E5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7" name="TextBox 16"/>
          <p:cNvSpPr txBox="1"/>
          <p:nvPr/>
        </p:nvSpPr>
        <p:spPr>
          <a:xfrm>
            <a:off x="3943350" y="2514600"/>
            <a:ext cx="323850" cy="32385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83300"/>
              </a:lnSpc>
            </a:pPr>
            <a:r>
              <a:rPr sz="1125" b="1">
                <a:solidFill>
                  <a:srgbClr val="0F6E56"/>
                </a:solidFill>
                <a:latin typeface="Consolas"/>
                <a:ea typeface="Consolas"/>
                <a:cs typeface="Consolas"/>
              </a:rPr>
              <a:t>02</a:t>
            </a:r>
            <a:endParaRPr/>
          </a:p>
        </p:txBody>
      </p:sp>
      <p:sp>
        <p:nvSpPr>
          <p:cNvPr id="218" name="TextBox 17"/>
          <p:cNvSpPr txBox="1"/>
          <p:nvPr/>
        </p:nvSpPr>
        <p:spPr>
          <a:xfrm>
            <a:off x="4419600" y="2457450"/>
            <a:ext cx="7162800" cy="2667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300"/>
              </a:lnSpc>
            </a:pPr>
            <a:r>
              <a:rPr sz="1650" b="1">
                <a:solidFill>
                  <a:srgbClr val="1F1F1D"/>
                </a:solidFill>
                <a:latin typeface="Microsoft YaHei"/>
                <a:ea typeface="Microsoft YaHei"/>
                <a:cs typeface="Microsoft YaHei"/>
              </a:rPr>
              <a:t>核心命题与闭环</a:t>
            </a:r>
            <a:endParaRPr/>
          </a:p>
        </p:txBody>
      </p:sp>
      <p:sp>
        <p:nvSpPr>
          <p:cNvPr id="219" name="TextBox 18"/>
          <p:cNvSpPr txBox="1"/>
          <p:nvPr/>
        </p:nvSpPr>
        <p:spPr>
          <a:xfrm>
            <a:off x="4419600" y="2781300"/>
            <a:ext cx="7162800" cy="2857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3300"/>
              </a:lnSpc>
            </a:pPr>
            <a:r>
              <a:rPr sz="1350" b="0">
                <a:solidFill>
                  <a:srgbClr val="6B6B66"/>
                </a:solidFill>
                <a:latin typeface="Microsoft YaHei"/>
                <a:ea typeface="Microsoft YaHei"/>
                <a:cs typeface="Microsoft YaHei"/>
              </a:rPr>
              <a:t>补齐的责任在系统：一次真实学习过程的六个步骤，以及每一步依赖状态如何迁移。</a:t>
            </a:r>
            <a:endParaRPr/>
          </a:p>
        </p:txBody>
      </p:sp>
      <p:sp>
        <p:nvSpPr>
          <p:cNvPr id="220" name="Oval 19"/>
          <p:cNvSpPr/>
          <p:nvPr/>
        </p:nvSpPr>
        <p:spPr>
          <a:xfrm>
            <a:off x="3943350" y="3524250"/>
            <a:ext cx="323850" cy="32385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F6E5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1" name="TextBox 20"/>
          <p:cNvSpPr txBox="1"/>
          <p:nvPr/>
        </p:nvSpPr>
        <p:spPr>
          <a:xfrm>
            <a:off x="3943350" y="3524250"/>
            <a:ext cx="323850" cy="32385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83300"/>
              </a:lnSpc>
            </a:pPr>
            <a:r>
              <a:rPr sz="1125" b="1">
                <a:solidFill>
                  <a:srgbClr val="0F6E56"/>
                </a:solidFill>
                <a:latin typeface="Consolas"/>
                <a:ea typeface="Consolas"/>
                <a:cs typeface="Consolas"/>
              </a:rPr>
              <a:t>03</a:t>
            </a:r>
            <a:endParaRPr/>
          </a:p>
        </p:txBody>
      </p:sp>
      <p:sp>
        <p:nvSpPr>
          <p:cNvPr id="222" name="TextBox 21"/>
          <p:cNvSpPr txBox="1"/>
          <p:nvPr/>
        </p:nvSpPr>
        <p:spPr>
          <a:xfrm>
            <a:off x="4419600" y="3467100"/>
            <a:ext cx="7162800" cy="2667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300"/>
              </a:lnSpc>
            </a:pPr>
            <a:r>
              <a:rPr sz="1650" b="1">
                <a:solidFill>
                  <a:srgbClr val="1F1F1D"/>
                </a:solidFill>
                <a:latin typeface="Microsoft YaHei"/>
                <a:ea typeface="Microsoft YaHei"/>
                <a:cs typeface="Microsoft YaHei"/>
              </a:rPr>
              <a:t>六个特色功能</a:t>
            </a:r>
            <a:endParaRPr/>
          </a:p>
        </p:txBody>
      </p:sp>
      <p:sp>
        <p:nvSpPr>
          <p:cNvPr id="223" name="TextBox 22"/>
          <p:cNvSpPr txBox="1"/>
          <p:nvPr/>
        </p:nvSpPr>
        <p:spPr>
          <a:xfrm>
            <a:off x="4419600" y="3790950"/>
            <a:ext cx="7162800" cy="2857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3300"/>
              </a:lnSpc>
            </a:pPr>
            <a:r>
              <a:rPr sz="1350" b="0">
                <a:solidFill>
                  <a:srgbClr val="6B6B66"/>
                </a:solidFill>
                <a:latin typeface="Microsoft YaHei"/>
                <a:ea typeface="Microsoft YaHei"/>
                <a:cs typeface="Microsoft YaHei"/>
              </a:rPr>
              <a:t>缺口即补、符号验证兜底、输出校验、零门槛入口、边界诚实，逐条给出实现依据与实测。</a:t>
            </a:r>
            <a:endParaRPr/>
          </a:p>
        </p:txBody>
      </p:sp>
      <p:sp>
        <p:nvSpPr>
          <p:cNvPr id="224" name="Oval 23"/>
          <p:cNvSpPr/>
          <p:nvPr/>
        </p:nvSpPr>
        <p:spPr>
          <a:xfrm>
            <a:off x="3943350" y="4533900"/>
            <a:ext cx="323850" cy="32385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F6E5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5" name="TextBox 24"/>
          <p:cNvSpPr txBox="1"/>
          <p:nvPr/>
        </p:nvSpPr>
        <p:spPr>
          <a:xfrm>
            <a:off x="3943350" y="4533900"/>
            <a:ext cx="323850" cy="32385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83300"/>
              </a:lnSpc>
            </a:pPr>
            <a:r>
              <a:rPr sz="1125" b="1">
                <a:solidFill>
                  <a:srgbClr val="0F6E56"/>
                </a:solidFill>
                <a:latin typeface="Consolas"/>
                <a:ea typeface="Consolas"/>
                <a:cs typeface="Consolas"/>
              </a:rPr>
              <a:t>04</a:t>
            </a:r>
            <a:endParaRPr/>
          </a:p>
        </p:txBody>
      </p:sp>
      <p:sp>
        <p:nvSpPr>
          <p:cNvPr id="226" name="TextBox 25"/>
          <p:cNvSpPr txBox="1"/>
          <p:nvPr/>
        </p:nvSpPr>
        <p:spPr>
          <a:xfrm>
            <a:off x="4419600" y="4476750"/>
            <a:ext cx="7162800" cy="2667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300"/>
              </a:lnSpc>
            </a:pPr>
            <a:r>
              <a:rPr sz="1650" b="1">
                <a:solidFill>
                  <a:srgbClr val="1F1F1D"/>
                </a:solidFill>
                <a:latin typeface="Microsoft YaHei"/>
                <a:ea typeface="Microsoft YaHei"/>
                <a:cs typeface="Microsoft YaHei"/>
              </a:rPr>
              <a:t>工程底座与交付</a:t>
            </a:r>
            <a:endParaRPr/>
          </a:p>
        </p:txBody>
      </p:sp>
      <p:sp>
        <p:nvSpPr>
          <p:cNvPr id="227" name="TextBox 26"/>
          <p:cNvSpPr txBox="1"/>
          <p:nvPr/>
        </p:nvSpPr>
        <p:spPr>
          <a:xfrm>
            <a:off x="4419600" y="4800600"/>
            <a:ext cx="7162800" cy="2857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3300"/>
              </a:lnSpc>
            </a:pPr>
            <a:r>
              <a:rPr lang="zh-CN" sz="1350" b="0">
                <a:solidFill>
                  <a:srgbClr val="6B6B66"/>
                </a:solidFill>
                <a:latin typeface="Microsoft YaHei"/>
                <a:ea typeface="Microsoft YaHei"/>
                <a:cs typeface="Microsoft YaHei"/>
              </a:rPr>
              <a:t>契约十四个接口、错误响应唯一出口，回归九百二十七项与在线链接的真实通道实测。</a:t>
            </a:r>
            <a:r>
              <a:rPr lang="zh-CN" sz="1350" b="0">
                <a:solidFill>
                  <a:srgbClr val="6B6B66"/>
                </a:solidFill>
                <a:latin typeface="Microsoft YaHei"/>
                <a:ea typeface="Microsoft YaHei"/>
                <a:cs typeface="Microsoft YaHei"/>
              </a:rPr>
              <a:t></a:t>
            </a:r>
            <a:endParaRPr lang="zh-CN" sz="1350" b="0">
              <a:solidFill>
                <a:srgbClr val="6B6B66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28" name="Oval 27"/>
          <p:cNvSpPr/>
          <p:nvPr/>
        </p:nvSpPr>
        <p:spPr>
          <a:xfrm>
            <a:off x="3943350" y="5543550"/>
            <a:ext cx="323850" cy="323850"/>
          </a:xfrm>
          <a:prstGeom prst="ellipse">
            <a:avLst/>
          </a:prstGeom>
          <a:solidFill>
            <a:srgbClr val="FDF0D5"/>
          </a:solidFill>
          <a:ln w="19050">
            <a:solidFill>
              <a:srgbClr val="854F0B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9" name="TextBox 28"/>
          <p:cNvSpPr txBox="1"/>
          <p:nvPr/>
        </p:nvSpPr>
        <p:spPr>
          <a:xfrm>
            <a:off x="3943350" y="5543550"/>
            <a:ext cx="323850" cy="32385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83300"/>
              </a:lnSpc>
            </a:pPr>
            <a:r>
              <a:rPr sz="1125" b="1">
                <a:solidFill>
                  <a:srgbClr val="854F0B"/>
                </a:solidFill>
                <a:latin typeface="Consolas"/>
                <a:ea typeface="Consolas"/>
                <a:cs typeface="Consolas"/>
              </a:rPr>
              <a:t>05</a:t>
            </a:r>
            <a:endParaRPr/>
          </a:p>
        </p:txBody>
      </p:sp>
      <p:sp>
        <p:nvSpPr>
          <p:cNvPr id="230" name="TextBox 29"/>
          <p:cNvSpPr txBox="1"/>
          <p:nvPr/>
        </p:nvSpPr>
        <p:spPr>
          <a:xfrm>
            <a:off x="4419600" y="5486400"/>
            <a:ext cx="7162800" cy="2667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300"/>
              </a:lnSpc>
            </a:pPr>
            <a:r>
              <a:rPr sz="1650" b="1">
                <a:solidFill>
                  <a:srgbClr val="1F1F1D"/>
                </a:solidFill>
                <a:latin typeface="Microsoft YaHei"/>
                <a:ea typeface="Microsoft YaHei"/>
                <a:cs typeface="Microsoft YaHei"/>
              </a:rPr>
              <a:t>能力边界与后续路线</a:t>
            </a:r>
            <a:endParaRPr/>
          </a:p>
        </p:txBody>
      </p:sp>
      <p:sp>
        <p:nvSpPr>
          <p:cNvPr id="231" name="TextBox 30"/>
          <p:cNvSpPr txBox="1"/>
          <p:nvPr/>
        </p:nvSpPr>
        <p:spPr>
          <a:xfrm>
            <a:off x="4419600" y="5810250"/>
            <a:ext cx="7162800" cy="2857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3300"/>
              </a:lnSpc>
            </a:pPr>
            <a:r>
              <a:rPr lang="zh-CN" sz="1350" b="0">
                <a:solidFill>
                  <a:srgbClr val="6B6B66"/>
                </a:solidFill>
                <a:latin typeface="Microsoft YaHei"/>
                <a:ea typeface="Microsoft YaHei"/>
                <a:cs typeface="Microsoft YaHei"/>
              </a:rPr>
              <a:t>已实现、未实测、后续三档如实分列，附演示前必须人工试一次的清单。</a:t>
            </a:r>
            <a:r>
              <a:rPr lang="zh-CN" sz="1350" b="0">
                <a:solidFill>
                  <a:srgbClr val="6B6B66"/>
                </a:solidFill>
                <a:latin typeface="Microsoft YaHei"/>
                <a:ea typeface="Microsoft YaHei"/>
                <a:cs typeface="Microsoft YaHei"/>
              </a:rPr>
              <a:t></a:t>
            </a:r>
            <a:endParaRPr lang="zh-CN" sz="1350" b="0">
              <a:solidFill>
                <a:srgbClr val="6B6B66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32" name="Rectangle 31"/>
          <p:cNvSpPr/>
          <p:nvPr/>
        </p:nvSpPr>
        <p:spPr>
          <a:xfrm>
            <a:off x="609600" y="6419850"/>
            <a:ext cx="38100" cy="171450"/>
          </a:xfrm>
          <a:prstGeom prst="rect">
            <a:avLst/>
          </a:prstGeom>
          <a:solidFill>
            <a:srgbClr val="0F6E5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33" name="TextBox 32"/>
          <p:cNvSpPr txBox="1"/>
          <p:nvPr/>
        </p:nvSpPr>
        <p:spPr>
          <a:xfrm>
            <a:off x="742950" y="6362700"/>
            <a:ext cx="7239000" cy="2476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B6B66"/>
                </a:solidFill>
                <a:latin typeface="Microsoft YaHei"/>
                <a:ea typeface="Microsoft YaHei"/>
                <a:cs typeface="Microsoft YaHei"/>
              </a:rPr>
              <a:t>微积分学伴 · 大湾区 AI Coding 创新大赛</a:t>
            </a:r>
            <a:endParaRPr/>
          </a:p>
        </p:txBody>
      </p:sp>
      <p:sp>
        <p:nvSpPr>
          <p:cNvPr id="234" name="TextBox 33"/>
          <p:cNvSpPr txBox="1"/>
          <p:nvPr/>
        </p:nvSpPr>
        <p:spPr>
          <a:xfrm>
            <a:off x="9620250" y="6362700"/>
            <a:ext cx="1962150" cy="2476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050" b="0">
                <a:solidFill>
                  <a:srgbClr val="6B6B66"/>
                </a:solidFill>
                <a:latin typeface="Consolas"/>
                <a:ea typeface="Consolas"/>
                <a:cs typeface="Consolas"/>
              </a:rPr>
              <a:t>02 / 14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23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37" name="TextBox 2"/>
          <p:cNvSpPr txBox="1"/>
          <p:nvPr/>
        </p:nvSpPr>
        <p:spPr>
          <a:xfrm>
            <a:off x="609600" y="1428750"/>
            <a:ext cx="10972800" cy="2476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0F6E56"/>
                </a:solidFill>
                <a:latin typeface="Consolas"/>
                <a:ea typeface="Consolas"/>
                <a:cs typeface="Consolas"/>
              </a:rPr>
              <a:t>01 / 05 · 第一章</a:t>
            </a:r>
            <a:endParaRPr/>
          </a:p>
        </p:txBody>
      </p:sp>
      <p:sp>
        <p:nvSpPr>
          <p:cNvPr id="238" name="TextBox 3"/>
          <p:cNvSpPr txBox="1"/>
          <p:nvPr/>
        </p:nvSpPr>
        <p:spPr>
          <a:xfrm>
            <a:off x="609600" y="1733550"/>
            <a:ext cx="10972800" cy="762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1700"/>
              </a:lnSpc>
            </a:pPr>
            <a:r>
              <a:rPr sz="4200" b="1">
                <a:solidFill>
                  <a:srgbClr val="1F1F1D"/>
                </a:solidFill>
                <a:latin typeface="Microsoft YaHei"/>
                <a:ea typeface="Microsoft YaHei"/>
                <a:cs typeface="Microsoft YaHei"/>
              </a:rPr>
              <a:t>问题在哪</a:t>
            </a:r>
            <a:endParaRPr/>
          </a:p>
        </p:txBody>
      </p:sp>
      <p:sp>
        <p:nvSpPr>
          <p:cNvPr id="239" name="TextBox 4"/>
          <p:cNvSpPr txBox="1"/>
          <p:nvPr/>
        </p:nvSpPr>
        <p:spPr>
          <a:xfrm>
            <a:off x="2286000" y="2609850"/>
            <a:ext cx="762000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33300"/>
              </a:lnSpc>
            </a:pPr>
            <a:r>
              <a:rPr sz="1500" b="0">
                <a:solidFill>
                  <a:srgbClr val="6B6B66"/>
                </a:solidFill>
                <a:latin typeface="Microsoft YaHei"/>
                <a:ea typeface="Microsoft YaHei"/>
                <a:cs typeface="Microsoft YaHei"/>
              </a:rPr>
              <a:t>一份只讲「单调性判定」的讲义，通篇没有解释导数是什么。</a:t>
            </a:r>
            <a:endParaRPr/>
          </a:p>
        </p:txBody>
      </p:sp>
      <p:sp>
        <p:nvSpPr>
          <p:cNvPr id="240" name="Rounded Rectangle 5"/>
          <p:cNvSpPr/>
          <p:nvPr/>
        </p:nvSpPr>
        <p:spPr>
          <a:xfrm>
            <a:off x="2286000" y="3314700"/>
            <a:ext cx="2857500" cy="1333500"/>
          </a:xfrm>
          <a:prstGeom prst="roundRect">
            <a:avLst>
              <a:gd name="adj" fmla="val 7142"/>
            </a:avLst>
          </a:prstGeom>
          <a:solidFill>
            <a:srgbClr val="FDF0D5"/>
          </a:solidFill>
          <a:ln w="19050">
            <a:solidFill>
              <a:srgbClr val="854F0B"/>
            </a:solidFill>
            <a:prstDash val="dash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1" name="TextBox 6"/>
          <p:cNvSpPr txBox="1"/>
          <p:nvPr/>
        </p:nvSpPr>
        <p:spPr>
          <a:xfrm>
            <a:off x="2495550" y="3486150"/>
            <a:ext cx="24384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75" b="0">
                <a:solidFill>
                  <a:srgbClr val="854F0B"/>
                </a:solidFill>
                <a:latin typeface="Microsoft YaHei"/>
                <a:ea typeface="Microsoft YaHei"/>
                <a:cs typeface="Microsoft YaHei"/>
              </a:rPr>
              <a:t>前置概念 · 缺失</a:t>
            </a:r>
            <a:endParaRPr/>
          </a:p>
        </p:txBody>
      </p:sp>
      <p:sp>
        <p:nvSpPr>
          <p:cNvPr id="242" name="TextBox 7"/>
          <p:cNvSpPr txBox="1"/>
          <p:nvPr/>
        </p:nvSpPr>
        <p:spPr>
          <a:xfrm>
            <a:off x="2495550" y="3733800"/>
            <a:ext cx="2438400" cy="2857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650" b="1">
                <a:solidFill>
                  <a:srgbClr val="854F0B"/>
                </a:solidFill>
                <a:latin typeface="Microsoft YaHei"/>
                <a:ea typeface="Microsoft YaHei"/>
                <a:cs typeface="Microsoft YaHei"/>
              </a:rPr>
              <a:t>导数</a:t>
            </a:r>
            <a:endParaRPr/>
          </a:p>
        </p:txBody>
      </p:sp>
      <p:sp>
        <p:nvSpPr>
          <p:cNvPr id="243" name="TextBox 8"/>
          <p:cNvSpPr txBox="1"/>
          <p:nvPr/>
        </p:nvSpPr>
        <p:spPr>
          <a:xfrm>
            <a:off x="2495550" y="4076700"/>
            <a:ext cx="2438400" cy="4191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3300"/>
              </a:lnSpc>
            </a:pPr>
            <a:r>
              <a:rPr sz="1125" b="0">
                <a:solidFill>
                  <a:srgbClr val="6B6B66"/>
                </a:solidFill>
                <a:latin typeface="Microsoft YaHei"/>
                <a:ea typeface="Microsoft YaHei"/>
                <a:cs typeface="Microsoft YaHei"/>
              </a:rPr>
              <a:t>讲义通篇未解释它的含义</a:t>
            </a:r>
            <a:endParaRPr/>
          </a:p>
        </p:txBody>
      </p:sp>
      <p:sp>
        <p:nvSpPr>
          <p:cNvPr id="244" name="Rectangle 9"/>
          <p:cNvSpPr/>
          <p:nvPr/>
        </p:nvSpPr>
        <p:spPr>
          <a:xfrm>
            <a:off x="5200650" y="3981450"/>
            <a:ext cx="552450" cy="14288"/>
          </a:xfrm>
          <a:prstGeom prst="rect">
            <a:avLst/>
          </a:prstGeom>
          <a:solidFill>
            <a:srgbClr val="854F0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5" name="Rectangle 10"/>
          <p:cNvSpPr/>
          <p:nvPr/>
        </p:nvSpPr>
        <p:spPr>
          <a:xfrm>
            <a:off x="6438900" y="3981450"/>
            <a:ext cx="552450" cy="14288"/>
          </a:xfrm>
          <a:prstGeom prst="rect">
            <a:avLst/>
          </a:prstGeom>
          <a:solidFill>
            <a:srgbClr val="854F0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6" name="Freeform 11"/>
          <p:cNvSpPr/>
          <p:nvPr/>
        </p:nvSpPr>
        <p:spPr>
          <a:xfrm>
            <a:off x="5676900" y="3790950"/>
            <a:ext cx="457200" cy="381000"/>
          </a:xfrm>
          <a:custGeom>
            <a:avLst/>
            <a:gdLst/>
            <a:ahLst/>
            <a:cxnLst/>
            <a:rect l="l" t="t" r="r" b="b"/>
            <a:pathLst>
              <a:path w="457200" h="381000">
                <a:moveTo>
                  <a:pt x="0" y="0"/>
                </a:moveTo>
                <a:lnTo>
                  <a:pt x="457200" y="381000"/>
                </a:lnTo>
              </a:path>
            </a:pathLst>
          </a:custGeom>
          <a:noFill/>
          <a:ln w="27940">
            <a:solidFill>
              <a:srgbClr val="854F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7" name="Freeform 12"/>
          <p:cNvSpPr/>
          <p:nvPr/>
        </p:nvSpPr>
        <p:spPr>
          <a:xfrm>
            <a:off x="5676900" y="3790950"/>
            <a:ext cx="457200" cy="381000"/>
          </a:xfrm>
          <a:custGeom>
            <a:avLst/>
            <a:gdLst/>
            <a:ahLst/>
            <a:cxnLst/>
            <a:rect l="l" t="t" r="r" b="b"/>
            <a:pathLst>
              <a:path w="457200" h="381000">
                <a:moveTo>
                  <a:pt x="457200" y="0"/>
                </a:moveTo>
                <a:lnTo>
                  <a:pt x="0" y="381000"/>
                </a:lnTo>
              </a:path>
            </a:pathLst>
          </a:custGeom>
          <a:noFill/>
          <a:ln w="27940">
            <a:solidFill>
              <a:srgbClr val="854F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8" name="Rounded Rectangle 13"/>
          <p:cNvSpPr/>
          <p:nvPr/>
        </p:nvSpPr>
        <p:spPr>
          <a:xfrm>
            <a:off x="7048500" y="3314700"/>
            <a:ext cx="2857500" cy="1333500"/>
          </a:xfrm>
          <a:prstGeom prst="roundRect">
            <a:avLst>
              <a:gd name="adj" fmla="val 7142"/>
            </a:avLst>
          </a:prstGeom>
          <a:solidFill>
            <a:srgbClr val="FFFFFF"/>
          </a:solidFill>
          <a:ln w="19050">
            <a:solidFill>
              <a:srgbClr val="0F6E5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9" name="TextBox 14"/>
          <p:cNvSpPr txBox="1"/>
          <p:nvPr/>
        </p:nvSpPr>
        <p:spPr>
          <a:xfrm>
            <a:off x="7258050" y="3486150"/>
            <a:ext cx="24384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75" b="0">
                <a:solidFill>
                  <a:srgbClr val="0B5A46"/>
                </a:solidFill>
                <a:latin typeface="Microsoft YaHei"/>
                <a:ea typeface="Microsoft YaHei"/>
                <a:cs typeface="Microsoft YaHei"/>
              </a:rPr>
              <a:t>当前知识点 · 已覆盖</a:t>
            </a:r>
            <a:endParaRPr/>
          </a:p>
        </p:txBody>
      </p:sp>
      <p:sp>
        <p:nvSpPr>
          <p:cNvPr id="250" name="TextBox 15"/>
          <p:cNvSpPr txBox="1"/>
          <p:nvPr/>
        </p:nvSpPr>
        <p:spPr>
          <a:xfrm>
            <a:off x="7258050" y="3733800"/>
            <a:ext cx="2438400" cy="2857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650" b="1">
                <a:solidFill>
                  <a:srgbClr val="1F1F1D"/>
                </a:solidFill>
                <a:latin typeface="Microsoft YaHei"/>
                <a:ea typeface="Microsoft YaHei"/>
                <a:cs typeface="Microsoft YaHei"/>
              </a:rPr>
              <a:t>单调性判定</a:t>
            </a:r>
            <a:endParaRPr/>
          </a:p>
        </p:txBody>
      </p:sp>
      <p:sp>
        <p:nvSpPr>
          <p:cNvPr id="251" name="TextBox 16"/>
          <p:cNvSpPr txBox="1"/>
          <p:nvPr/>
        </p:nvSpPr>
        <p:spPr>
          <a:xfrm>
            <a:off x="7258050" y="4076700"/>
            <a:ext cx="2438400" cy="4191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3300"/>
              </a:lnSpc>
            </a:pPr>
            <a:r>
              <a:rPr sz="1125" b="0">
                <a:solidFill>
                  <a:srgbClr val="6B6B66"/>
                </a:solidFill>
                <a:latin typeface="Microsoft YaHei"/>
                <a:ea typeface="Microsoft YaHei"/>
                <a:cs typeface="Microsoft YaHei"/>
              </a:rPr>
              <a:t>讲义第 3 节完整讲解</a:t>
            </a:r>
            <a:endParaRPr/>
          </a:p>
        </p:txBody>
      </p:sp>
      <p:sp>
        <p:nvSpPr>
          <p:cNvPr id="252" name="TextBox 17"/>
          <p:cNvSpPr txBox="1"/>
          <p:nvPr/>
        </p:nvSpPr>
        <p:spPr>
          <a:xfrm>
            <a:off x="2000250" y="5029200"/>
            <a:ext cx="8191500" cy="8572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50000"/>
              </a:lnSpc>
            </a:pPr>
            <a:r>
              <a:rPr sz="1275" b="0">
                <a:solidFill>
                  <a:srgbClr val="1F1F1D"/>
                </a:solidFill>
                <a:latin typeface="Microsoft YaHei"/>
                <a:ea typeface="Microsoft YaHei"/>
                <a:cs typeface="Microsoft YaHei"/>
              </a:rPr>
              <a:t>这是大学讲义里极常见的断裂 —— 学生此刻真正缺的不是答案，而是</a:t>
            </a:r>
            <a:r>
              <a:rPr sz="1275" b="1">
                <a:solidFill>
                  <a:srgbClr val="0F6E56"/>
                </a:solidFill>
                <a:latin typeface="Microsoft YaHei"/>
                <a:ea typeface="Microsoft YaHei"/>
                <a:cs typeface="Microsoft YaHei"/>
              </a:rPr>
              <a:t>他自己不知道自己缺了什么</a:t>
            </a:r>
            <a:r>
              <a:rPr sz="1275" b="0">
                <a:solidFill>
                  <a:srgbClr val="1F1F1D"/>
                </a:solidFill>
                <a:latin typeface="Microsoft YaHei"/>
                <a:ea typeface="Microsoft YaHei"/>
                <a:cs typeface="Microsoft YaHei"/>
              </a:rPr>
              <a:t>。</a:t>
            </a:r>
            <a:endParaRPr/>
          </a:p>
        </p:txBody>
      </p:sp>
      <p:sp>
        <p:nvSpPr>
          <p:cNvPr id="253" name="Rectangle 18"/>
          <p:cNvSpPr/>
          <p:nvPr/>
        </p:nvSpPr>
        <p:spPr>
          <a:xfrm>
            <a:off x="609600" y="6419850"/>
            <a:ext cx="38100" cy="171450"/>
          </a:xfrm>
          <a:prstGeom prst="rect">
            <a:avLst/>
          </a:prstGeom>
          <a:solidFill>
            <a:srgbClr val="0F6E5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54" name="TextBox 19"/>
          <p:cNvSpPr txBox="1"/>
          <p:nvPr/>
        </p:nvSpPr>
        <p:spPr>
          <a:xfrm>
            <a:off x="742950" y="6362700"/>
            <a:ext cx="7239000" cy="2476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B6B66"/>
                </a:solidFill>
                <a:latin typeface="Microsoft YaHei"/>
                <a:ea typeface="Microsoft YaHei"/>
                <a:cs typeface="Microsoft YaHei"/>
              </a:rPr>
              <a:t>微积分学伴 · 大湾区 AI Coding 创新大赛</a:t>
            </a:r>
            <a:endParaRPr/>
          </a:p>
        </p:txBody>
      </p:sp>
      <p:sp>
        <p:nvSpPr>
          <p:cNvPr id="255" name="TextBox 20"/>
          <p:cNvSpPr txBox="1"/>
          <p:nvPr/>
        </p:nvSpPr>
        <p:spPr>
          <a:xfrm>
            <a:off x="9620250" y="6362700"/>
            <a:ext cx="1962150" cy="2476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050" b="0">
                <a:solidFill>
                  <a:srgbClr val="6B6B66"/>
                </a:solidFill>
                <a:latin typeface="Consolas"/>
                <a:ea typeface="Consolas"/>
                <a:cs typeface="Consolas"/>
              </a:rPr>
              <a:t>03 / 14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25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58" name="TextBox 2"/>
          <p:cNvSpPr txBox="1"/>
          <p:nvPr/>
        </p:nvSpPr>
        <p:spPr>
          <a:xfrm>
            <a:off x="609600" y="171450"/>
            <a:ext cx="8953500" cy="5143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300"/>
              </a:lnSpc>
            </a:pPr>
            <a:r>
              <a:rPr sz="2700" b="1">
                <a:solidFill>
                  <a:srgbClr val="1F1F1D"/>
                </a:solidFill>
                <a:latin typeface="Microsoft YaHei"/>
                <a:ea typeface="Microsoft YaHei"/>
                <a:cs typeface="Microsoft YaHei"/>
              </a:rPr>
              <a:t>不是答疑机，是补缺机</a:t>
            </a:r>
            <a:endParaRPr/>
          </a:p>
        </p:txBody>
      </p:sp>
      <p:sp>
        <p:nvSpPr>
          <p:cNvPr id="259" name="TextBox 3"/>
          <p:cNvSpPr txBox="1"/>
          <p:nvPr/>
        </p:nvSpPr>
        <p:spPr>
          <a:xfrm>
            <a:off x="609600" y="704850"/>
            <a:ext cx="9906000" cy="2857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500"/>
              </a:lnSpc>
            </a:pPr>
            <a:r>
              <a:rPr sz="1350" b="0">
                <a:solidFill>
                  <a:srgbClr val="6B6B66"/>
                </a:solidFill>
                <a:latin typeface="Microsoft YaHei"/>
                <a:ea typeface="Microsoft YaHei"/>
                <a:cs typeface="Microsoft YaHei"/>
              </a:rPr>
              <a:t>回答之前，先检查前置概念有没有被解释 —— 补齐的责任在系统，不在学生</a:t>
            </a:r>
            <a:endParaRPr/>
          </a:p>
        </p:txBody>
      </p:sp>
      <p:sp>
        <p:nvSpPr>
          <p:cNvPr id="260" name="Rectangle 4"/>
          <p:cNvSpPr/>
          <p:nvPr/>
        </p:nvSpPr>
        <p:spPr>
          <a:xfrm>
            <a:off x="609600" y="1143000"/>
            <a:ext cx="10972800" cy="14288"/>
          </a:xfrm>
          <a:prstGeom prst="rect">
            <a:avLst/>
          </a:prstGeom>
          <a:solidFill>
            <a:srgbClr val="E2E1DC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61" name="Rounded Rectangle 5"/>
          <p:cNvSpPr/>
          <p:nvPr/>
        </p:nvSpPr>
        <p:spPr>
          <a:xfrm>
            <a:off x="609600" y="1333500"/>
            <a:ext cx="6467475" cy="2362200"/>
          </a:xfrm>
          <a:prstGeom prst="roundRect">
            <a:avLst>
              <a:gd name="adj" fmla="val 4838"/>
            </a:avLst>
          </a:prstGeom>
          <a:solidFill>
            <a:srgbClr val="FFFFFF"/>
          </a:solidFill>
          <a:ln w="19050">
            <a:solidFill>
              <a:srgbClr val="E2E1DC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62" name="Rounded Rectangle 6"/>
          <p:cNvSpPr/>
          <p:nvPr/>
        </p:nvSpPr>
        <p:spPr>
          <a:xfrm>
            <a:off x="838200" y="1543050"/>
            <a:ext cx="1447800" cy="285750"/>
          </a:xfrm>
          <a:prstGeom prst="roundRect">
            <a:avLst>
              <a:gd name="adj" fmla="val 20000"/>
            </a:avLst>
          </a:prstGeom>
          <a:solidFill>
            <a:srgbClr val="F7F7F5"/>
          </a:solidFill>
          <a:ln w="12700">
            <a:solidFill>
              <a:srgbClr val="E2E1DC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63" name="TextBox 7"/>
          <p:cNvSpPr txBox="1"/>
          <p:nvPr/>
        </p:nvSpPr>
        <p:spPr>
          <a:xfrm>
            <a:off x="838200" y="1543050"/>
            <a:ext cx="1447800" cy="28575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91700"/>
              </a:lnSpc>
            </a:pPr>
            <a:r>
              <a:rPr sz="1125" b="0">
                <a:solidFill>
                  <a:srgbClr val="6B6B66"/>
                </a:solidFill>
                <a:latin typeface="Microsoft YaHei"/>
                <a:ea typeface="Microsoft YaHei"/>
                <a:cs typeface="Microsoft YaHei"/>
              </a:rPr>
              <a:t>普通答疑工具</a:t>
            </a:r>
            <a:endParaRPr/>
          </a:p>
        </p:txBody>
      </p:sp>
      <p:sp>
        <p:nvSpPr>
          <p:cNvPr id="264" name="TextBox 8"/>
          <p:cNvSpPr txBox="1"/>
          <p:nvPr/>
        </p:nvSpPr>
        <p:spPr>
          <a:xfrm>
            <a:off x="2419350" y="1581150"/>
            <a:ext cx="3810000" cy="2476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6B6B66"/>
                </a:solidFill>
                <a:latin typeface="Microsoft YaHei"/>
                <a:ea typeface="Microsoft YaHei"/>
                <a:cs typeface="Microsoft YaHei"/>
              </a:rPr>
              <a:t>只回答被问到的那一句</a:t>
            </a:r>
            <a:endParaRPr/>
          </a:p>
        </p:txBody>
      </p:sp>
      <p:sp>
        <p:nvSpPr>
          <p:cNvPr id="265" name="TextBox 9"/>
          <p:cNvSpPr txBox="1"/>
          <p:nvPr/>
        </p:nvSpPr>
        <p:spPr>
          <a:xfrm>
            <a:off x="838200" y="1943100"/>
            <a:ext cx="6010275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1700"/>
              </a:lnSpc>
            </a:pPr>
            <a:r>
              <a:rPr sz="1275" b="0">
                <a:solidFill>
                  <a:srgbClr val="6B6B66"/>
                </a:solidFill>
                <a:latin typeface="Microsoft YaHei"/>
                <a:ea typeface="Microsoft YaHei"/>
                <a:cs typeface="Microsoft YaHei"/>
              </a:rPr>
              <a:t>它默认你的地基本来就在：你问什么，它答什么；至于你之所以问不出来，是因为讲义里少了一环，它不负责发现。</a:t>
            </a:r>
            <a:endParaRPr/>
          </a:p>
        </p:txBody>
      </p:sp>
      <p:sp>
        <p:nvSpPr>
          <p:cNvPr id="266" name="Rounded Rectangle 10"/>
          <p:cNvSpPr/>
          <p:nvPr/>
        </p:nvSpPr>
        <p:spPr>
          <a:xfrm>
            <a:off x="838200" y="3105150"/>
            <a:ext cx="704850" cy="419100"/>
          </a:xfrm>
          <a:prstGeom prst="roundRect">
            <a:avLst>
              <a:gd name="adj" fmla="val 18181"/>
            </a:avLst>
          </a:prstGeom>
          <a:solidFill>
            <a:srgbClr val="F7F7F5"/>
          </a:solidFill>
          <a:ln w="19050">
            <a:solidFill>
              <a:srgbClr val="E2E1DC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67" name="TextBox 11"/>
          <p:cNvSpPr txBox="1"/>
          <p:nvPr/>
        </p:nvSpPr>
        <p:spPr>
          <a:xfrm>
            <a:off x="838200" y="3105150"/>
            <a:ext cx="704850" cy="4191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91700"/>
              </a:lnSpc>
            </a:pPr>
            <a:r>
              <a:rPr sz="1200" b="0">
                <a:solidFill>
                  <a:srgbClr val="1F1F1D"/>
                </a:solidFill>
                <a:latin typeface="Microsoft YaHei"/>
                <a:ea typeface="Microsoft YaHei"/>
                <a:cs typeface="Microsoft YaHei"/>
              </a:rPr>
              <a:t>提问</a:t>
            </a:r>
            <a:endParaRPr/>
          </a:p>
        </p:txBody>
      </p:sp>
      <p:sp>
        <p:nvSpPr>
          <p:cNvPr id="268" name="TextBox 12"/>
          <p:cNvSpPr txBox="1"/>
          <p:nvPr/>
        </p:nvSpPr>
        <p:spPr>
          <a:xfrm>
            <a:off x="1562100" y="3105150"/>
            <a:ext cx="190500" cy="4191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83300"/>
              </a:lnSpc>
            </a:pPr>
            <a:r>
              <a:rPr sz="1200" b="0">
                <a:solidFill>
                  <a:srgbClr val="6B6B66"/>
                </a:solidFill>
                <a:latin typeface="Microsoft YaHei"/>
                <a:ea typeface="Microsoft YaHei"/>
                <a:cs typeface="Microsoft YaHei"/>
              </a:rPr>
              <a:t>→</a:t>
            </a:r>
            <a:endParaRPr/>
          </a:p>
        </p:txBody>
      </p:sp>
      <p:sp>
        <p:nvSpPr>
          <p:cNvPr id="269" name="Rounded Rectangle 13"/>
          <p:cNvSpPr/>
          <p:nvPr/>
        </p:nvSpPr>
        <p:spPr>
          <a:xfrm>
            <a:off x="1771650" y="3105150"/>
            <a:ext cx="704850" cy="419100"/>
          </a:xfrm>
          <a:prstGeom prst="roundRect">
            <a:avLst>
              <a:gd name="adj" fmla="val 18181"/>
            </a:avLst>
          </a:prstGeom>
          <a:solidFill>
            <a:srgbClr val="F7F7F5"/>
          </a:solidFill>
          <a:ln w="19050">
            <a:solidFill>
              <a:srgbClr val="E2E1DC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70" name="TextBox 14"/>
          <p:cNvSpPr txBox="1"/>
          <p:nvPr/>
        </p:nvSpPr>
        <p:spPr>
          <a:xfrm>
            <a:off x="1771650" y="3105150"/>
            <a:ext cx="704850" cy="4191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91700"/>
              </a:lnSpc>
            </a:pPr>
            <a:r>
              <a:rPr sz="1200" b="0">
                <a:solidFill>
                  <a:srgbClr val="1F1F1D"/>
                </a:solidFill>
                <a:latin typeface="Microsoft YaHei"/>
                <a:ea typeface="Microsoft YaHei"/>
                <a:cs typeface="Microsoft YaHei"/>
              </a:rPr>
              <a:t>检索</a:t>
            </a:r>
            <a:endParaRPr/>
          </a:p>
        </p:txBody>
      </p:sp>
      <p:sp>
        <p:nvSpPr>
          <p:cNvPr id="271" name="TextBox 15"/>
          <p:cNvSpPr txBox="1"/>
          <p:nvPr/>
        </p:nvSpPr>
        <p:spPr>
          <a:xfrm>
            <a:off x="2495550" y="3105150"/>
            <a:ext cx="190500" cy="4191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83300"/>
              </a:lnSpc>
            </a:pPr>
            <a:r>
              <a:rPr sz="1200" b="0">
                <a:solidFill>
                  <a:srgbClr val="6B6B66"/>
                </a:solidFill>
                <a:latin typeface="Microsoft YaHei"/>
                <a:ea typeface="Microsoft YaHei"/>
                <a:cs typeface="Microsoft YaHei"/>
              </a:rPr>
              <a:t>→</a:t>
            </a:r>
            <a:endParaRPr/>
          </a:p>
        </p:txBody>
      </p:sp>
      <p:sp>
        <p:nvSpPr>
          <p:cNvPr id="272" name="Rounded Rectangle 16"/>
          <p:cNvSpPr/>
          <p:nvPr/>
        </p:nvSpPr>
        <p:spPr>
          <a:xfrm>
            <a:off x="2705100" y="3105150"/>
            <a:ext cx="1905000" cy="419100"/>
          </a:xfrm>
          <a:prstGeom prst="roundRect">
            <a:avLst>
              <a:gd name="adj" fmla="val 18181"/>
            </a:avLst>
          </a:prstGeom>
          <a:solidFill>
            <a:srgbClr val="F7F7F5"/>
          </a:solidFill>
          <a:ln w="19050">
            <a:solidFill>
              <a:srgbClr val="E2E1DC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73" name="TextBox 17"/>
          <p:cNvSpPr txBox="1"/>
          <p:nvPr/>
        </p:nvSpPr>
        <p:spPr>
          <a:xfrm>
            <a:off x="2705100" y="3105150"/>
            <a:ext cx="1905000" cy="4191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91700"/>
              </a:lnSpc>
            </a:pPr>
            <a:r>
              <a:rPr sz="1200" b="0">
                <a:solidFill>
                  <a:srgbClr val="1F1F1D"/>
                </a:solidFill>
                <a:latin typeface="Microsoft YaHei"/>
                <a:ea typeface="Microsoft YaHei"/>
                <a:cs typeface="Microsoft YaHei"/>
              </a:rPr>
              <a:t>回答（仅此一句）</a:t>
            </a:r>
            <a:endParaRPr/>
          </a:p>
        </p:txBody>
      </p:sp>
      <p:sp>
        <p:nvSpPr>
          <p:cNvPr id="274" name="Rounded Rectangle 18"/>
          <p:cNvSpPr/>
          <p:nvPr/>
        </p:nvSpPr>
        <p:spPr>
          <a:xfrm>
            <a:off x="609600" y="3905250"/>
            <a:ext cx="6467475" cy="2362200"/>
          </a:xfrm>
          <a:prstGeom prst="roundRect">
            <a:avLst>
              <a:gd name="adj" fmla="val 4838"/>
            </a:avLst>
          </a:prstGeom>
          <a:solidFill>
            <a:srgbClr val="FFFFFF"/>
          </a:solidFill>
          <a:ln w="19050">
            <a:solidFill>
              <a:srgbClr val="0F6E5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75" name="Rounded Rectangle 19"/>
          <p:cNvSpPr/>
          <p:nvPr/>
        </p:nvSpPr>
        <p:spPr>
          <a:xfrm>
            <a:off x="838200" y="4114800"/>
            <a:ext cx="1257300" cy="285750"/>
          </a:xfrm>
          <a:prstGeom prst="roundRect">
            <a:avLst>
              <a:gd name="adj" fmla="val 20000"/>
            </a:avLst>
          </a:prstGeom>
          <a:solidFill>
            <a:srgbClr val="E1F5EE"/>
          </a:solidFill>
          <a:ln w="12700">
            <a:solidFill>
              <a:srgbClr val="0F6E5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76" name="TextBox 20"/>
          <p:cNvSpPr txBox="1"/>
          <p:nvPr/>
        </p:nvSpPr>
        <p:spPr>
          <a:xfrm>
            <a:off x="838200" y="4114800"/>
            <a:ext cx="1257300" cy="28575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91700"/>
              </a:lnSpc>
            </a:pPr>
            <a:r>
              <a:rPr sz="1125" b="1">
                <a:solidFill>
                  <a:srgbClr val="0B5A46"/>
                </a:solidFill>
                <a:latin typeface="Microsoft YaHei"/>
                <a:ea typeface="Microsoft YaHei"/>
                <a:cs typeface="Microsoft YaHei"/>
              </a:rPr>
              <a:t>微积分学伴</a:t>
            </a:r>
            <a:endParaRPr/>
          </a:p>
        </p:txBody>
      </p:sp>
      <p:sp>
        <p:nvSpPr>
          <p:cNvPr id="277" name="TextBox 21"/>
          <p:cNvSpPr txBox="1"/>
          <p:nvPr/>
        </p:nvSpPr>
        <p:spPr>
          <a:xfrm>
            <a:off x="2228850" y="4152900"/>
            <a:ext cx="4000500" cy="2476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0B5A46"/>
                </a:solidFill>
                <a:latin typeface="Microsoft YaHei"/>
                <a:ea typeface="Microsoft YaHei"/>
                <a:cs typeface="Microsoft YaHei"/>
              </a:rPr>
              <a:t>先查缺，再回答</a:t>
            </a:r>
            <a:endParaRPr/>
          </a:p>
        </p:txBody>
      </p:sp>
      <p:sp>
        <p:nvSpPr>
          <p:cNvPr id="278" name="TextBox 22"/>
          <p:cNvSpPr txBox="1"/>
          <p:nvPr/>
        </p:nvSpPr>
        <p:spPr>
          <a:xfrm>
            <a:off x="838200" y="4514850"/>
            <a:ext cx="6010275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1700"/>
              </a:lnSpc>
            </a:pPr>
            <a:r>
              <a:rPr sz="1275" b="0">
                <a:solidFill>
                  <a:srgbClr val="1F1F1D"/>
                </a:solidFill>
                <a:latin typeface="Microsoft YaHei"/>
                <a:ea typeface="Microsoft YaHei"/>
                <a:cs typeface="Microsoft YaHei"/>
              </a:rPr>
              <a:t>系统先检查：你上传的讲义里，有没有解释这个问题所依赖的前置概念。发现缺口就直接补上最小必要说明 —— 不把它退回给刚发现自己看不懂的学生。</a:t>
            </a:r>
            <a:endParaRPr/>
          </a:p>
        </p:txBody>
      </p:sp>
      <p:sp>
        <p:nvSpPr>
          <p:cNvPr id="279" name="Rounded Rectangle 23"/>
          <p:cNvSpPr/>
          <p:nvPr/>
        </p:nvSpPr>
        <p:spPr>
          <a:xfrm>
            <a:off x="838200" y="5638800"/>
            <a:ext cx="704850" cy="419100"/>
          </a:xfrm>
          <a:prstGeom prst="roundRect">
            <a:avLst>
              <a:gd name="adj" fmla="val 18181"/>
            </a:avLst>
          </a:prstGeom>
          <a:solidFill>
            <a:srgbClr val="E1F5EE"/>
          </a:solidFill>
          <a:ln w="19050">
            <a:solidFill>
              <a:srgbClr val="0F6E5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80" name="TextBox 24"/>
          <p:cNvSpPr txBox="1"/>
          <p:nvPr/>
        </p:nvSpPr>
        <p:spPr>
          <a:xfrm>
            <a:off x="838200" y="5638800"/>
            <a:ext cx="704850" cy="4191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91700"/>
              </a:lnSpc>
            </a:pPr>
            <a:r>
              <a:rPr sz="1200" b="0">
                <a:solidFill>
                  <a:srgbClr val="0B5A46"/>
                </a:solidFill>
                <a:latin typeface="Microsoft YaHei"/>
                <a:ea typeface="Microsoft YaHei"/>
                <a:cs typeface="Microsoft YaHei"/>
              </a:rPr>
              <a:t>提问</a:t>
            </a:r>
            <a:endParaRPr/>
          </a:p>
        </p:txBody>
      </p:sp>
      <p:sp>
        <p:nvSpPr>
          <p:cNvPr id="281" name="TextBox 25"/>
          <p:cNvSpPr txBox="1"/>
          <p:nvPr/>
        </p:nvSpPr>
        <p:spPr>
          <a:xfrm>
            <a:off x="1562100" y="5638800"/>
            <a:ext cx="190500" cy="4191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83300"/>
              </a:lnSpc>
            </a:pPr>
            <a:r>
              <a:rPr sz="1200" b="0">
                <a:solidFill>
                  <a:srgbClr val="0F6E56"/>
                </a:solidFill>
                <a:latin typeface="Microsoft YaHei"/>
                <a:ea typeface="Microsoft YaHei"/>
                <a:cs typeface="Microsoft YaHei"/>
              </a:rPr>
              <a:t>→</a:t>
            </a:r>
            <a:endParaRPr/>
          </a:p>
        </p:txBody>
      </p:sp>
      <p:sp>
        <p:nvSpPr>
          <p:cNvPr id="282" name="Rounded Rectangle 26"/>
          <p:cNvSpPr/>
          <p:nvPr/>
        </p:nvSpPr>
        <p:spPr>
          <a:xfrm>
            <a:off x="1771650" y="5638800"/>
            <a:ext cx="1257300" cy="419100"/>
          </a:xfrm>
          <a:prstGeom prst="roundRect">
            <a:avLst>
              <a:gd name="adj" fmla="val 18181"/>
            </a:avLst>
          </a:prstGeom>
          <a:solidFill>
            <a:srgbClr val="E1F5EE"/>
          </a:solidFill>
          <a:ln w="19050">
            <a:solidFill>
              <a:srgbClr val="0F6E5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83" name="TextBox 27"/>
          <p:cNvSpPr txBox="1"/>
          <p:nvPr/>
        </p:nvSpPr>
        <p:spPr>
          <a:xfrm>
            <a:off x="1771650" y="5638800"/>
            <a:ext cx="1257300" cy="4191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91700"/>
              </a:lnSpc>
            </a:pPr>
            <a:r>
              <a:rPr sz="1200" b="0">
                <a:solidFill>
                  <a:srgbClr val="0B5A46"/>
                </a:solidFill>
                <a:latin typeface="Microsoft YaHei"/>
                <a:ea typeface="Microsoft YaHei"/>
                <a:cs typeface="Microsoft YaHei"/>
              </a:rPr>
              <a:t>查前置概念</a:t>
            </a:r>
            <a:endParaRPr/>
          </a:p>
        </p:txBody>
      </p:sp>
      <p:sp>
        <p:nvSpPr>
          <p:cNvPr id="284" name="TextBox 28"/>
          <p:cNvSpPr txBox="1"/>
          <p:nvPr/>
        </p:nvSpPr>
        <p:spPr>
          <a:xfrm>
            <a:off x="3048000" y="5638800"/>
            <a:ext cx="190500" cy="4191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83300"/>
              </a:lnSpc>
            </a:pPr>
            <a:r>
              <a:rPr sz="1200" b="0">
                <a:solidFill>
                  <a:srgbClr val="0F6E56"/>
                </a:solidFill>
                <a:latin typeface="Microsoft YaHei"/>
                <a:ea typeface="Microsoft YaHei"/>
                <a:cs typeface="Microsoft YaHei"/>
              </a:rPr>
              <a:t>→</a:t>
            </a:r>
            <a:endParaRPr/>
          </a:p>
        </p:txBody>
      </p:sp>
      <p:sp>
        <p:nvSpPr>
          <p:cNvPr id="285" name="Rounded Rectangle 29"/>
          <p:cNvSpPr/>
          <p:nvPr/>
        </p:nvSpPr>
        <p:spPr>
          <a:xfrm>
            <a:off x="3257550" y="5638800"/>
            <a:ext cx="1143000" cy="419100"/>
          </a:xfrm>
          <a:prstGeom prst="roundRect">
            <a:avLst>
              <a:gd name="adj" fmla="val 18181"/>
            </a:avLst>
          </a:prstGeom>
          <a:solidFill>
            <a:srgbClr val="FDF0D5"/>
          </a:solidFill>
          <a:ln w="19050">
            <a:solidFill>
              <a:srgbClr val="854F0B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86" name="TextBox 30"/>
          <p:cNvSpPr txBox="1"/>
          <p:nvPr/>
        </p:nvSpPr>
        <p:spPr>
          <a:xfrm>
            <a:off x="3257550" y="5638800"/>
            <a:ext cx="1143000" cy="4191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91700"/>
              </a:lnSpc>
            </a:pPr>
            <a:r>
              <a:rPr sz="1200" b="0">
                <a:solidFill>
                  <a:srgbClr val="854F0B"/>
                </a:solidFill>
                <a:latin typeface="Microsoft YaHei"/>
                <a:ea typeface="Microsoft YaHei"/>
                <a:cs typeface="Microsoft YaHei"/>
              </a:rPr>
              <a:t>发现缺口</a:t>
            </a:r>
            <a:endParaRPr/>
          </a:p>
        </p:txBody>
      </p:sp>
      <p:sp>
        <p:nvSpPr>
          <p:cNvPr id="287" name="TextBox 31"/>
          <p:cNvSpPr txBox="1"/>
          <p:nvPr/>
        </p:nvSpPr>
        <p:spPr>
          <a:xfrm>
            <a:off x="4419600" y="5638800"/>
            <a:ext cx="190500" cy="4191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83300"/>
              </a:lnSpc>
            </a:pPr>
            <a:r>
              <a:rPr sz="1200" b="0">
                <a:solidFill>
                  <a:srgbClr val="0F6E56"/>
                </a:solidFill>
                <a:latin typeface="Microsoft YaHei"/>
                <a:ea typeface="Microsoft YaHei"/>
                <a:cs typeface="Microsoft YaHei"/>
              </a:rPr>
              <a:t>→</a:t>
            </a:r>
            <a:endParaRPr/>
          </a:p>
        </p:txBody>
      </p:sp>
      <p:sp>
        <p:nvSpPr>
          <p:cNvPr id="288" name="Rounded Rectangle 32"/>
          <p:cNvSpPr/>
          <p:nvPr/>
        </p:nvSpPr>
        <p:spPr>
          <a:xfrm>
            <a:off x="4629150" y="5638800"/>
            <a:ext cx="1143000" cy="419100"/>
          </a:xfrm>
          <a:prstGeom prst="roundRect">
            <a:avLst>
              <a:gd name="adj" fmla="val 18181"/>
            </a:avLst>
          </a:prstGeom>
          <a:solidFill>
            <a:srgbClr val="E1F5EE"/>
          </a:solidFill>
          <a:ln w="19050">
            <a:solidFill>
              <a:srgbClr val="0F6E5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89" name="TextBox 33"/>
          <p:cNvSpPr txBox="1"/>
          <p:nvPr/>
        </p:nvSpPr>
        <p:spPr>
          <a:xfrm>
            <a:off x="4629150" y="5638800"/>
            <a:ext cx="1143000" cy="4191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91700"/>
              </a:lnSpc>
            </a:pPr>
            <a:r>
              <a:rPr sz="1200" b="0">
                <a:solidFill>
                  <a:srgbClr val="0B5A46"/>
                </a:solidFill>
                <a:latin typeface="Microsoft YaHei"/>
                <a:ea typeface="Microsoft YaHei"/>
                <a:cs typeface="Microsoft YaHei"/>
              </a:rPr>
              <a:t>系统补上</a:t>
            </a:r>
            <a:endParaRPr/>
          </a:p>
        </p:txBody>
      </p:sp>
      <p:sp>
        <p:nvSpPr>
          <p:cNvPr id="290" name="Rounded Rectangle 34"/>
          <p:cNvSpPr/>
          <p:nvPr/>
        </p:nvSpPr>
        <p:spPr>
          <a:xfrm>
            <a:off x="7267575" y="1333500"/>
            <a:ext cx="4314825" cy="2000250"/>
          </a:xfrm>
          <a:prstGeom prst="roundRect">
            <a:avLst>
              <a:gd name="adj" fmla="val 5714"/>
            </a:avLst>
          </a:prstGeom>
          <a:solidFill>
            <a:srgbClr val="E1F5EE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91" name="TextBox 35"/>
          <p:cNvSpPr txBox="1"/>
          <p:nvPr/>
        </p:nvSpPr>
        <p:spPr>
          <a:xfrm>
            <a:off x="7496175" y="1543050"/>
            <a:ext cx="3857625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75" b="0">
                <a:solidFill>
                  <a:srgbClr val="0B5A46"/>
                </a:solidFill>
                <a:latin typeface="Microsoft YaHei"/>
                <a:ea typeface="Microsoft YaHei"/>
                <a:cs typeface="Microsoft YaHei"/>
              </a:rPr>
              <a:t>核心命题</a:t>
            </a:r>
            <a:endParaRPr/>
          </a:p>
        </p:txBody>
      </p:sp>
      <p:sp>
        <p:nvSpPr>
          <p:cNvPr id="292" name="TextBox 36"/>
          <p:cNvSpPr txBox="1"/>
          <p:nvPr/>
        </p:nvSpPr>
        <p:spPr>
          <a:xfrm>
            <a:off x="7496175" y="1809750"/>
            <a:ext cx="3857625" cy="13906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9200"/>
              </a:lnSpc>
            </a:pPr>
            <a:r>
              <a:rPr sz="1950" b="1">
                <a:solidFill>
                  <a:srgbClr val="0B5A46"/>
                </a:solidFill>
                <a:latin typeface="Microsoft YaHei"/>
                <a:ea typeface="Microsoft YaHei"/>
                <a:cs typeface="Microsoft YaHei"/>
              </a:rPr>
              <a:t>先回答学生问的问题；当他问不出来的时候，替他找出缺的那一块并补上。</a:t>
            </a:r>
            <a:endParaRPr/>
          </a:p>
        </p:txBody>
      </p:sp>
      <p:sp>
        <p:nvSpPr>
          <p:cNvPr id="293" name="Rounded Rectangle 37"/>
          <p:cNvSpPr/>
          <p:nvPr/>
        </p:nvSpPr>
        <p:spPr>
          <a:xfrm>
            <a:off x="7267575" y="3486150"/>
            <a:ext cx="4314825" cy="2800350"/>
          </a:xfrm>
          <a:prstGeom prst="roundRect">
            <a:avLst>
              <a:gd name="adj" fmla="val 4081"/>
            </a:avLst>
          </a:prstGeom>
          <a:solidFill>
            <a:srgbClr val="FFFFFF"/>
          </a:solidFill>
          <a:ln w="19050">
            <a:solidFill>
              <a:srgbClr val="E2E1DC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94" name="Rectangle 38"/>
          <p:cNvSpPr/>
          <p:nvPr/>
        </p:nvSpPr>
        <p:spPr>
          <a:xfrm>
            <a:off x="7496175" y="3695700"/>
            <a:ext cx="38100" cy="228600"/>
          </a:xfrm>
          <a:prstGeom prst="rect">
            <a:avLst/>
          </a:prstGeom>
          <a:solidFill>
            <a:srgbClr val="0F6E5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95" name="TextBox 39"/>
          <p:cNvSpPr txBox="1"/>
          <p:nvPr/>
        </p:nvSpPr>
        <p:spPr>
          <a:xfrm>
            <a:off x="7648575" y="3676650"/>
            <a:ext cx="3733800" cy="2476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300"/>
              </a:lnSpc>
            </a:pPr>
            <a:r>
              <a:rPr sz="1275" b="1">
                <a:solidFill>
                  <a:srgbClr val="1F1F1D"/>
                </a:solidFill>
                <a:latin typeface="Microsoft YaHei"/>
                <a:ea typeface="Microsoft YaHei"/>
                <a:cs typeface="Microsoft YaHei"/>
              </a:rPr>
              <a:t>每一步都要能被追溯</a:t>
            </a:r>
            <a:endParaRPr/>
          </a:p>
        </p:txBody>
      </p:sp>
      <p:sp>
        <p:nvSpPr>
          <p:cNvPr id="296" name="TextBox 40"/>
          <p:cNvSpPr txBox="1"/>
          <p:nvPr/>
        </p:nvSpPr>
        <p:spPr>
          <a:xfrm>
            <a:off x="7648575" y="3943350"/>
            <a:ext cx="3733800" cy="5143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7500"/>
              </a:lnSpc>
            </a:pPr>
            <a:r>
              <a:rPr sz="1200" b="0">
                <a:solidFill>
                  <a:srgbClr val="6B6B66"/>
                </a:solidFill>
                <a:latin typeface="Microsoft YaHei"/>
                <a:ea typeface="Microsoft YaHei"/>
                <a:cs typeface="Microsoft YaHei"/>
              </a:rPr>
              <a:t>来自讲义哪一段、还是 AI 补的，必须标清楚；摘录在来源里找不到，这一块就不展示。</a:t>
            </a:r>
            <a:endParaRPr/>
          </a:p>
        </p:txBody>
      </p:sp>
      <p:sp>
        <p:nvSpPr>
          <p:cNvPr id="297" name="Rectangle 41"/>
          <p:cNvSpPr/>
          <p:nvPr/>
        </p:nvSpPr>
        <p:spPr>
          <a:xfrm>
            <a:off x="7496175" y="4533900"/>
            <a:ext cx="38100" cy="228600"/>
          </a:xfrm>
          <a:prstGeom prst="rect">
            <a:avLst/>
          </a:prstGeom>
          <a:solidFill>
            <a:srgbClr val="0F6E5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98" name="TextBox 42"/>
          <p:cNvSpPr txBox="1"/>
          <p:nvPr/>
        </p:nvSpPr>
        <p:spPr>
          <a:xfrm>
            <a:off x="7648575" y="4514850"/>
            <a:ext cx="3733800" cy="2476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300"/>
              </a:lnSpc>
            </a:pPr>
            <a:r>
              <a:rPr sz="1275" b="1">
                <a:solidFill>
                  <a:srgbClr val="1F1F1D"/>
                </a:solidFill>
                <a:latin typeface="Microsoft YaHei"/>
                <a:ea typeface="Microsoft YaHei"/>
                <a:cs typeface="Microsoft YaHei"/>
              </a:rPr>
              <a:t>AI 的话不当结论用</a:t>
            </a:r>
            <a:endParaRPr/>
          </a:p>
        </p:txBody>
      </p:sp>
      <p:sp>
        <p:nvSpPr>
          <p:cNvPr id="299" name="TextBox 43"/>
          <p:cNvSpPr txBox="1"/>
          <p:nvPr/>
        </p:nvSpPr>
        <p:spPr>
          <a:xfrm>
            <a:off x="7648575" y="4781550"/>
            <a:ext cx="3733800" cy="5143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7500"/>
              </a:lnSpc>
            </a:pPr>
            <a:r>
              <a:rPr sz="1200" b="0">
                <a:solidFill>
                  <a:srgbClr val="6B6B66"/>
                </a:solidFill>
                <a:latin typeface="Microsoft YaHei"/>
                <a:ea typeface="Microsoft YaHei"/>
                <a:cs typeface="Microsoft YaHei"/>
              </a:rPr>
              <a:t>模型输出先归一、再校验；数学结论不靠自然语言表态，交给符号引擎逐条核验。</a:t>
            </a:r>
            <a:endParaRPr/>
          </a:p>
        </p:txBody>
      </p:sp>
      <p:sp>
        <p:nvSpPr>
          <p:cNvPr id="300" name="Rectangle 44"/>
          <p:cNvSpPr/>
          <p:nvPr/>
        </p:nvSpPr>
        <p:spPr>
          <a:xfrm>
            <a:off x="7496175" y="5372100"/>
            <a:ext cx="38100" cy="228600"/>
          </a:xfrm>
          <a:prstGeom prst="rect">
            <a:avLst/>
          </a:prstGeom>
          <a:solidFill>
            <a:srgbClr val="854F0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01" name="TextBox 45"/>
          <p:cNvSpPr txBox="1"/>
          <p:nvPr/>
        </p:nvSpPr>
        <p:spPr>
          <a:xfrm>
            <a:off x="7648575" y="5353050"/>
            <a:ext cx="3733800" cy="2476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300"/>
              </a:lnSpc>
            </a:pPr>
            <a:r>
              <a:rPr sz="1275" b="1">
                <a:solidFill>
                  <a:srgbClr val="1F1F1D"/>
                </a:solidFill>
                <a:latin typeface="Microsoft YaHei"/>
                <a:ea typeface="Microsoft YaHei"/>
                <a:cs typeface="Microsoft YaHei"/>
              </a:rPr>
              <a:t>做不到的就说做不到</a:t>
            </a:r>
            <a:endParaRPr/>
          </a:p>
        </p:txBody>
      </p:sp>
      <p:sp>
        <p:nvSpPr>
          <p:cNvPr id="302" name="TextBox 46"/>
          <p:cNvSpPr txBox="1"/>
          <p:nvPr/>
        </p:nvSpPr>
        <p:spPr>
          <a:xfrm>
            <a:off x="7648575" y="5619750"/>
            <a:ext cx="3733800" cy="5143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7500"/>
              </a:lnSpc>
            </a:pPr>
            <a:r>
              <a:rPr lang="zh-CN" sz="1200" b="0">
                <a:solidFill>
                  <a:srgbClr val="6B6B66"/>
                </a:solidFill>
                <a:latin typeface="Microsoft YaHei"/>
                <a:ea typeface="Microsoft YaHei"/>
                <a:cs typeface="Microsoft YaHei"/>
              </a:rPr>
              <a:t>做不到的接口如实标注，界面不留「看起来能用」的空壳，也不用空数据冒充。</a:t>
            </a:r>
            <a:r>
              <a:rPr lang="zh-CN" sz="1200" b="0">
                <a:solidFill>
                  <a:srgbClr val="6B6B66"/>
                </a:solidFill>
                <a:latin typeface="Microsoft YaHei"/>
                <a:ea typeface="Microsoft YaHei"/>
                <a:cs typeface="Microsoft YaHei"/>
              </a:rPr>
              <a:t></a:t>
            </a:r>
            <a:endParaRPr lang="zh-CN" sz="1200" b="0">
              <a:solidFill>
                <a:srgbClr val="6B6B66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03" name="Rectangle 47"/>
          <p:cNvSpPr/>
          <p:nvPr/>
        </p:nvSpPr>
        <p:spPr>
          <a:xfrm>
            <a:off x="609600" y="6419850"/>
            <a:ext cx="38100" cy="171450"/>
          </a:xfrm>
          <a:prstGeom prst="rect">
            <a:avLst/>
          </a:prstGeom>
          <a:solidFill>
            <a:srgbClr val="0F6E5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04" name="TextBox 48"/>
          <p:cNvSpPr txBox="1"/>
          <p:nvPr/>
        </p:nvSpPr>
        <p:spPr>
          <a:xfrm>
            <a:off x="742950" y="6362700"/>
            <a:ext cx="7239000" cy="2476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B6B66"/>
                </a:solidFill>
                <a:latin typeface="Microsoft YaHei"/>
                <a:ea typeface="Microsoft YaHei"/>
                <a:cs typeface="Microsoft YaHei"/>
              </a:rPr>
              <a:t>微积分学伴 · 大湾区 AI Coding 创新大赛</a:t>
            </a:r>
            <a:endParaRPr/>
          </a:p>
        </p:txBody>
      </p:sp>
      <p:sp>
        <p:nvSpPr>
          <p:cNvPr id="305" name="TextBox 49"/>
          <p:cNvSpPr txBox="1"/>
          <p:nvPr/>
        </p:nvSpPr>
        <p:spPr>
          <a:xfrm>
            <a:off x="9620250" y="6362700"/>
            <a:ext cx="1962150" cy="2476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050" b="0">
                <a:solidFill>
                  <a:srgbClr val="6B6B66"/>
                </a:solidFill>
                <a:latin typeface="Consolas"/>
                <a:ea typeface="Consolas"/>
                <a:cs typeface="Consolas"/>
              </a:rPr>
              <a:t>04 / 14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30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08" name="TextBox 2"/>
          <p:cNvSpPr txBox="1"/>
          <p:nvPr/>
        </p:nvSpPr>
        <p:spPr>
          <a:xfrm>
            <a:off x="609600" y="171450"/>
            <a:ext cx="8953500" cy="5143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300"/>
              </a:lnSpc>
            </a:pPr>
            <a:r>
              <a:rPr sz="2700" b="1">
                <a:solidFill>
                  <a:srgbClr val="1F1F1D"/>
                </a:solidFill>
                <a:latin typeface="Microsoft YaHei"/>
                <a:ea typeface="Microsoft YaHei"/>
                <a:cs typeface="Microsoft YaHei"/>
              </a:rPr>
              <a:t>一次真实的学习过程</a:t>
            </a:r>
            <a:endParaRPr/>
          </a:p>
        </p:txBody>
      </p:sp>
      <p:sp>
        <p:nvSpPr>
          <p:cNvPr id="309" name="TextBox 3"/>
          <p:cNvSpPr txBox="1"/>
          <p:nvPr/>
        </p:nvSpPr>
        <p:spPr>
          <a:xfrm>
            <a:off x="609600" y="704850"/>
            <a:ext cx="9906000" cy="2857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500"/>
              </a:lnSpc>
            </a:pPr>
            <a:r>
              <a:rPr sz="1350" b="0">
                <a:solidFill>
                  <a:srgbClr val="6B6B66"/>
                </a:solidFill>
                <a:latin typeface="Microsoft YaHei"/>
                <a:ea typeface="Microsoft YaHei"/>
                <a:cs typeface="Microsoft YaHei"/>
              </a:rPr>
              <a:t>六个步骤走完，依赖状态在第三、四、六步各发生一次真实迁移</a:t>
            </a:r>
            <a:endParaRPr/>
          </a:p>
        </p:txBody>
      </p:sp>
      <p:sp>
        <p:nvSpPr>
          <p:cNvPr id="310" name="Rectangle 4"/>
          <p:cNvSpPr/>
          <p:nvPr/>
        </p:nvSpPr>
        <p:spPr>
          <a:xfrm>
            <a:off x="609600" y="1143000"/>
            <a:ext cx="10972800" cy="14288"/>
          </a:xfrm>
          <a:prstGeom prst="rect">
            <a:avLst/>
          </a:prstGeom>
          <a:solidFill>
            <a:srgbClr val="E2E1DC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11" name="Rectangle 5"/>
          <p:cNvSpPr/>
          <p:nvPr/>
        </p:nvSpPr>
        <p:spPr>
          <a:xfrm>
            <a:off x="1524000" y="1485900"/>
            <a:ext cx="9096375" cy="14288"/>
          </a:xfrm>
          <a:prstGeom prst="rect">
            <a:avLst/>
          </a:prstGeom>
          <a:solidFill>
            <a:srgbClr val="E2E1DC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12" name="Oval 6"/>
          <p:cNvSpPr/>
          <p:nvPr/>
        </p:nvSpPr>
        <p:spPr>
          <a:xfrm>
            <a:off x="1352550" y="1333500"/>
            <a:ext cx="342900" cy="3429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F6E5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13" name="TextBox 7"/>
          <p:cNvSpPr txBox="1"/>
          <p:nvPr/>
        </p:nvSpPr>
        <p:spPr>
          <a:xfrm>
            <a:off x="1352550" y="1333500"/>
            <a:ext cx="3429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83300"/>
              </a:lnSpc>
            </a:pPr>
            <a:r>
              <a:rPr sz="1125" b="1">
                <a:solidFill>
                  <a:srgbClr val="0F6E56"/>
                </a:solidFill>
                <a:latin typeface="Consolas"/>
                <a:ea typeface="Consolas"/>
                <a:cs typeface="Consolas"/>
              </a:rPr>
              <a:t>1</a:t>
            </a:r>
            <a:endParaRPr/>
          </a:p>
        </p:txBody>
      </p:sp>
      <p:sp>
        <p:nvSpPr>
          <p:cNvPr id="314" name="TextBox 8"/>
          <p:cNvSpPr txBox="1"/>
          <p:nvPr/>
        </p:nvSpPr>
        <p:spPr>
          <a:xfrm>
            <a:off x="657225" y="1790700"/>
            <a:ext cx="1733550" cy="2476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8300"/>
              </a:lnSpc>
            </a:pPr>
            <a:r>
              <a:rPr sz="1275" b="1">
                <a:solidFill>
                  <a:srgbClr val="1F1F1D"/>
                </a:solidFill>
                <a:latin typeface="Microsoft YaHei"/>
                <a:ea typeface="Microsoft YaHei"/>
                <a:cs typeface="Microsoft YaHei"/>
              </a:rPr>
              <a:t>零材料提问</a:t>
            </a:r>
            <a:endParaRPr/>
          </a:p>
        </p:txBody>
      </p:sp>
      <p:sp>
        <p:nvSpPr>
          <p:cNvPr id="315" name="TextBox 9"/>
          <p:cNvSpPr txBox="1"/>
          <p:nvPr/>
        </p:nvSpPr>
        <p:spPr>
          <a:xfrm>
            <a:off x="657225" y="2076450"/>
            <a:ext cx="1733550" cy="18097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33300"/>
              </a:lnSpc>
            </a:pPr>
            <a:r>
              <a:rPr sz="1125" b="0">
                <a:solidFill>
                  <a:srgbClr val="6B6B66"/>
                </a:solidFill>
                <a:latin typeface="Microsoft YaHei"/>
                <a:ea typeface="Microsoft YaHei"/>
                <a:cs typeface="Microsoft YaHei"/>
              </a:rPr>
              <a:t>不传材料也能问。回答标注「未基于你的材料」，并提示上传讲义。</a:t>
            </a:r>
            <a:endParaRPr/>
          </a:p>
        </p:txBody>
      </p:sp>
      <p:sp>
        <p:nvSpPr>
          <p:cNvPr id="316" name="Oval 10"/>
          <p:cNvSpPr/>
          <p:nvPr/>
        </p:nvSpPr>
        <p:spPr>
          <a:xfrm>
            <a:off x="3171825" y="1333500"/>
            <a:ext cx="342900" cy="3429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F6E5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17" name="TextBox 11"/>
          <p:cNvSpPr txBox="1"/>
          <p:nvPr/>
        </p:nvSpPr>
        <p:spPr>
          <a:xfrm>
            <a:off x="3171825" y="1333500"/>
            <a:ext cx="3429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83300"/>
              </a:lnSpc>
            </a:pPr>
            <a:r>
              <a:rPr sz="1125" b="1">
                <a:solidFill>
                  <a:srgbClr val="0F6E56"/>
                </a:solidFill>
                <a:latin typeface="Consolas"/>
                <a:ea typeface="Consolas"/>
                <a:cs typeface="Consolas"/>
              </a:rPr>
              <a:t>2</a:t>
            </a:r>
            <a:endParaRPr/>
          </a:p>
        </p:txBody>
      </p:sp>
      <p:sp>
        <p:nvSpPr>
          <p:cNvPr id="318" name="TextBox 12"/>
          <p:cNvSpPr txBox="1"/>
          <p:nvPr/>
        </p:nvSpPr>
        <p:spPr>
          <a:xfrm>
            <a:off x="2476500" y="1790700"/>
            <a:ext cx="1733550" cy="2476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8300"/>
              </a:lnSpc>
            </a:pPr>
            <a:r>
              <a:rPr sz="1275" b="1">
                <a:solidFill>
                  <a:srgbClr val="1F1F1D"/>
                </a:solidFill>
                <a:latin typeface="Microsoft YaHei"/>
                <a:ea typeface="Microsoft YaHei"/>
                <a:cs typeface="Microsoft YaHei"/>
              </a:rPr>
              <a:t>粘贴讲义</a:t>
            </a:r>
            <a:endParaRPr/>
          </a:p>
        </p:txBody>
      </p:sp>
      <p:sp>
        <p:nvSpPr>
          <p:cNvPr id="319" name="TextBox 13"/>
          <p:cNvSpPr txBox="1"/>
          <p:nvPr/>
        </p:nvSpPr>
        <p:spPr>
          <a:xfrm>
            <a:off x="2476500" y="2076450"/>
            <a:ext cx="1733550" cy="18097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33300"/>
              </a:lnSpc>
            </a:pPr>
            <a:r>
              <a:rPr sz="1125" b="0">
                <a:solidFill>
                  <a:srgbClr val="6B6B66"/>
                </a:solidFill>
                <a:latin typeface="Microsoft YaHei"/>
                <a:ea typeface="Microsoft YaHei"/>
                <a:cs typeface="Microsoft YaHei"/>
              </a:rPr>
              <a:t>解析出三到六个知识点与前置关系，材料与图谱同一次原子提交落盘。</a:t>
            </a:r>
            <a:endParaRPr/>
          </a:p>
        </p:txBody>
      </p:sp>
      <p:sp>
        <p:nvSpPr>
          <p:cNvPr id="320" name="Oval 14"/>
          <p:cNvSpPr/>
          <p:nvPr/>
        </p:nvSpPr>
        <p:spPr>
          <a:xfrm>
            <a:off x="4991100" y="1333500"/>
            <a:ext cx="342900" cy="342900"/>
          </a:xfrm>
          <a:prstGeom prst="ellipse">
            <a:avLst/>
          </a:prstGeom>
          <a:solidFill>
            <a:srgbClr val="FDF0D5"/>
          </a:solidFill>
          <a:ln w="25400">
            <a:solidFill>
              <a:srgbClr val="854F0B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21" name="TextBox 15"/>
          <p:cNvSpPr txBox="1"/>
          <p:nvPr/>
        </p:nvSpPr>
        <p:spPr>
          <a:xfrm>
            <a:off x="4991100" y="1333500"/>
            <a:ext cx="3429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83300"/>
              </a:lnSpc>
            </a:pPr>
            <a:r>
              <a:rPr sz="1125" b="1">
                <a:solidFill>
                  <a:srgbClr val="854F0B"/>
                </a:solidFill>
                <a:latin typeface="Consolas"/>
                <a:ea typeface="Consolas"/>
                <a:cs typeface="Consolas"/>
              </a:rPr>
              <a:t>3</a:t>
            </a:r>
            <a:endParaRPr/>
          </a:p>
        </p:txBody>
      </p:sp>
      <p:sp>
        <p:nvSpPr>
          <p:cNvPr id="322" name="TextBox 16"/>
          <p:cNvSpPr txBox="1"/>
          <p:nvPr/>
        </p:nvSpPr>
        <p:spPr>
          <a:xfrm>
            <a:off x="4295775" y="1790700"/>
            <a:ext cx="1733550" cy="2476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8300"/>
              </a:lnSpc>
            </a:pPr>
            <a:r>
              <a:rPr sz="1275" b="1">
                <a:solidFill>
                  <a:srgbClr val="1F1F1D"/>
                </a:solidFill>
                <a:latin typeface="Microsoft YaHei"/>
                <a:ea typeface="Microsoft YaHei"/>
                <a:cs typeface="Microsoft YaHei"/>
              </a:rPr>
              <a:t>缺口被发现</a:t>
            </a:r>
            <a:endParaRPr/>
          </a:p>
        </p:txBody>
      </p:sp>
      <p:sp>
        <p:nvSpPr>
          <p:cNvPr id="323" name="TextBox 17"/>
          <p:cNvSpPr txBox="1"/>
          <p:nvPr/>
        </p:nvSpPr>
        <p:spPr>
          <a:xfrm>
            <a:off x="4295775" y="2076450"/>
            <a:ext cx="1733550" cy="18097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33300"/>
              </a:lnSpc>
            </a:pPr>
            <a:r>
              <a:rPr sz="1125" b="0">
                <a:solidFill>
                  <a:srgbClr val="6B6B66"/>
                </a:solidFill>
                <a:latin typeface="Microsoft YaHei"/>
                <a:ea typeface="Microsoft YaHei"/>
                <a:cs typeface="Microsoft YaHei"/>
              </a:rPr>
              <a:t>判定单调性依赖导数，而讲义没有解释导数，标为 MISSING 并给出理由。</a:t>
            </a:r>
            <a:endParaRPr/>
          </a:p>
        </p:txBody>
      </p:sp>
      <p:sp>
        <p:nvSpPr>
          <p:cNvPr id="324" name="Oval 18"/>
          <p:cNvSpPr/>
          <p:nvPr/>
        </p:nvSpPr>
        <p:spPr>
          <a:xfrm>
            <a:off x="6810375" y="1333500"/>
            <a:ext cx="342900" cy="3429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F6E5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25" name="TextBox 19"/>
          <p:cNvSpPr txBox="1"/>
          <p:nvPr/>
        </p:nvSpPr>
        <p:spPr>
          <a:xfrm>
            <a:off x="6810375" y="1333500"/>
            <a:ext cx="3429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83300"/>
              </a:lnSpc>
            </a:pPr>
            <a:r>
              <a:rPr sz="1125" b="1">
                <a:solidFill>
                  <a:srgbClr val="0F6E56"/>
                </a:solidFill>
                <a:latin typeface="Consolas"/>
                <a:ea typeface="Consolas"/>
                <a:cs typeface="Consolas"/>
              </a:rPr>
              <a:t>4</a:t>
            </a:r>
            <a:endParaRPr/>
          </a:p>
        </p:txBody>
      </p:sp>
      <p:sp>
        <p:nvSpPr>
          <p:cNvPr id="326" name="TextBox 20"/>
          <p:cNvSpPr txBox="1"/>
          <p:nvPr/>
        </p:nvSpPr>
        <p:spPr>
          <a:xfrm>
            <a:off x="6115050" y="1790700"/>
            <a:ext cx="1733550" cy="2476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8300"/>
              </a:lnSpc>
            </a:pPr>
            <a:r>
              <a:rPr sz="1275" b="1">
                <a:solidFill>
                  <a:srgbClr val="1F1F1D"/>
                </a:solidFill>
                <a:latin typeface="Microsoft YaHei"/>
                <a:ea typeface="Microsoft YaHei"/>
                <a:cs typeface="Microsoft YaHei"/>
              </a:rPr>
              <a:t>点一下补齐</a:t>
            </a:r>
            <a:endParaRPr/>
          </a:p>
        </p:txBody>
      </p:sp>
      <p:sp>
        <p:nvSpPr>
          <p:cNvPr id="327" name="TextBox 21"/>
          <p:cNvSpPr txBox="1"/>
          <p:nvPr/>
        </p:nvSpPr>
        <p:spPr>
          <a:xfrm>
            <a:off x="6115050" y="2076450"/>
            <a:ext cx="1733550" cy="18097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33300"/>
              </a:lnSpc>
            </a:pPr>
            <a:r>
              <a:rPr lang="zh-CN" sz="1125" b="0">
                <a:solidFill>
                  <a:srgbClr val="6B6B66"/>
                </a:solidFill>
                <a:latin typeface="Microsoft YaHei"/>
                <a:ea typeface="Microsoft YaHei"/>
                <a:cs typeface="Microsoft YaHei"/>
              </a:rPr>
              <a:t>生成 200 到 400 字最小必要说明，显著标注「AI 补充」；符号验证通过即升「已验证」。</a:t>
            </a:r>
            <a:r>
              <a:rPr lang="zh-CN" sz="1125" b="0">
                <a:solidFill>
                  <a:srgbClr val="6B6B66"/>
                </a:solidFill>
                <a:latin typeface="Microsoft YaHei"/>
                <a:ea typeface="Microsoft YaHei"/>
                <a:cs typeface="Microsoft YaHei"/>
              </a:rPr>
              <a:t></a:t>
            </a:r>
            <a:endParaRPr lang="zh-CN" sz="1125" b="0">
              <a:solidFill>
                <a:srgbClr val="6B6B66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28" name="Oval 22"/>
          <p:cNvSpPr/>
          <p:nvPr/>
        </p:nvSpPr>
        <p:spPr>
          <a:xfrm>
            <a:off x="8629650" y="1333500"/>
            <a:ext cx="342900" cy="3429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F6E5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29" name="TextBox 23"/>
          <p:cNvSpPr txBox="1"/>
          <p:nvPr/>
        </p:nvSpPr>
        <p:spPr>
          <a:xfrm>
            <a:off x="8629650" y="1333500"/>
            <a:ext cx="3429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83300"/>
              </a:lnSpc>
            </a:pPr>
            <a:r>
              <a:rPr sz="1125" b="1">
                <a:solidFill>
                  <a:srgbClr val="0F6E56"/>
                </a:solidFill>
                <a:latin typeface="Consolas"/>
                <a:ea typeface="Consolas"/>
                <a:cs typeface="Consolas"/>
              </a:rPr>
              <a:t>5</a:t>
            </a:r>
            <a:endParaRPr/>
          </a:p>
        </p:txBody>
      </p:sp>
      <p:sp>
        <p:nvSpPr>
          <p:cNvPr id="330" name="TextBox 24"/>
          <p:cNvSpPr txBox="1"/>
          <p:nvPr/>
        </p:nvSpPr>
        <p:spPr>
          <a:xfrm>
            <a:off x="7934325" y="1790700"/>
            <a:ext cx="1733550" cy="2476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8300"/>
              </a:lnSpc>
            </a:pPr>
            <a:r>
              <a:rPr sz="1275" b="1">
                <a:solidFill>
                  <a:srgbClr val="1F1F1D"/>
                </a:solidFill>
                <a:latin typeface="Microsoft YaHei"/>
                <a:ea typeface="Microsoft YaHei"/>
                <a:cs typeface="Microsoft YaHei"/>
              </a:rPr>
              <a:t>再问一次</a:t>
            </a:r>
            <a:endParaRPr/>
          </a:p>
        </p:txBody>
      </p:sp>
      <p:sp>
        <p:nvSpPr>
          <p:cNvPr id="331" name="TextBox 25"/>
          <p:cNvSpPr txBox="1"/>
          <p:nvPr/>
        </p:nvSpPr>
        <p:spPr>
          <a:xfrm>
            <a:off x="7934325" y="2076450"/>
            <a:ext cx="1733550" cy="18097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33300"/>
              </a:lnSpc>
            </a:pPr>
            <a:r>
              <a:rPr sz="1125" b="0">
                <a:solidFill>
                  <a:srgbClr val="6B6B66"/>
                </a:solidFill>
                <a:latin typeface="Microsoft YaHei"/>
                <a:ea typeface="Microsoft YaHei"/>
                <a:cs typeface="Microsoft YaHei"/>
              </a:rPr>
              <a:t>回答标注「基于你的材料」，每个块带来源类别与验证状态。</a:t>
            </a:r>
            <a:endParaRPr/>
          </a:p>
        </p:txBody>
      </p:sp>
      <p:sp>
        <p:nvSpPr>
          <p:cNvPr id="332" name="Oval 26"/>
          <p:cNvSpPr/>
          <p:nvPr/>
        </p:nvSpPr>
        <p:spPr>
          <a:xfrm>
            <a:off x="10448925" y="1333500"/>
            <a:ext cx="342900" cy="3429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F6E5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33" name="TextBox 27"/>
          <p:cNvSpPr txBox="1"/>
          <p:nvPr/>
        </p:nvSpPr>
        <p:spPr>
          <a:xfrm>
            <a:off x="10448925" y="1333500"/>
            <a:ext cx="3429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83300"/>
              </a:lnSpc>
            </a:pPr>
            <a:r>
              <a:rPr sz="1125" b="1">
                <a:solidFill>
                  <a:srgbClr val="0F6E56"/>
                </a:solidFill>
                <a:latin typeface="Consolas"/>
                <a:ea typeface="Consolas"/>
                <a:cs typeface="Consolas"/>
              </a:rPr>
              <a:t>6</a:t>
            </a:r>
            <a:endParaRPr/>
          </a:p>
        </p:txBody>
      </p:sp>
      <p:sp>
        <p:nvSpPr>
          <p:cNvPr id="334" name="TextBox 28"/>
          <p:cNvSpPr txBox="1"/>
          <p:nvPr/>
        </p:nvSpPr>
        <p:spPr>
          <a:xfrm>
            <a:off x="9753600" y="1790700"/>
            <a:ext cx="1733550" cy="2476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8300"/>
              </a:lnSpc>
            </a:pPr>
            <a:r>
              <a:rPr sz="1275" b="1">
                <a:solidFill>
                  <a:srgbClr val="1F1F1D"/>
                </a:solidFill>
                <a:latin typeface="Microsoft YaHei"/>
                <a:ea typeface="Microsoft YaHei"/>
                <a:cs typeface="Microsoft YaHei"/>
              </a:rPr>
              <a:t>练习与画像</a:t>
            </a:r>
            <a:endParaRPr/>
          </a:p>
        </p:txBody>
      </p:sp>
      <p:sp>
        <p:nvSpPr>
          <p:cNvPr id="335" name="TextBox 29"/>
          <p:cNvSpPr txBox="1"/>
          <p:nvPr/>
        </p:nvSpPr>
        <p:spPr>
          <a:xfrm>
            <a:off x="9753600" y="2076450"/>
            <a:ext cx="1733550" cy="18097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33300"/>
              </a:lnSpc>
            </a:pPr>
            <a:r>
              <a:rPr lang="zh-CN" sz="1125" b="0">
                <a:solidFill>
                  <a:srgbClr val="6B6B66"/>
                </a:solidFill>
                <a:latin typeface="Microsoft YaHei"/>
                <a:ea typeface="Microsoft YaHei"/>
                <a:cs typeface="Microsoft YaHei"/>
              </a:rPr>
              <a:t>固定题与按材料生成题分开；提交前不显示答案；错题给出可核对的归因。</a:t>
            </a:r>
            <a:r>
              <a:rPr lang="zh-CN" sz="1125" b="0">
                <a:solidFill>
                  <a:srgbClr val="6B6B66"/>
                </a:solidFill>
                <a:latin typeface="Microsoft YaHei"/>
                <a:ea typeface="Microsoft YaHei"/>
                <a:cs typeface="Microsoft YaHei"/>
              </a:rPr>
              <a:t></a:t>
            </a:r>
            <a:endParaRPr lang="zh-CN" sz="1125" b="0">
              <a:solidFill>
                <a:srgbClr val="6B6B66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36" name="Rounded Rectangle 30"/>
          <p:cNvSpPr/>
          <p:nvPr/>
        </p:nvSpPr>
        <p:spPr>
          <a:xfrm>
            <a:off x="609600" y="4210050"/>
            <a:ext cx="3552825" cy="2076450"/>
          </a:xfrm>
          <a:prstGeom prst="roundRect">
            <a:avLst>
              <a:gd name="adj" fmla="val 5504"/>
            </a:avLst>
          </a:prstGeom>
          <a:solidFill>
            <a:srgbClr val="FFFFFF"/>
          </a:solidFill>
          <a:ln w="19050">
            <a:solidFill>
              <a:srgbClr val="E2E1DC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37" name="TextBox 31"/>
          <p:cNvSpPr txBox="1"/>
          <p:nvPr/>
        </p:nvSpPr>
        <p:spPr>
          <a:xfrm>
            <a:off x="800100" y="4381500"/>
            <a:ext cx="3171825" cy="2667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300"/>
              </a:lnSpc>
            </a:pPr>
            <a:r>
              <a:rPr sz="1425" b="1">
                <a:solidFill>
                  <a:srgbClr val="1F1F1D"/>
                </a:solidFill>
                <a:latin typeface="Microsoft YaHei"/>
                <a:ea typeface="Microsoft YaHei"/>
                <a:cs typeface="Microsoft YaHei"/>
              </a:rPr>
              <a:t>状态真的迁移了</a:t>
            </a:r>
            <a:endParaRPr/>
          </a:p>
        </p:txBody>
      </p:sp>
      <p:sp>
        <p:nvSpPr>
          <p:cNvPr id="338" name="TextBox 32"/>
          <p:cNvSpPr txBox="1"/>
          <p:nvPr/>
        </p:nvSpPr>
        <p:spPr>
          <a:xfrm>
            <a:off x="800100" y="4705350"/>
            <a:ext cx="3171825" cy="11620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800"/>
              </a:lnSpc>
            </a:pPr>
            <a:r>
              <a:rPr sz="1200" b="0">
                <a:solidFill>
                  <a:srgbClr val="6B6B66"/>
                </a:solidFill>
                <a:latin typeface="Microsoft YaHei"/>
                <a:ea typeface="Microsoft YaHei"/>
                <a:cs typeface="Microsoft YaHei"/>
              </a:rPr>
              <a:t>依赖从「材料未覆盖」走到「已由 AI 补充」；只有符号验证通过才允许升到「已验证」，任一断言不过则落到「有争议」，算不出来则停在「未验证」不再前进。</a:t>
            </a:r>
            <a:endParaRPr/>
          </a:p>
        </p:txBody>
      </p:sp>
      <p:sp>
        <p:nvSpPr>
          <p:cNvPr id="339" name="Freeform 33"/>
          <p:cNvSpPr/>
          <p:nvPr/>
        </p:nvSpPr>
        <p:spPr>
          <a:xfrm>
            <a:off x="800100" y="5886450"/>
            <a:ext cx="3171825" cy="7620"/>
          </a:xfrm>
          <a:custGeom>
            <a:avLst/>
            <a:gdLst/>
            <a:ahLst/>
            <a:cxnLst/>
            <a:rect l="l" t="t" r="r" b="b"/>
            <a:pathLst>
              <a:path w="3171825" h="7620">
                <a:moveTo>
                  <a:pt x="0" y="0"/>
                </a:moveTo>
                <a:lnTo>
                  <a:pt x="3171825" y="7620"/>
                </a:lnTo>
              </a:path>
            </a:pathLst>
          </a:custGeom>
          <a:noFill/>
          <a:ln w="12700">
            <a:solidFill>
              <a:srgbClr val="E2E1D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0" name="TextBox 34"/>
          <p:cNvSpPr txBox="1"/>
          <p:nvPr/>
        </p:nvSpPr>
        <p:spPr>
          <a:xfrm>
            <a:off x="800100" y="5962650"/>
            <a:ext cx="3171825" cy="2476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300"/>
              </a:lnSpc>
            </a:pPr>
            <a:r>
              <a:rPr sz="975" b="0">
                <a:solidFill>
                  <a:srgbClr val="0F6E56"/>
                </a:solidFill>
                <a:latin typeface="Consolas"/>
                <a:ea typeface="Consolas"/>
                <a:cs typeface="Consolas"/>
              </a:rPr>
              <a:t>MISSING → SUPPLEMENTED → VERIFIED</a:t>
            </a:r>
            <a:endParaRPr/>
          </a:p>
        </p:txBody>
      </p:sp>
      <p:sp>
        <p:nvSpPr>
          <p:cNvPr id="341" name="Rounded Rectangle 35"/>
          <p:cNvSpPr/>
          <p:nvPr/>
        </p:nvSpPr>
        <p:spPr>
          <a:xfrm>
            <a:off x="4314825" y="4210050"/>
            <a:ext cx="3552825" cy="2076450"/>
          </a:xfrm>
          <a:prstGeom prst="roundRect">
            <a:avLst>
              <a:gd name="adj" fmla="val 5504"/>
            </a:avLst>
          </a:prstGeom>
          <a:solidFill>
            <a:srgbClr val="FFFFFF"/>
          </a:solidFill>
          <a:ln w="19050">
            <a:solidFill>
              <a:srgbClr val="E2E1DC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42" name="TextBox 36"/>
          <p:cNvSpPr txBox="1"/>
          <p:nvPr/>
        </p:nvSpPr>
        <p:spPr>
          <a:xfrm>
            <a:off x="4505325" y="4381500"/>
            <a:ext cx="3171825" cy="2667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300"/>
              </a:lnSpc>
            </a:pPr>
            <a:r>
              <a:rPr sz="1425" b="1">
                <a:solidFill>
                  <a:srgbClr val="1F1F1D"/>
                </a:solidFill>
                <a:latin typeface="Microsoft YaHei"/>
                <a:ea typeface="Microsoft YaHei"/>
                <a:cs typeface="Microsoft YaHei"/>
              </a:rPr>
              <a:t>来源真的分得清</a:t>
            </a:r>
            <a:endParaRPr/>
          </a:p>
        </p:txBody>
      </p:sp>
      <p:sp>
        <p:nvSpPr>
          <p:cNvPr id="343" name="TextBox 37"/>
          <p:cNvSpPr txBox="1"/>
          <p:nvPr/>
        </p:nvSpPr>
        <p:spPr>
          <a:xfrm>
            <a:off x="4505325" y="4705350"/>
            <a:ext cx="3171825" cy="11620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800"/>
              </a:lnSpc>
            </a:pPr>
            <a:r>
              <a:rPr sz="1200" b="0">
                <a:solidFill>
                  <a:srgbClr val="6B6B66"/>
                </a:solidFill>
                <a:latin typeface="Microsoft YaHei"/>
                <a:ea typeface="Microsoft YaHei"/>
                <a:cs typeface="Microsoft YaHei"/>
              </a:rPr>
              <a:t>每个回答块必须归入三类来源之一。引用了不存在的来源、没有授权的补充块，或者摘录在来源里根本找不到，这一块会被拒绝并返回可重试错误，而不是照原样展示。</a:t>
            </a:r>
            <a:endParaRPr/>
          </a:p>
        </p:txBody>
      </p:sp>
      <p:sp>
        <p:nvSpPr>
          <p:cNvPr id="344" name="Freeform 38"/>
          <p:cNvSpPr/>
          <p:nvPr/>
        </p:nvSpPr>
        <p:spPr>
          <a:xfrm>
            <a:off x="4505325" y="5886450"/>
            <a:ext cx="3171825" cy="7620"/>
          </a:xfrm>
          <a:custGeom>
            <a:avLst/>
            <a:gdLst/>
            <a:ahLst/>
            <a:cxnLst/>
            <a:rect l="l" t="t" r="r" b="b"/>
            <a:pathLst>
              <a:path w="3171825" h="7620">
                <a:moveTo>
                  <a:pt x="0" y="0"/>
                </a:moveTo>
                <a:lnTo>
                  <a:pt x="3171825" y="7620"/>
                </a:lnTo>
              </a:path>
            </a:pathLst>
          </a:custGeom>
          <a:noFill/>
          <a:ln w="12700">
            <a:solidFill>
              <a:srgbClr val="E2E1D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5" name="TextBox 39"/>
          <p:cNvSpPr txBox="1"/>
          <p:nvPr/>
        </p:nvSpPr>
        <p:spPr>
          <a:xfrm>
            <a:off x="4505325" y="5962650"/>
            <a:ext cx="3171825" cy="2476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300"/>
              </a:lnSpc>
            </a:pPr>
            <a:r>
              <a:rPr sz="975" b="0">
                <a:solidFill>
                  <a:srgbClr val="0F6E56"/>
                </a:solidFill>
                <a:latin typeface="Consolas"/>
                <a:ea typeface="Consolas"/>
                <a:cs typeface="Consolas"/>
              </a:rPr>
              <a:t>material / derived / ai-supplement</a:t>
            </a:r>
            <a:endParaRPr/>
          </a:p>
        </p:txBody>
      </p:sp>
      <p:sp>
        <p:nvSpPr>
          <p:cNvPr id="346" name="Rounded Rectangle 40"/>
          <p:cNvSpPr/>
          <p:nvPr/>
        </p:nvSpPr>
        <p:spPr>
          <a:xfrm>
            <a:off x="8020050" y="4210050"/>
            <a:ext cx="3552825" cy="2076450"/>
          </a:xfrm>
          <a:prstGeom prst="roundRect">
            <a:avLst>
              <a:gd name="adj" fmla="val 5504"/>
            </a:avLst>
          </a:prstGeom>
          <a:solidFill>
            <a:srgbClr val="FFFFFF"/>
          </a:solidFill>
          <a:ln w="19050">
            <a:solidFill>
              <a:srgbClr val="E2E1DC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47" name="TextBox 41"/>
          <p:cNvSpPr txBox="1"/>
          <p:nvPr/>
        </p:nvSpPr>
        <p:spPr>
          <a:xfrm>
            <a:off x="8210550" y="4381500"/>
            <a:ext cx="3171825" cy="2667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300"/>
              </a:lnSpc>
            </a:pPr>
            <a:r>
              <a:rPr sz="1425" b="1">
                <a:solidFill>
                  <a:srgbClr val="1F1F1D"/>
                </a:solidFill>
                <a:latin typeface="Microsoft YaHei"/>
                <a:ea typeface="Microsoft YaHei"/>
                <a:cs typeface="Microsoft YaHei"/>
              </a:rPr>
              <a:t>图谱不跟着乱</a:t>
            </a:r>
            <a:endParaRPr/>
          </a:p>
        </p:txBody>
      </p:sp>
      <p:sp>
        <p:nvSpPr>
          <p:cNvPr id="348" name="TextBox 42"/>
          <p:cNvSpPr txBox="1"/>
          <p:nvPr/>
        </p:nvSpPr>
        <p:spPr>
          <a:xfrm>
            <a:off x="8210550" y="4705350"/>
            <a:ext cx="3171825" cy="11620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800"/>
              </a:lnSpc>
            </a:pPr>
            <a:r>
              <a:rPr sz="1200" b="0">
                <a:solidFill>
                  <a:srgbClr val="6B6B66"/>
                </a:solidFill>
                <a:latin typeface="Microsoft YaHei"/>
                <a:ea typeface="Microsoft YaHei"/>
                <a:cs typeface="Microsoft YaHei"/>
              </a:rPr>
              <a:t>材料与图谱共用同一个版本号做同一次提交；图谱为空时不会清空旧图谱，模型没返回关系边时只会画节点、绝不凭前置关系反推连线，也不会凭空补一条边。</a:t>
            </a:r>
            <a:endParaRPr/>
          </a:p>
        </p:txBody>
      </p:sp>
      <p:sp>
        <p:nvSpPr>
          <p:cNvPr id="349" name="Freeform 43"/>
          <p:cNvSpPr/>
          <p:nvPr/>
        </p:nvSpPr>
        <p:spPr>
          <a:xfrm>
            <a:off x="8210550" y="5886450"/>
            <a:ext cx="3171825" cy="7620"/>
          </a:xfrm>
          <a:custGeom>
            <a:avLst/>
            <a:gdLst/>
            <a:ahLst/>
            <a:cxnLst/>
            <a:rect l="l" t="t" r="r" b="b"/>
            <a:pathLst>
              <a:path w="3171825" h="7620">
                <a:moveTo>
                  <a:pt x="0" y="0"/>
                </a:moveTo>
                <a:lnTo>
                  <a:pt x="3171825" y="7620"/>
                </a:lnTo>
              </a:path>
            </a:pathLst>
          </a:custGeom>
          <a:noFill/>
          <a:ln w="12700">
            <a:solidFill>
              <a:srgbClr val="E2E1D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0" name="TextBox 44"/>
          <p:cNvSpPr txBox="1"/>
          <p:nvPr/>
        </p:nvSpPr>
        <p:spPr>
          <a:xfrm>
            <a:off x="8210550" y="5962650"/>
            <a:ext cx="3171825" cy="2476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300"/>
              </a:lnSpc>
            </a:pPr>
            <a:r>
              <a:rPr sz="975" b="0">
                <a:solidFill>
                  <a:srgbClr val="0F6E56"/>
                </a:solidFill>
                <a:latin typeface="Consolas"/>
                <a:ea typeface="Consolas"/>
                <a:cs typeface="Consolas"/>
              </a:rPr>
              <a:t>原子提交 · 空保护 · 不猜边</a:t>
            </a:r>
            <a:endParaRPr/>
          </a:p>
        </p:txBody>
      </p:sp>
      <p:sp>
        <p:nvSpPr>
          <p:cNvPr id="351" name="Rectangle 45"/>
          <p:cNvSpPr/>
          <p:nvPr/>
        </p:nvSpPr>
        <p:spPr>
          <a:xfrm>
            <a:off x="609600" y="6419850"/>
            <a:ext cx="38100" cy="171450"/>
          </a:xfrm>
          <a:prstGeom prst="rect">
            <a:avLst/>
          </a:prstGeom>
          <a:solidFill>
            <a:srgbClr val="0F6E5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52" name="TextBox 46"/>
          <p:cNvSpPr txBox="1"/>
          <p:nvPr/>
        </p:nvSpPr>
        <p:spPr>
          <a:xfrm>
            <a:off x="742950" y="6362700"/>
            <a:ext cx="7239000" cy="2476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B6B66"/>
                </a:solidFill>
                <a:latin typeface="Microsoft YaHei"/>
                <a:ea typeface="Microsoft YaHei"/>
                <a:cs typeface="Microsoft YaHei"/>
              </a:rPr>
              <a:t>微积分学伴 · 大湾区 AI Coding 创新大赛</a:t>
            </a:r>
            <a:endParaRPr/>
          </a:p>
        </p:txBody>
      </p:sp>
      <p:sp>
        <p:nvSpPr>
          <p:cNvPr id="353" name="TextBox 47"/>
          <p:cNvSpPr txBox="1"/>
          <p:nvPr/>
        </p:nvSpPr>
        <p:spPr>
          <a:xfrm>
            <a:off x="9620250" y="6362700"/>
            <a:ext cx="1962150" cy="2476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050" b="0">
                <a:solidFill>
                  <a:srgbClr val="6B6B66"/>
                </a:solidFill>
                <a:latin typeface="Consolas"/>
                <a:ea typeface="Consolas"/>
                <a:cs typeface="Consolas"/>
              </a:rPr>
              <a:t>05 / 14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35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56" name="TextBox 2"/>
          <p:cNvSpPr txBox="1"/>
          <p:nvPr/>
        </p:nvSpPr>
        <p:spPr>
          <a:xfrm>
            <a:off x="609600" y="171450"/>
            <a:ext cx="8953500" cy="5143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300"/>
              </a:lnSpc>
            </a:pPr>
            <a:r>
              <a:rPr sz="2700" b="1">
                <a:solidFill>
                  <a:srgbClr val="1F1F1D"/>
                </a:solidFill>
                <a:latin typeface="Microsoft YaHei"/>
                <a:ea typeface="Microsoft YaHei"/>
                <a:cs typeface="Microsoft YaHei"/>
              </a:rPr>
              <a:t>特色一 · 缺口即补</a:t>
            </a:r>
            <a:endParaRPr/>
          </a:p>
        </p:txBody>
      </p:sp>
      <p:sp>
        <p:nvSpPr>
          <p:cNvPr id="357" name="Rounded Rectangle 3"/>
          <p:cNvSpPr/>
          <p:nvPr/>
        </p:nvSpPr>
        <p:spPr>
          <a:xfrm>
            <a:off x="10801350" y="266700"/>
            <a:ext cx="781050" cy="285750"/>
          </a:xfrm>
          <a:prstGeom prst="roundRect">
            <a:avLst>
              <a:gd name="adj" fmla="val 20000"/>
            </a:avLst>
          </a:prstGeom>
          <a:solidFill>
            <a:srgbClr val="E1F5EE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58" name="TextBox 4"/>
          <p:cNvSpPr txBox="1"/>
          <p:nvPr/>
        </p:nvSpPr>
        <p:spPr>
          <a:xfrm>
            <a:off x="10801350" y="266700"/>
            <a:ext cx="781050" cy="28575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83300"/>
              </a:lnSpc>
            </a:pPr>
            <a:r>
              <a:rPr sz="1050" b="0">
                <a:solidFill>
                  <a:srgbClr val="0B5A46"/>
                </a:solidFill>
                <a:latin typeface="Microsoft YaHei"/>
                <a:ea typeface="Microsoft YaHei"/>
                <a:cs typeface="Microsoft YaHei"/>
              </a:rPr>
              <a:t>依赖六态</a:t>
            </a:r>
            <a:endParaRPr/>
          </a:p>
        </p:txBody>
      </p:sp>
      <p:sp>
        <p:nvSpPr>
          <p:cNvPr id="359" name="TextBox 5"/>
          <p:cNvSpPr txBox="1"/>
          <p:nvPr/>
        </p:nvSpPr>
        <p:spPr>
          <a:xfrm>
            <a:off x="609600" y="704850"/>
            <a:ext cx="9906000" cy="2857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500"/>
              </a:lnSpc>
            </a:pPr>
            <a:r>
              <a:rPr sz="1350" b="0">
                <a:solidFill>
                  <a:srgbClr val="6B6B66"/>
                </a:solidFill>
                <a:latin typeface="Microsoft YaHei"/>
                <a:ea typeface="Microsoft YaHei"/>
                <a:cs typeface="Microsoft YaHei"/>
              </a:rPr>
              <a:t>每一态都有进入条件，三条硬规则由回归断言锁死 —— 状态不能靠自我申报改变</a:t>
            </a:r>
            <a:endParaRPr/>
          </a:p>
        </p:txBody>
      </p:sp>
      <p:sp>
        <p:nvSpPr>
          <p:cNvPr id="360" name="Rectangle 6"/>
          <p:cNvSpPr/>
          <p:nvPr/>
        </p:nvSpPr>
        <p:spPr>
          <a:xfrm>
            <a:off x="609600" y="1143000"/>
            <a:ext cx="10972800" cy="14288"/>
          </a:xfrm>
          <a:prstGeom prst="rect">
            <a:avLst/>
          </a:prstGeom>
          <a:solidFill>
            <a:srgbClr val="E2E1DC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61" name="Rounded Rectangle 7"/>
          <p:cNvSpPr/>
          <p:nvPr/>
        </p:nvSpPr>
        <p:spPr>
          <a:xfrm>
            <a:off x="609600" y="1333500"/>
            <a:ext cx="7010400" cy="742950"/>
          </a:xfrm>
          <a:prstGeom prst="roundRect">
            <a:avLst>
              <a:gd name="adj" fmla="val 12820"/>
            </a:avLst>
          </a:prstGeom>
          <a:solidFill>
            <a:srgbClr val="E1F5EE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62" name="Rounded Rectangle 8"/>
          <p:cNvSpPr/>
          <p:nvPr/>
        </p:nvSpPr>
        <p:spPr>
          <a:xfrm>
            <a:off x="781050" y="1533525"/>
            <a:ext cx="1257300" cy="342900"/>
          </a:xfrm>
          <a:prstGeom prst="roundRect">
            <a:avLst>
              <a:gd name="adj" fmla="val 16666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63" name="TextBox 9"/>
          <p:cNvSpPr txBox="1"/>
          <p:nvPr/>
        </p:nvSpPr>
        <p:spPr>
          <a:xfrm>
            <a:off x="781050" y="1533525"/>
            <a:ext cx="12573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91700"/>
              </a:lnSpc>
            </a:pPr>
            <a:r>
              <a:rPr sz="975" b="1">
                <a:solidFill>
                  <a:srgbClr val="0F6E56"/>
                </a:solidFill>
                <a:latin typeface="Consolas"/>
                <a:ea typeface="Consolas"/>
                <a:cs typeface="Consolas"/>
              </a:rPr>
              <a:t>LOCAL</a:t>
            </a:r>
            <a:endParaRPr/>
          </a:p>
        </p:txBody>
      </p:sp>
      <p:sp>
        <p:nvSpPr>
          <p:cNvPr id="364" name="TextBox 10"/>
          <p:cNvSpPr txBox="1"/>
          <p:nvPr/>
        </p:nvSpPr>
        <p:spPr>
          <a:xfrm>
            <a:off x="2171700" y="1466850"/>
            <a:ext cx="5238750" cy="2476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300"/>
              </a:lnSpc>
            </a:pPr>
            <a:r>
              <a:rPr sz="1350" b="1">
                <a:solidFill>
                  <a:srgbClr val="1F1F1D"/>
                </a:solidFill>
                <a:latin typeface="Microsoft YaHei"/>
                <a:ea typeface="Microsoft YaHei"/>
                <a:cs typeface="Microsoft YaHei"/>
              </a:rPr>
              <a:t>材料已覆盖</a:t>
            </a:r>
            <a:endParaRPr/>
          </a:p>
        </p:txBody>
      </p:sp>
      <p:sp>
        <p:nvSpPr>
          <p:cNvPr id="365" name="TextBox 11"/>
          <p:cNvSpPr txBox="1"/>
          <p:nvPr/>
        </p:nvSpPr>
        <p:spPr>
          <a:xfrm>
            <a:off x="2171700" y="1733550"/>
            <a:ext cx="5238750" cy="2667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6B6B66"/>
                </a:solidFill>
                <a:latin typeface="Microsoft YaHei"/>
                <a:ea typeface="Microsoft YaHei"/>
                <a:cs typeface="Microsoft YaHei"/>
              </a:rPr>
              <a:t>材料中有足以支持当前学习目的的说明，能定位来源。</a:t>
            </a:r>
            <a:endParaRPr/>
          </a:p>
        </p:txBody>
      </p:sp>
      <p:sp>
        <p:nvSpPr>
          <p:cNvPr id="366" name="Rounded Rectangle 12"/>
          <p:cNvSpPr/>
          <p:nvPr/>
        </p:nvSpPr>
        <p:spPr>
          <a:xfrm>
            <a:off x="609600" y="2171700"/>
            <a:ext cx="7010400" cy="742950"/>
          </a:xfrm>
          <a:prstGeom prst="roundRect">
            <a:avLst>
              <a:gd name="adj" fmla="val 12820"/>
            </a:avLst>
          </a:prstGeom>
          <a:solidFill>
            <a:srgbClr val="FFFFFF"/>
          </a:solidFill>
          <a:ln w="19050">
            <a:solidFill>
              <a:srgbClr val="0F6E5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67" name="Rounded Rectangle 13"/>
          <p:cNvSpPr/>
          <p:nvPr/>
        </p:nvSpPr>
        <p:spPr>
          <a:xfrm>
            <a:off x="781050" y="2371725"/>
            <a:ext cx="1257300" cy="342900"/>
          </a:xfrm>
          <a:prstGeom prst="roundRect">
            <a:avLst>
              <a:gd name="adj" fmla="val 16666"/>
            </a:avLst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68" name="TextBox 14"/>
          <p:cNvSpPr txBox="1"/>
          <p:nvPr/>
        </p:nvSpPr>
        <p:spPr>
          <a:xfrm>
            <a:off x="781050" y="2371725"/>
            <a:ext cx="12573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91700"/>
              </a:lnSpc>
            </a:pPr>
            <a:r>
              <a:rPr sz="975" b="1">
                <a:solidFill>
                  <a:srgbClr val="0B5A46"/>
                </a:solidFill>
                <a:latin typeface="Consolas"/>
                <a:ea typeface="Consolas"/>
                <a:cs typeface="Consolas"/>
              </a:rPr>
              <a:t>SUPPLEMENTED</a:t>
            </a:r>
            <a:endParaRPr/>
          </a:p>
        </p:txBody>
      </p:sp>
      <p:sp>
        <p:nvSpPr>
          <p:cNvPr id="369" name="TextBox 15"/>
          <p:cNvSpPr txBox="1"/>
          <p:nvPr/>
        </p:nvSpPr>
        <p:spPr>
          <a:xfrm>
            <a:off x="2171700" y="2305050"/>
            <a:ext cx="5238750" cy="2476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300"/>
              </a:lnSpc>
            </a:pPr>
            <a:r>
              <a:rPr sz="1350" b="1">
                <a:solidFill>
                  <a:srgbClr val="1F1F1D"/>
                </a:solidFill>
                <a:latin typeface="Microsoft YaHei"/>
                <a:ea typeface="Microsoft YaHei"/>
                <a:cs typeface="Microsoft YaHei"/>
              </a:rPr>
              <a:t>已由 AI 补充</a:t>
            </a:r>
            <a:endParaRPr/>
          </a:p>
        </p:txBody>
      </p:sp>
      <p:sp>
        <p:nvSpPr>
          <p:cNvPr id="370" name="TextBox 16"/>
          <p:cNvSpPr txBox="1"/>
          <p:nvPr/>
        </p:nvSpPr>
        <p:spPr>
          <a:xfrm>
            <a:off x="2171700" y="2571750"/>
            <a:ext cx="5238750" cy="2667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6B6B66"/>
                </a:solidFill>
                <a:latin typeface="Microsoft YaHei"/>
                <a:ea typeface="Microsoft YaHei"/>
                <a:cs typeface="Microsoft YaHei"/>
              </a:rPr>
              <a:t>材料原本缺失，经学生点击授权后由系统补齐。</a:t>
            </a:r>
            <a:endParaRPr/>
          </a:p>
        </p:txBody>
      </p:sp>
      <p:sp>
        <p:nvSpPr>
          <p:cNvPr id="371" name="Rounded Rectangle 17"/>
          <p:cNvSpPr/>
          <p:nvPr/>
        </p:nvSpPr>
        <p:spPr>
          <a:xfrm>
            <a:off x="609600" y="3009900"/>
            <a:ext cx="7010400" cy="742950"/>
          </a:xfrm>
          <a:prstGeom prst="roundRect">
            <a:avLst>
              <a:gd name="adj" fmla="val 12820"/>
            </a:avLst>
          </a:prstGeom>
          <a:solidFill>
            <a:srgbClr val="FDF0D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72" name="Rounded Rectangle 18"/>
          <p:cNvSpPr/>
          <p:nvPr/>
        </p:nvSpPr>
        <p:spPr>
          <a:xfrm>
            <a:off x="781050" y="3209925"/>
            <a:ext cx="1257300" cy="342900"/>
          </a:xfrm>
          <a:prstGeom prst="roundRect">
            <a:avLst>
              <a:gd name="adj" fmla="val 16666"/>
            </a:avLst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73" name="TextBox 19"/>
          <p:cNvSpPr txBox="1"/>
          <p:nvPr/>
        </p:nvSpPr>
        <p:spPr>
          <a:xfrm>
            <a:off x="781050" y="3209925"/>
            <a:ext cx="12573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91700"/>
              </a:lnSpc>
            </a:pPr>
            <a:r>
              <a:rPr sz="975" b="1">
                <a:solidFill>
                  <a:srgbClr val="854F0B"/>
                </a:solidFill>
                <a:latin typeface="Consolas"/>
                <a:ea typeface="Consolas"/>
                <a:cs typeface="Consolas"/>
              </a:rPr>
              <a:t>MISSING</a:t>
            </a:r>
            <a:endParaRPr/>
          </a:p>
        </p:txBody>
      </p:sp>
      <p:sp>
        <p:nvSpPr>
          <p:cNvPr id="374" name="TextBox 20"/>
          <p:cNvSpPr txBox="1"/>
          <p:nvPr/>
        </p:nvSpPr>
        <p:spPr>
          <a:xfrm>
            <a:off x="2171700" y="3143250"/>
            <a:ext cx="5238750" cy="2476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300"/>
              </a:lnSpc>
            </a:pPr>
            <a:r>
              <a:rPr sz="1350" b="1">
                <a:solidFill>
                  <a:srgbClr val="1F1F1D"/>
                </a:solidFill>
                <a:latin typeface="Microsoft YaHei"/>
                <a:ea typeface="Microsoft YaHei"/>
                <a:cs typeface="Microsoft YaHei"/>
              </a:rPr>
              <a:t>材料未覆盖</a:t>
            </a:r>
            <a:endParaRPr/>
          </a:p>
        </p:txBody>
      </p:sp>
      <p:sp>
        <p:nvSpPr>
          <p:cNvPr id="375" name="TextBox 21"/>
          <p:cNvSpPr txBox="1"/>
          <p:nvPr/>
        </p:nvSpPr>
        <p:spPr>
          <a:xfrm>
            <a:off x="2171700" y="3409950"/>
            <a:ext cx="5238750" cy="2667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6B6B66"/>
                </a:solidFill>
                <a:latin typeface="Microsoft YaHei"/>
                <a:ea typeface="Microsoft YaHei"/>
                <a:cs typeface="Microsoft YaHei"/>
              </a:rPr>
              <a:t>当前学习明确需要它，但所有材料里都没有解释。</a:t>
            </a:r>
            <a:endParaRPr/>
          </a:p>
        </p:txBody>
      </p:sp>
      <p:sp>
        <p:nvSpPr>
          <p:cNvPr id="376" name="Rounded Rectangle 22"/>
          <p:cNvSpPr/>
          <p:nvPr/>
        </p:nvSpPr>
        <p:spPr>
          <a:xfrm>
            <a:off x="609600" y="3848100"/>
            <a:ext cx="7010400" cy="742950"/>
          </a:xfrm>
          <a:prstGeom prst="roundRect">
            <a:avLst>
              <a:gd name="adj" fmla="val 12820"/>
            </a:avLst>
          </a:prstGeom>
          <a:solidFill>
            <a:srgbClr val="FFFFFF"/>
          </a:solidFill>
          <a:ln w="19050">
            <a:solidFill>
              <a:srgbClr val="E2E1DC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77" name="Rounded Rectangle 23"/>
          <p:cNvSpPr/>
          <p:nvPr/>
        </p:nvSpPr>
        <p:spPr>
          <a:xfrm>
            <a:off x="781050" y="4048125"/>
            <a:ext cx="1257300" cy="342900"/>
          </a:xfrm>
          <a:prstGeom prst="roundRect">
            <a:avLst>
              <a:gd name="adj" fmla="val 16666"/>
            </a:avLst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78" name="TextBox 24"/>
          <p:cNvSpPr txBox="1"/>
          <p:nvPr/>
        </p:nvSpPr>
        <p:spPr>
          <a:xfrm>
            <a:off x="781050" y="4048125"/>
            <a:ext cx="12573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91700"/>
              </a:lnSpc>
            </a:pPr>
            <a:r>
              <a:rPr sz="975" b="1">
                <a:solidFill>
                  <a:srgbClr val="6B6B66"/>
                </a:solidFill>
                <a:latin typeface="Consolas"/>
                <a:ea typeface="Consolas"/>
                <a:cs typeface="Consolas"/>
              </a:rPr>
              <a:t>PENDING</a:t>
            </a:r>
            <a:endParaRPr/>
          </a:p>
        </p:txBody>
      </p:sp>
      <p:sp>
        <p:nvSpPr>
          <p:cNvPr id="379" name="TextBox 25"/>
          <p:cNvSpPr txBox="1"/>
          <p:nvPr/>
        </p:nvSpPr>
        <p:spPr>
          <a:xfrm>
            <a:off x="2171700" y="3981450"/>
            <a:ext cx="5238750" cy="2476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300"/>
              </a:lnSpc>
            </a:pPr>
            <a:r>
              <a:rPr sz="1350" b="1">
                <a:solidFill>
                  <a:srgbClr val="1F1F1D"/>
                </a:solidFill>
                <a:latin typeface="Microsoft YaHei"/>
                <a:ea typeface="Microsoft YaHei"/>
                <a:cs typeface="Microsoft YaHei"/>
              </a:rPr>
              <a:t>待确认</a:t>
            </a:r>
            <a:endParaRPr/>
          </a:p>
        </p:txBody>
      </p:sp>
      <p:sp>
        <p:nvSpPr>
          <p:cNvPr id="380" name="TextBox 26"/>
          <p:cNvSpPr txBox="1"/>
          <p:nvPr/>
        </p:nvSpPr>
        <p:spPr>
          <a:xfrm>
            <a:off x="2171700" y="4248150"/>
            <a:ext cx="5238750" cy="2667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6B6B66"/>
                </a:solidFill>
                <a:latin typeface="Microsoft YaHei"/>
                <a:ea typeface="Microsoft YaHei"/>
                <a:cs typeface="Microsoft YaHei"/>
              </a:rPr>
              <a:t>依据不清晰，或公式识别不完整 —— 不确定就不猜。</a:t>
            </a:r>
            <a:endParaRPr/>
          </a:p>
        </p:txBody>
      </p:sp>
      <p:sp>
        <p:nvSpPr>
          <p:cNvPr id="381" name="Rounded Rectangle 27"/>
          <p:cNvSpPr/>
          <p:nvPr/>
        </p:nvSpPr>
        <p:spPr>
          <a:xfrm>
            <a:off x="609600" y="4686300"/>
            <a:ext cx="7010400" cy="742950"/>
          </a:xfrm>
          <a:prstGeom prst="roundRect">
            <a:avLst>
              <a:gd name="adj" fmla="val 12820"/>
            </a:avLst>
          </a:prstGeom>
          <a:solidFill>
            <a:srgbClr val="E1F5EE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82" name="Rounded Rectangle 28"/>
          <p:cNvSpPr/>
          <p:nvPr/>
        </p:nvSpPr>
        <p:spPr>
          <a:xfrm>
            <a:off x="781050" y="4886325"/>
            <a:ext cx="1257300" cy="342900"/>
          </a:xfrm>
          <a:prstGeom prst="roundRect">
            <a:avLst>
              <a:gd name="adj" fmla="val 16666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83" name="TextBox 29"/>
          <p:cNvSpPr txBox="1"/>
          <p:nvPr/>
        </p:nvSpPr>
        <p:spPr>
          <a:xfrm>
            <a:off x="781050" y="4886325"/>
            <a:ext cx="12573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91700"/>
              </a:lnSpc>
            </a:pPr>
            <a:r>
              <a:rPr sz="975" b="1">
                <a:solidFill>
                  <a:srgbClr val="0F6E56"/>
                </a:solidFill>
                <a:latin typeface="Consolas"/>
                <a:ea typeface="Consolas"/>
                <a:cs typeface="Consolas"/>
              </a:rPr>
              <a:t>VERIFIED</a:t>
            </a:r>
            <a:endParaRPr/>
          </a:p>
        </p:txBody>
      </p:sp>
      <p:sp>
        <p:nvSpPr>
          <p:cNvPr id="384" name="TextBox 30"/>
          <p:cNvSpPr txBox="1"/>
          <p:nvPr/>
        </p:nvSpPr>
        <p:spPr>
          <a:xfrm>
            <a:off x="2171700" y="4819650"/>
            <a:ext cx="5238750" cy="2476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300"/>
              </a:lnSpc>
            </a:pPr>
            <a:r>
              <a:rPr sz="1350" b="1">
                <a:solidFill>
                  <a:srgbClr val="1F1F1D"/>
                </a:solidFill>
                <a:latin typeface="Microsoft YaHei"/>
                <a:ea typeface="Microsoft YaHei"/>
                <a:cs typeface="Microsoft YaHei"/>
              </a:rPr>
              <a:t>已验证</a:t>
            </a:r>
            <a:endParaRPr/>
          </a:p>
        </p:txBody>
      </p:sp>
      <p:sp>
        <p:nvSpPr>
          <p:cNvPr id="385" name="TextBox 31"/>
          <p:cNvSpPr txBox="1"/>
          <p:nvPr/>
        </p:nvSpPr>
        <p:spPr>
          <a:xfrm>
            <a:off x="2171700" y="5086350"/>
            <a:ext cx="5238750" cy="2667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6B6B66"/>
                </a:solidFill>
                <a:latin typeface="Microsoft YaHei"/>
                <a:ea typeface="Microsoft YaHei"/>
                <a:cs typeface="Microsoft YaHei"/>
              </a:rPr>
              <a:t>通过符号验证或人工核验，唯一可以放心用的状态。</a:t>
            </a:r>
            <a:endParaRPr/>
          </a:p>
        </p:txBody>
      </p:sp>
      <p:sp>
        <p:nvSpPr>
          <p:cNvPr id="386" name="Rounded Rectangle 32"/>
          <p:cNvSpPr/>
          <p:nvPr/>
        </p:nvSpPr>
        <p:spPr>
          <a:xfrm>
            <a:off x="609600" y="5524500"/>
            <a:ext cx="7010400" cy="742950"/>
          </a:xfrm>
          <a:prstGeom prst="roundRect">
            <a:avLst>
              <a:gd name="adj" fmla="val 12820"/>
            </a:avLst>
          </a:prstGeom>
          <a:solidFill>
            <a:srgbClr val="FDF0D5"/>
          </a:solidFill>
          <a:ln w="25400">
            <a:solidFill>
              <a:srgbClr val="854F0B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87" name="Rounded Rectangle 33"/>
          <p:cNvSpPr/>
          <p:nvPr/>
        </p:nvSpPr>
        <p:spPr>
          <a:xfrm>
            <a:off x="781050" y="5724525"/>
            <a:ext cx="1257300" cy="342900"/>
          </a:xfrm>
          <a:prstGeom prst="roundRect">
            <a:avLst>
              <a:gd name="adj" fmla="val 16666"/>
            </a:avLst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88" name="TextBox 34"/>
          <p:cNvSpPr txBox="1"/>
          <p:nvPr/>
        </p:nvSpPr>
        <p:spPr>
          <a:xfrm>
            <a:off x="781050" y="5724525"/>
            <a:ext cx="12573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91700"/>
              </a:lnSpc>
            </a:pPr>
            <a:r>
              <a:rPr sz="975" b="1">
                <a:solidFill>
                  <a:srgbClr val="854F0B"/>
                </a:solidFill>
                <a:latin typeface="Consolas"/>
                <a:ea typeface="Consolas"/>
                <a:cs typeface="Consolas"/>
              </a:rPr>
              <a:t>DISPUTED</a:t>
            </a:r>
            <a:endParaRPr/>
          </a:p>
        </p:txBody>
      </p:sp>
      <p:sp>
        <p:nvSpPr>
          <p:cNvPr id="389" name="TextBox 35"/>
          <p:cNvSpPr txBox="1"/>
          <p:nvPr/>
        </p:nvSpPr>
        <p:spPr>
          <a:xfrm>
            <a:off x="2171700" y="5657850"/>
            <a:ext cx="5238750" cy="2476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300"/>
              </a:lnSpc>
            </a:pPr>
            <a:r>
              <a:rPr sz="1350" b="1">
                <a:solidFill>
                  <a:srgbClr val="1F1F1D"/>
                </a:solidFill>
                <a:latin typeface="Microsoft YaHei"/>
                <a:ea typeface="Microsoft YaHei"/>
                <a:cs typeface="Microsoft YaHei"/>
              </a:rPr>
              <a:t>有争议</a:t>
            </a:r>
            <a:endParaRPr/>
          </a:p>
        </p:txBody>
      </p:sp>
      <p:sp>
        <p:nvSpPr>
          <p:cNvPr id="390" name="TextBox 36"/>
          <p:cNvSpPr txBox="1"/>
          <p:nvPr/>
        </p:nvSpPr>
        <p:spPr>
          <a:xfrm>
            <a:off x="2171700" y="5924550"/>
            <a:ext cx="5238750" cy="2667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6B6B66"/>
                </a:solidFill>
                <a:latin typeface="Microsoft YaHei"/>
                <a:ea typeface="Microsoft YaHei"/>
                <a:cs typeface="Microsoft YaHei"/>
              </a:rPr>
              <a:t>验证失败或来源冲突，需要人工介入，不悄悄改判。</a:t>
            </a:r>
            <a:endParaRPr/>
          </a:p>
        </p:txBody>
      </p:sp>
      <p:sp>
        <p:nvSpPr>
          <p:cNvPr id="391" name="Rounded Rectangle 37"/>
          <p:cNvSpPr/>
          <p:nvPr/>
        </p:nvSpPr>
        <p:spPr>
          <a:xfrm>
            <a:off x="7810500" y="1333500"/>
            <a:ext cx="3771900" cy="3543300"/>
          </a:xfrm>
          <a:prstGeom prst="roundRect">
            <a:avLst>
              <a:gd name="adj" fmla="val 3225"/>
            </a:avLst>
          </a:prstGeom>
          <a:solidFill>
            <a:srgbClr val="FFFFFF"/>
          </a:solidFill>
          <a:ln w="19050">
            <a:solidFill>
              <a:srgbClr val="E2E1DC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92" name="TextBox 38"/>
          <p:cNvSpPr txBox="1"/>
          <p:nvPr/>
        </p:nvSpPr>
        <p:spPr>
          <a:xfrm>
            <a:off x="8020050" y="1524000"/>
            <a:ext cx="33528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75" b="0">
                <a:solidFill>
                  <a:srgbClr val="0F6E56"/>
                </a:solidFill>
                <a:latin typeface="Microsoft YaHei"/>
                <a:ea typeface="Microsoft YaHei"/>
                <a:cs typeface="Microsoft YaHei"/>
              </a:rPr>
              <a:t>三条硬规则</a:t>
            </a:r>
            <a:endParaRPr/>
          </a:p>
        </p:txBody>
      </p:sp>
      <p:sp>
        <p:nvSpPr>
          <p:cNvPr id="393" name="TextBox 39"/>
          <p:cNvSpPr txBox="1"/>
          <p:nvPr/>
        </p:nvSpPr>
        <p:spPr>
          <a:xfrm>
            <a:off x="8020050" y="1809750"/>
            <a:ext cx="247650" cy="2476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300"/>
              </a:lnSpc>
            </a:pPr>
            <a:r>
              <a:rPr sz="1200" b="1">
                <a:solidFill>
                  <a:srgbClr val="0F6E56"/>
                </a:solidFill>
                <a:latin typeface="Consolas"/>
                <a:ea typeface="Consolas"/>
                <a:cs typeface="Consolas"/>
              </a:rPr>
              <a:t>01</a:t>
            </a:r>
            <a:endParaRPr/>
          </a:p>
        </p:txBody>
      </p:sp>
      <p:sp>
        <p:nvSpPr>
          <p:cNvPr id="394" name="TextBox 40"/>
          <p:cNvSpPr txBox="1"/>
          <p:nvPr/>
        </p:nvSpPr>
        <p:spPr>
          <a:xfrm>
            <a:off x="8324850" y="1809750"/>
            <a:ext cx="3105150" cy="2476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300"/>
              </a:lnSpc>
            </a:pPr>
            <a:r>
              <a:rPr sz="1275" b="1">
                <a:solidFill>
                  <a:srgbClr val="1F1F1D"/>
                </a:solidFill>
                <a:latin typeface="Microsoft YaHei"/>
                <a:ea typeface="Microsoft YaHei"/>
                <a:cs typeface="Microsoft YaHei"/>
              </a:rPr>
              <a:t>已会不改变材料事实</a:t>
            </a:r>
            <a:endParaRPr/>
          </a:p>
        </p:txBody>
      </p:sp>
      <p:sp>
        <p:nvSpPr>
          <p:cNvPr id="395" name="TextBox 41"/>
          <p:cNvSpPr txBox="1"/>
          <p:nvPr/>
        </p:nvSpPr>
        <p:spPr>
          <a:xfrm>
            <a:off x="8324850" y="2076450"/>
            <a:ext cx="3105150" cy="7239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7500"/>
              </a:lnSpc>
            </a:pPr>
            <a:r>
              <a:rPr sz="1200" b="0">
                <a:solidFill>
                  <a:srgbClr val="6B6B66"/>
                </a:solidFill>
                <a:latin typeface="Microsoft YaHei"/>
                <a:ea typeface="Microsoft YaHei"/>
                <a:cs typeface="Microsoft YaHei"/>
              </a:rPr>
              <a:t>学生点「我已掌握」不会把材料未覆盖改判为已覆盖。</a:t>
            </a:r>
            <a:endParaRPr/>
          </a:p>
        </p:txBody>
      </p:sp>
      <p:sp>
        <p:nvSpPr>
          <p:cNvPr id="396" name="TextBox 42"/>
          <p:cNvSpPr txBox="1"/>
          <p:nvPr/>
        </p:nvSpPr>
        <p:spPr>
          <a:xfrm>
            <a:off x="8020050" y="2838450"/>
            <a:ext cx="247650" cy="2476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300"/>
              </a:lnSpc>
            </a:pPr>
            <a:r>
              <a:rPr sz="1200" b="1">
                <a:solidFill>
                  <a:srgbClr val="0F6E56"/>
                </a:solidFill>
                <a:latin typeface="Consolas"/>
                <a:ea typeface="Consolas"/>
                <a:cs typeface="Consolas"/>
              </a:rPr>
              <a:t>02</a:t>
            </a:r>
            <a:endParaRPr/>
          </a:p>
        </p:txBody>
      </p:sp>
      <p:sp>
        <p:nvSpPr>
          <p:cNvPr id="397" name="TextBox 43"/>
          <p:cNvSpPr txBox="1"/>
          <p:nvPr/>
        </p:nvSpPr>
        <p:spPr>
          <a:xfrm>
            <a:off x="8324850" y="2838450"/>
            <a:ext cx="3105150" cy="2476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300"/>
              </a:lnSpc>
            </a:pPr>
            <a:r>
              <a:rPr sz="1275" b="1">
                <a:solidFill>
                  <a:srgbClr val="1F1F1D"/>
                </a:solidFill>
                <a:latin typeface="Microsoft YaHei"/>
                <a:ea typeface="Microsoft YaHei"/>
                <a:cs typeface="Microsoft YaHei"/>
              </a:rPr>
              <a:t>提一下不算解释</a:t>
            </a:r>
            <a:endParaRPr/>
          </a:p>
        </p:txBody>
      </p:sp>
      <p:sp>
        <p:nvSpPr>
          <p:cNvPr id="398" name="TextBox 44"/>
          <p:cNvSpPr txBox="1"/>
          <p:nvPr/>
        </p:nvSpPr>
        <p:spPr>
          <a:xfrm>
            <a:off x="8324850" y="3105150"/>
            <a:ext cx="3105150" cy="7239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7500"/>
              </a:lnSpc>
            </a:pPr>
            <a:r>
              <a:rPr sz="1200" b="0">
                <a:solidFill>
                  <a:srgbClr val="6B6B66"/>
                </a:solidFill>
                <a:latin typeface="Microsoft YaHei"/>
                <a:ea typeface="Microsoft YaHei"/>
                <a:cs typeface="Microsoft YaHei"/>
              </a:rPr>
              <a:t>只有新材料确实提供了说明，才允许从未覆盖升到已覆盖。</a:t>
            </a:r>
            <a:endParaRPr/>
          </a:p>
        </p:txBody>
      </p:sp>
      <p:sp>
        <p:nvSpPr>
          <p:cNvPr id="399" name="TextBox 45"/>
          <p:cNvSpPr txBox="1"/>
          <p:nvPr/>
        </p:nvSpPr>
        <p:spPr>
          <a:xfrm>
            <a:off x="8020050" y="3867150"/>
            <a:ext cx="247650" cy="2476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300"/>
              </a:lnSpc>
            </a:pPr>
            <a:r>
              <a:rPr sz="1200" b="1">
                <a:solidFill>
                  <a:srgbClr val="0F6E56"/>
                </a:solidFill>
                <a:latin typeface="Consolas"/>
                <a:ea typeface="Consolas"/>
                <a:cs typeface="Consolas"/>
              </a:rPr>
              <a:t>03</a:t>
            </a:r>
            <a:endParaRPr/>
          </a:p>
        </p:txBody>
      </p:sp>
      <p:sp>
        <p:nvSpPr>
          <p:cNvPr id="400" name="TextBox 46"/>
          <p:cNvSpPr txBox="1"/>
          <p:nvPr/>
        </p:nvSpPr>
        <p:spPr>
          <a:xfrm>
            <a:off x="8324850" y="3867150"/>
            <a:ext cx="3105150" cy="2476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300"/>
              </a:lnSpc>
            </a:pPr>
            <a:r>
              <a:rPr sz="1275" b="1">
                <a:solidFill>
                  <a:srgbClr val="1F1F1D"/>
                </a:solidFill>
                <a:latin typeface="Microsoft YaHei"/>
                <a:ea typeface="Microsoft YaHei"/>
                <a:cs typeface="Microsoft YaHei"/>
              </a:rPr>
              <a:t>补充不跨会话迁移</a:t>
            </a:r>
            <a:endParaRPr/>
          </a:p>
        </p:txBody>
      </p:sp>
      <p:sp>
        <p:nvSpPr>
          <p:cNvPr id="401" name="TextBox 47"/>
          <p:cNvSpPr txBox="1"/>
          <p:nvPr/>
        </p:nvSpPr>
        <p:spPr>
          <a:xfrm>
            <a:off x="8324850" y="4133850"/>
            <a:ext cx="3105150" cy="7239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7500"/>
              </a:lnSpc>
            </a:pPr>
            <a:r>
              <a:rPr sz="1200" b="0">
                <a:solidFill>
                  <a:srgbClr val="6B6B66"/>
                </a:solidFill>
                <a:latin typeface="Microsoft YaHei"/>
                <a:ea typeface="Microsoft YaHei"/>
                <a:cs typeface="Microsoft YaHei"/>
              </a:rPr>
              <a:t>新会话里同一概念回到未覆盖，不当成长期掌握。</a:t>
            </a:r>
            <a:endParaRPr/>
          </a:p>
        </p:txBody>
      </p:sp>
      <p:sp>
        <p:nvSpPr>
          <p:cNvPr id="402" name="Rounded Rectangle 48"/>
          <p:cNvSpPr/>
          <p:nvPr/>
        </p:nvSpPr>
        <p:spPr>
          <a:xfrm>
            <a:off x="7810500" y="5029200"/>
            <a:ext cx="3771900" cy="1257300"/>
          </a:xfrm>
          <a:prstGeom prst="roundRect">
            <a:avLst>
              <a:gd name="adj" fmla="val 9090"/>
            </a:avLst>
          </a:prstGeom>
          <a:solidFill>
            <a:srgbClr val="E1F5EE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03" name="TextBox 49"/>
          <p:cNvSpPr txBox="1"/>
          <p:nvPr/>
        </p:nvSpPr>
        <p:spPr>
          <a:xfrm>
            <a:off x="8020050" y="5200650"/>
            <a:ext cx="33528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300"/>
              </a:lnSpc>
            </a:pPr>
            <a:r>
              <a:rPr sz="1125" b="1">
                <a:solidFill>
                  <a:srgbClr val="0B5A46"/>
                </a:solidFill>
                <a:latin typeface="Microsoft YaHei"/>
                <a:ea typeface="Microsoft YaHei"/>
                <a:cs typeface="Microsoft YaHei"/>
              </a:rPr>
              <a:t>授权按动作给，没有全局开关</a:t>
            </a:r>
            <a:endParaRPr/>
          </a:p>
        </p:txBody>
      </p:sp>
      <p:sp>
        <p:nvSpPr>
          <p:cNvPr id="404" name="TextBox 50"/>
          <p:cNvSpPr txBox="1"/>
          <p:nvPr/>
        </p:nvSpPr>
        <p:spPr>
          <a:xfrm>
            <a:off x="8020050" y="5448300"/>
            <a:ext cx="3352800" cy="7810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1700"/>
              </a:lnSpc>
            </a:pPr>
            <a:r>
              <a:rPr sz="1200" b="0">
                <a:solidFill>
                  <a:srgbClr val="0B5A46"/>
                </a:solidFill>
                <a:latin typeface="Microsoft YaHei"/>
                <a:ea typeface="Microsoft YaHei"/>
                <a:cs typeface="Microsoft YaHei"/>
              </a:rPr>
              <a:t>点击「补上这一段」即视为授权；没点之前，系统不会主动生成任何 AI 补充内容。生成中切换会话，未完成的补充直接丢弃。</a:t>
            </a:r>
            <a:endParaRPr/>
          </a:p>
        </p:txBody>
      </p:sp>
      <p:sp>
        <p:nvSpPr>
          <p:cNvPr id="405" name="Rectangle 51"/>
          <p:cNvSpPr/>
          <p:nvPr/>
        </p:nvSpPr>
        <p:spPr>
          <a:xfrm>
            <a:off x="609600" y="6419850"/>
            <a:ext cx="38100" cy="171450"/>
          </a:xfrm>
          <a:prstGeom prst="rect">
            <a:avLst/>
          </a:prstGeom>
          <a:solidFill>
            <a:srgbClr val="0F6E5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06" name="TextBox 52"/>
          <p:cNvSpPr txBox="1"/>
          <p:nvPr/>
        </p:nvSpPr>
        <p:spPr>
          <a:xfrm>
            <a:off x="742950" y="6362700"/>
            <a:ext cx="7239000" cy="2476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B6B66"/>
                </a:solidFill>
                <a:latin typeface="Microsoft YaHei"/>
                <a:ea typeface="Microsoft YaHei"/>
                <a:cs typeface="Microsoft YaHei"/>
              </a:rPr>
              <a:t>微积分学伴 · 大湾区 AI Coding 创新大赛</a:t>
            </a:r>
            <a:endParaRPr/>
          </a:p>
        </p:txBody>
      </p:sp>
      <p:sp>
        <p:nvSpPr>
          <p:cNvPr id="407" name="TextBox 53"/>
          <p:cNvSpPr txBox="1"/>
          <p:nvPr/>
        </p:nvSpPr>
        <p:spPr>
          <a:xfrm>
            <a:off x="9620250" y="6362700"/>
            <a:ext cx="1962150" cy="2476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050" b="0">
                <a:solidFill>
                  <a:srgbClr val="6B6B66"/>
                </a:solidFill>
                <a:latin typeface="Consolas"/>
                <a:ea typeface="Consolas"/>
                <a:cs typeface="Consolas"/>
              </a:rPr>
              <a:t>06 / 14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40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10" name="TextBox 2"/>
          <p:cNvSpPr txBox="1"/>
          <p:nvPr/>
        </p:nvSpPr>
        <p:spPr>
          <a:xfrm>
            <a:off x="609600" y="171450"/>
            <a:ext cx="8953500" cy="5143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300"/>
              </a:lnSpc>
            </a:pPr>
            <a:r>
              <a:rPr sz="2700" b="1">
                <a:solidFill>
                  <a:srgbClr val="1F1F1D"/>
                </a:solidFill>
                <a:latin typeface="Microsoft YaHei"/>
                <a:ea typeface="Microsoft YaHei"/>
                <a:cs typeface="Microsoft YaHei"/>
              </a:rPr>
              <a:t>特色二 · 让数学结论可核验</a:t>
            </a:r>
            <a:endParaRPr/>
          </a:p>
        </p:txBody>
      </p:sp>
      <p:sp>
        <p:nvSpPr>
          <p:cNvPr id="411" name="Rounded Rectangle 3"/>
          <p:cNvSpPr/>
          <p:nvPr/>
        </p:nvSpPr>
        <p:spPr>
          <a:xfrm>
            <a:off x="10515600" y="266700"/>
            <a:ext cx="1066800" cy="285750"/>
          </a:xfrm>
          <a:prstGeom prst="roundRect">
            <a:avLst>
              <a:gd name="adj" fmla="val 20000"/>
            </a:avLst>
          </a:prstGeom>
          <a:solidFill>
            <a:srgbClr val="E1F5EE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12" name="TextBox 4"/>
          <p:cNvSpPr txBox="1"/>
          <p:nvPr/>
        </p:nvSpPr>
        <p:spPr>
          <a:xfrm>
            <a:off x="10515600" y="266700"/>
            <a:ext cx="1066800" cy="28575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83300"/>
              </a:lnSpc>
            </a:pPr>
            <a:r>
              <a:rPr sz="1050" b="0">
                <a:solidFill>
                  <a:srgbClr val="0B5A46"/>
                </a:solidFill>
                <a:latin typeface="Microsoft YaHei"/>
                <a:ea typeface="Microsoft YaHei"/>
                <a:cs typeface="Microsoft YaHei"/>
              </a:rPr>
              <a:t>符号验证引擎</a:t>
            </a:r>
            <a:endParaRPr/>
          </a:p>
        </p:txBody>
      </p:sp>
      <p:sp>
        <p:nvSpPr>
          <p:cNvPr id="413" name="TextBox 5"/>
          <p:cNvSpPr txBox="1"/>
          <p:nvPr/>
        </p:nvSpPr>
        <p:spPr>
          <a:xfrm>
            <a:off x="609600" y="704850"/>
            <a:ext cx="9906000" cy="2857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500"/>
              </a:lnSpc>
            </a:pPr>
            <a:r>
              <a:rPr sz="1350" b="0">
                <a:solidFill>
                  <a:srgbClr val="6B6B66"/>
                </a:solidFill>
                <a:latin typeface="Microsoft YaHei"/>
                <a:ea typeface="Microsoft YaHei"/>
                <a:cs typeface="Microsoft YaHei"/>
              </a:rPr>
              <a:t>不允许模型自由发挥数学结论 —— 它只能回结构化断言，由引擎逐条核验</a:t>
            </a:r>
            <a:endParaRPr/>
          </a:p>
        </p:txBody>
      </p:sp>
      <p:sp>
        <p:nvSpPr>
          <p:cNvPr id="414" name="Rectangle 6"/>
          <p:cNvSpPr/>
          <p:nvPr/>
        </p:nvSpPr>
        <p:spPr>
          <a:xfrm>
            <a:off x="609600" y="1143000"/>
            <a:ext cx="10972800" cy="14288"/>
          </a:xfrm>
          <a:prstGeom prst="rect">
            <a:avLst/>
          </a:prstGeom>
          <a:solidFill>
            <a:srgbClr val="E2E1DC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15" name="TextBox 7"/>
          <p:cNvSpPr txBox="1"/>
          <p:nvPr/>
        </p:nvSpPr>
        <p:spPr>
          <a:xfrm>
            <a:off x="609600" y="1562100"/>
            <a:ext cx="4314825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75" b="0">
                <a:solidFill>
                  <a:srgbClr val="0F6E56"/>
                </a:solidFill>
                <a:latin typeface="Microsoft YaHei"/>
                <a:ea typeface="Microsoft YaHei"/>
                <a:cs typeface="Microsoft YaHei"/>
              </a:rPr>
              <a:t>模型被允许回答的断言类别</a:t>
            </a:r>
            <a:endParaRPr/>
          </a:p>
        </p:txBody>
      </p:sp>
      <p:sp>
        <p:nvSpPr>
          <p:cNvPr id="416" name="TextBox 8"/>
          <p:cNvSpPr txBox="1"/>
          <p:nvPr/>
        </p:nvSpPr>
        <p:spPr>
          <a:xfrm>
            <a:off x="609600" y="1771650"/>
            <a:ext cx="1524000" cy="14287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83300"/>
              </a:lnSpc>
            </a:pPr>
            <a:r>
              <a:rPr sz="9000" b="1">
                <a:solidFill>
                  <a:srgbClr val="0F6E56"/>
                </a:solidFill>
                <a:latin typeface="Segoe UI"/>
                <a:ea typeface="Segoe UI"/>
                <a:cs typeface="Segoe UI"/>
              </a:rPr>
              <a:t>4</a:t>
            </a:r>
            <a:endParaRPr/>
          </a:p>
        </p:txBody>
      </p:sp>
      <p:sp>
        <p:nvSpPr>
          <p:cNvPr id="417" name="TextBox 9"/>
          <p:cNvSpPr txBox="1"/>
          <p:nvPr/>
        </p:nvSpPr>
        <p:spPr>
          <a:xfrm>
            <a:off x="2152650" y="2324100"/>
            <a:ext cx="2771775" cy="8572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1F1F1D"/>
                </a:solidFill>
                <a:latin typeface="Microsoft YaHei"/>
                <a:ea typeface="Microsoft YaHei"/>
                <a:cs typeface="Microsoft YaHei"/>
              </a:rPr>
              <a:t>类断言</a:t>
            </a:r>
            <a:endParaRPr/>
          </a:p>
          <a:p>
            <a:pPr algn="l">
              <a:lnSpc>
                <a:spcPct val="125000"/>
              </a:lnSpc>
            </a:pPr>
            <a:r>
              <a:rPr sz="1350" b="0">
                <a:solidFill>
                  <a:srgbClr val="1F1F1D"/>
                </a:solidFill>
                <a:latin typeface="Microsoft YaHei"/>
                <a:ea typeface="Microsoft YaHei"/>
                <a:cs typeface="Microsoft YaHei"/>
              </a:rPr>
              <a:t>其余表述一律不采信</a:t>
            </a:r>
            <a:endParaRPr/>
          </a:p>
        </p:txBody>
      </p:sp>
      <p:sp>
        <p:nvSpPr>
          <p:cNvPr id="418" name="Rounded Rectangle 10"/>
          <p:cNvSpPr/>
          <p:nvPr/>
        </p:nvSpPr>
        <p:spPr>
          <a:xfrm>
            <a:off x="609600" y="3314700"/>
            <a:ext cx="1962150" cy="590550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9050">
            <a:solidFill>
              <a:srgbClr val="0F6E5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19" name="TextBox 11"/>
          <p:cNvSpPr txBox="1"/>
          <p:nvPr/>
        </p:nvSpPr>
        <p:spPr>
          <a:xfrm>
            <a:off x="609600" y="3429000"/>
            <a:ext cx="196215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0B5A46"/>
                </a:solidFill>
                <a:latin typeface="Consolas"/>
                <a:ea typeface="Consolas"/>
                <a:cs typeface="Consolas"/>
              </a:rPr>
              <a:t>derivative</a:t>
            </a:r>
            <a:endParaRPr/>
          </a:p>
        </p:txBody>
      </p:sp>
      <p:sp>
        <p:nvSpPr>
          <p:cNvPr id="420" name="TextBox 12"/>
          <p:cNvSpPr txBox="1"/>
          <p:nvPr/>
        </p:nvSpPr>
        <p:spPr>
          <a:xfrm>
            <a:off x="609600" y="3657600"/>
            <a:ext cx="1962150" cy="2095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125" b="0">
                <a:solidFill>
                  <a:srgbClr val="6B6B66"/>
                </a:solidFill>
                <a:latin typeface="Microsoft YaHei"/>
                <a:ea typeface="Microsoft YaHei"/>
                <a:cs typeface="Microsoft YaHei"/>
              </a:rPr>
              <a:t>某点导数值</a:t>
            </a:r>
            <a:endParaRPr/>
          </a:p>
        </p:txBody>
      </p:sp>
      <p:sp>
        <p:nvSpPr>
          <p:cNvPr id="421" name="Rounded Rectangle 13"/>
          <p:cNvSpPr/>
          <p:nvPr/>
        </p:nvSpPr>
        <p:spPr>
          <a:xfrm>
            <a:off x="2667000" y="3314700"/>
            <a:ext cx="1962150" cy="590550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9050">
            <a:solidFill>
              <a:srgbClr val="0F6E5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22" name="TextBox 14"/>
          <p:cNvSpPr txBox="1"/>
          <p:nvPr/>
        </p:nvSpPr>
        <p:spPr>
          <a:xfrm>
            <a:off x="2667000" y="3429000"/>
            <a:ext cx="196215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0B5A46"/>
                </a:solidFill>
                <a:latin typeface="Consolas"/>
                <a:ea typeface="Consolas"/>
                <a:cs typeface="Consolas"/>
              </a:rPr>
              <a:t>tangent</a:t>
            </a:r>
            <a:endParaRPr/>
          </a:p>
        </p:txBody>
      </p:sp>
      <p:sp>
        <p:nvSpPr>
          <p:cNvPr id="423" name="TextBox 15"/>
          <p:cNvSpPr txBox="1"/>
          <p:nvPr/>
        </p:nvSpPr>
        <p:spPr>
          <a:xfrm>
            <a:off x="2667000" y="3657600"/>
            <a:ext cx="1962150" cy="2095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125" b="0">
                <a:solidFill>
                  <a:srgbClr val="6B6B66"/>
                </a:solidFill>
                <a:latin typeface="Microsoft YaHei"/>
                <a:ea typeface="Microsoft YaHei"/>
                <a:cs typeface="Microsoft YaHei"/>
              </a:rPr>
              <a:t>切线方程</a:t>
            </a:r>
            <a:endParaRPr/>
          </a:p>
        </p:txBody>
      </p:sp>
      <p:sp>
        <p:nvSpPr>
          <p:cNvPr id="424" name="Rounded Rectangle 16"/>
          <p:cNvSpPr/>
          <p:nvPr/>
        </p:nvSpPr>
        <p:spPr>
          <a:xfrm>
            <a:off x="609600" y="4000500"/>
            <a:ext cx="1962150" cy="590550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9050">
            <a:solidFill>
              <a:srgbClr val="0F6E5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25" name="TextBox 17"/>
          <p:cNvSpPr txBox="1"/>
          <p:nvPr/>
        </p:nvSpPr>
        <p:spPr>
          <a:xfrm>
            <a:off x="609600" y="4114800"/>
            <a:ext cx="196215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0B5A46"/>
                </a:solidFill>
                <a:latin typeface="Consolas"/>
                <a:ea typeface="Consolas"/>
                <a:cs typeface="Consolas"/>
              </a:rPr>
              <a:t>monotonic</a:t>
            </a:r>
            <a:endParaRPr/>
          </a:p>
        </p:txBody>
      </p:sp>
      <p:sp>
        <p:nvSpPr>
          <p:cNvPr id="426" name="TextBox 18"/>
          <p:cNvSpPr txBox="1"/>
          <p:nvPr/>
        </p:nvSpPr>
        <p:spPr>
          <a:xfrm>
            <a:off x="609600" y="4343400"/>
            <a:ext cx="1962150" cy="2095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125" b="0">
                <a:solidFill>
                  <a:srgbClr val="6B6B66"/>
                </a:solidFill>
                <a:latin typeface="Microsoft YaHei"/>
                <a:ea typeface="Microsoft YaHei"/>
                <a:cs typeface="Microsoft YaHei"/>
              </a:rPr>
              <a:t>单调区间</a:t>
            </a:r>
            <a:endParaRPr/>
          </a:p>
        </p:txBody>
      </p:sp>
      <p:sp>
        <p:nvSpPr>
          <p:cNvPr id="427" name="Rounded Rectangle 19"/>
          <p:cNvSpPr/>
          <p:nvPr/>
        </p:nvSpPr>
        <p:spPr>
          <a:xfrm>
            <a:off x="2667000" y="4000500"/>
            <a:ext cx="1962150" cy="590550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9050">
            <a:solidFill>
              <a:srgbClr val="0F6E5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28" name="TextBox 20"/>
          <p:cNvSpPr txBox="1"/>
          <p:nvPr/>
        </p:nvSpPr>
        <p:spPr>
          <a:xfrm>
            <a:off x="2667000" y="4114800"/>
            <a:ext cx="196215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0B5A46"/>
                </a:solidFill>
                <a:latin typeface="Consolas"/>
                <a:ea typeface="Consolas"/>
                <a:cs typeface="Consolas"/>
              </a:rPr>
              <a:t>extremum</a:t>
            </a:r>
            <a:endParaRPr/>
          </a:p>
        </p:txBody>
      </p:sp>
      <p:sp>
        <p:nvSpPr>
          <p:cNvPr id="429" name="TextBox 21"/>
          <p:cNvSpPr txBox="1"/>
          <p:nvPr/>
        </p:nvSpPr>
        <p:spPr>
          <a:xfrm>
            <a:off x="2667000" y="4343400"/>
            <a:ext cx="1962150" cy="2095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125" b="0">
                <a:solidFill>
                  <a:srgbClr val="6B6B66"/>
                </a:solidFill>
                <a:latin typeface="Microsoft YaHei"/>
                <a:ea typeface="Microsoft YaHei"/>
                <a:cs typeface="Microsoft YaHei"/>
              </a:rPr>
              <a:t>极值点</a:t>
            </a:r>
            <a:endParaRPr/>
          </a:p>
        </p:txBody>
      </p:sp>
      <p:sp>
        <p:nvSpPr>
          <p:cNvPr id="430" name="TextBox 22"/>
          <p:cNvSpPr txBox="1"/>
          <p:nvPr/>
        </p:nvSpPr>
        <p:spPr>
          <a:xfrm>
            <a:off x="5114925" y="1409700"/>
            <a:ext cx="6467475" cy="571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1700"/>
              </a:lnSpc>
            </a:pPr>
            <a:r>
              <a:rPr sz="1275" b="0">
                <a:solidFill>
                  <a:srgbClr val="1F1F1D"/>
                </a:solidFill>
                <a:latin typeface="Microsoft YaHei"/>
                <a:ea typeface="Microsoft YaHei"/>
                <a:cs typeface="Microsoft YaHei"/>
              </a:rPr>
              <a:t>引擎用符号求导加数值求值核验导数值，用多项式系数判定核验切线恒等，用区间取样加边界导数条件核验单调性 —— 判定结果只有三种走向。</a:t>
            </a:r>
            <a:endParaRPr/>
          </a:p>
        </p:txBody>
      </p:sp>
      <p:sp>
        <p:nvSpPr>
          <p:cNvPr id="431" name="Rounded Rectangle 23"/>
          <p:cNvSpPr/>
          <p:nvPr/>
        </p:nvSpPr>
        <p:spPr>
          <a:xfrm>
            <a:off x="5114925" y="2057400"/>
            <a:ext cx="6467475" cy="990600"/>
          </a:xfrm>
          <a:prstGeom prst="roundRect">
            <a:avLst>
              <a:gd name="adj" fmla="val 9615"/>
            </a:avLst>
          </a:prstGeom>
          <a:solidFill>
            <a:srgbClr val="E1F5EE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32" name="Rounded Rectangle 24"/>
          <p:cNvSpPr/>
          <p:nvPr/>
        </p:nvSpPr>
        <p:spPr>
          <a:xfrm>
            <a:off x="5343525" y="2343150"/>
            <a:ext cx="876300" cy="419100"/>
          </a:xfrm>
          <a:prstGeom prst="roundRect">
            <a:avLst>
              <a:gd name="adj" fmla="val 13636"/>
            </a:avLst>
          </a:prstGeom>
          <a:solidFill>
            <a:srgbClr val="0F6E5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33" name="TextBox 25"/>
          <p:cNvSpPr txBox="1"/>
          <p:nvPr/>
        </p:nvSpPr>
        <p:spPr>
          <a:xfrm>
            <a:off x="5343525" y="2343150"/>
            <a:ext cx="876300" cy="4191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91700"/>
              </a:lnSpc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全部通过</a:t>
            </a:r>
            <a:endParaRPr/>
          </a:p>
        </p:txBody>
      </p:sp>
      <p:sp>
        <p:nvSpPr>
          <p:cNvPr id="434" name="TextBox 26"/>
          <p:cNvSpPr txBox="1"/>
          <p:nvPr/>
        </p:nvSpPr>
        <p:spPr>
          <a:xfrm>
            <a:off x="6372225" y="2247900"/>
            <a:ext cx="4981575" cy="2667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300"/>
              </a:lnSpc>
            </a:pPr>
            <a:r>
              <a:rPr sz="1350" b="1">
                <a:solidFill>
                  <a:srgbClr val="0B5A46"/>
                </a:solidFill>
                <a:latin typeface="Microsoft YaHei"/>
                <a:ea typeface="Microsoft YaHei"/>
                <a:cs typeface="Microsoft YaHei"/>
              </a:rPr>
              <a:t>升到「已验证」，验证状态标为 symbolic</a:t>
            </a:r>
            <a:endParaRPr/>
          </a:p>
        </p:txBody>
      </p:sp>
      <p:sp>
        <p:nvSpPr>
          <p:cNvPr id="435" name="TextBox 27"/>
          <p:cNvSpPr txBox="1"/>
          <p:nvPr/>
        </p:nvSpPr>
        <p:spPr>
          <a:xfrm>
            <a:off x="6372225" y="2533650"/>
            <a:ext cx="4981575" cy="495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3300"/>
              </a:lnSpc>
            </a:pPr>
            <a:r>
              <a:rPr sz="1200" b="0">
                <a:solidFill>
                  <a:srgbClr val="0B5A46"/>
                </a:solidFill>
                <a:latin typeface="Microsoft YaHei"/>
                <a:ea typeface="Microsoft YaHei"/>
                <a:cs typeface="Microsoft YaHei"/>
              </a:rPr>
              <a:t>这是六态里唯一可以放心使用的状态，界面按主色呈现。</a:t>
            </a:r>
            <a:endParaRPr/>
          </a:p>
        </p:txBody>
      </p:sp>
      <p:sp>
        <p:nvSpPr>
          <p:cNvPr id="436" name="Rounded Rectangle 28"/>
          <p:cNvSpPr/>
          <p:nvPr/>
        </p:nvSpPr>
        <p:spPr>
          <a:xfrm>
            <a:off x="5114925" y="3143250"/>
            <a:ext cx="6467475" cy="990600"/>
          </a:xfrm>
          <a:prstGeom prst="roundRect">
            <a:avLst>
              <a:gd name="adj" fmla="val 9615"/>
            </a:avLst>
          </a:prstGeom>
          <a:solidFill>
            <a:srgbClr val="FDF0D5"/>
          </a:solidFill>
          <a:ln w="19050">
            <a:solidFill>
              <a:srgbClr val="854F0B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37" name="Rounded Rectangle 29"/>
          <p:cNvSpPr/>
          <p:nvPr/>
        </p:nvSpPr>
        <p:spPr>
          <a:xfrm>
            <a:off x="5343525" y="3429000"/>
            <a:ext cx="876300" cy="419100"/>
          </a:xfrm>
          <a:prstGeom prst="roundRect">
            <a:avLst>
              <a:gd name="adj" fmla="val 13636"/>
            </a:avLst>
          </a:prstGeom>
          <a:solidFill>
            <a:srgbClr val="854F0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38" name="TextBox 30"/>
          <p:cNvSpPr txBox="1"/>
          <p:nvPr/>
        </p:nvSpPr>
        <p:spPr>
          <a:xfrm>
            <a:off x="5343525" y="3429000"/>
            <a:ext cx="876300" cy="4191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91700"/>
              </a:lnSpc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任一不过</a:t>
            </a:r>
            <a:endParaRPr/>
          </a:p>
        </p:txBody>
      </p:sp>
      <p:sp>
        <p:nvSpPr>
          <p:cNvPr id="439" name="TextBox 31"/>
          <p:cNvSpPr txBox="1"/>
          <p:nvPr/>
        </p:nvSpPr>
        <p:spPr>
          <a:xfrm>
            <a:off x="6372225" y="3333750"/>
            <a:ext cx="4981575" cy="2667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300"/>
              </a:lnSpc>
            </a:pPr>
            <a:r>
              <a:rPr sz="1350" b="1">
                <a:solidFill>
                  <a:srgbClr val="854F0B"/>
                </a:solidFill>
                <a:latin typeface="Microsoft YaHei"/>
                <a:ea typeface="Microsoft YaHei"/>
                <a:cs typeface="Microsoft YaHei"/>
              </a:rPr>
              <a:t>直接判「有争议」，并把失败的那一条带出来</a:t>
            </a:r>
            <a:endParaRPr/>
          </a:p>
        </p:txBody>
      </p:sp>
      <p:sp>
        <p:nvSpPr>
          <p:cNvPr id="440" name="TextBox 32"/>
          <p:cNvSpPr txBox="1"/>
          <p:nvPr/>
        </p:nvSpPr>
        <p:spPr>
          <a:xfrm>
            <a:off x="6372225" y="3619500"/>
            <a:ext cx="4981575" cy="495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3300"/>
              </a:lnSpc>
            </a:pPr>
            <a:r>
              <a:rPr sz="1200" b="0">
                <a:solidFill>
                  <a:srgbClr val="854F0B"/>
                </a:solidFill>
                <a:latin typeface="Microsoft YaHei"/>
                <a:ea typeface="Microsoft YaHei"/>
                <a:cs typeface="Microsoft YaHei"/>
              </a:rPr>
              <a:t>不悄悄改成正确，也不重试到看起来对上为止 —— 争议本身就是要被看见的信息。</a:t>
            </a:r>
            <a:endParaRPr/>
          </a:p>
        </p:txBody>
      </p:sp>
      <p:sp>
        <p:nvSpPr>
          <p:cNvPr id="441" name="Rounded Rectangle 33"/>
          <p:cNvSpPr/>
          <p:nvPr/>
        </p:nvSpPr>
        <p:spPr>
          <a:xfrm>
            <a:off x="5114925" y="4229100"/>
            <a:ext cx="6467475" cy="990600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19050">
            <a:solidFill>
              <a:srgbClr val="E2E1DC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42" name="Rounded Rectangle 34"/>
          <p:cNvSpPr/>
          <p:nvPr/>
        </p:nvSpPr>
        <p:spPr>
          <a:xfrm>
            <a:off x="5343525" y="4514850"/>
            <a:ext cx="876300" cy="419100"/>
          </a:xfrm>
          <a:prstGeom prst="roundRect">
            <a:avLst>
              <a:gd name="adj" fmla="val 13636"/>
            </a:avLst>
          </a:prstGeom>
          <a:solidFill>
            <a:srgbClr val="E2E1DC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43" name="TextBox 35"/>
          <p:cNvSpPr txBox="1"/>
          <p:nvPr/>
        </p:nvSpPr>
        <p:spPr>
          <a:xfrm>
            <a:off x="5343525" y="4514850"/>
            <a:ext cx="876300" cy="4191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91700"/>
              </a:lnSpc>
            </a:pPr>
            <a:r>
              <a:rPr sz="1125" b="1">
                <a:solidFill>
                  <a:srgbClr val="1F1F1D"/>
                </a:solidFill>
                <a:latin typeface="Microsoft YaHei"/>
                <a:ea typeface="Microsoft YaHei"/>
                <a:cs typeface="Microsoft YaHei"/>
              </a:rPr>
              <a:t>算不出来</a:t>
            </a:r>
            <a:endParaRPr/>
          </a:p>
        </p:txBody>
      </p:sp>
      <p:sp>
        <p:nvSpPr>
          <p:cNvPr id="444" name="TextBox 36"/>
          <p:cNvSpPr txBox="1"/>
          <p:nvPr/>
        </p:nvSpPr>
        <p:spPr>
          <a:xfrm>
            <a:off x="6372225" y="4419600"/>
            <a:ext cx="4981575" cy="2667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300"/>
              </a:lnSpc>
            </a:pPr>
            <a:r>
              <a:rPr sz="1350" b="1">
                <a:solidFill>
                  <a:srgbClr val="6B6B66"/>
                </a:solidFill>
                <a:latin typeface="Microsoft YaHei"/>
                <a:ea typeface="Microsoft YaHei"/>
                <a:cs typeface="Microsoft YaHei"/>
              </a:rPr>
              <a:t>停在「未验证」，既不当作通过，也不当作错</a:t>
            </a:r>
            <a:endParaRPr/>
          </a:p>
        </p:txBody>
      </p:sp>
      <p:sp>
        <p:nvSpPr>
          <p:cNvPr id="445" name="TextBox 37"/>
          <p:cNvSpPr txBox="1"/>
          <p:nvPr/>
        </p:nvSpPr>
        <p:spPr>
          <a:xfrm>
            <a:off x="6372225" y="4705350"/>
            <a:ext cx="4981575" cy="495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3300"/>
              </a:lnSpc>
            </a:pPr>
            <a:r>
              <a:rPr sz="1200" b="0">
                <a:solidFill>
                  <a:srgbClr val="6B6B66"/>
                </a:solidFill>
                <a:latin typeface="Microsoft YaHei"/>
                <a:ea typeface="Microsoft YaHei"/>
                <a:cs typeface="Microsoft YaHei"/>
              </a:rPr>
              <a:t>超出课程范围、超出输入规模、结果落在复数域，一律标未验证，不硬凑。</a:t>
            </a:r>
            <a:endParaRPr/>
          </a:p>
        </p:txBody>
      </p:sp>
      <p:sp>
        <p:nvSpPr>
          <p:cNvPr id="446" name="Rounded Rectangle 38"/>
          <p:cNvSpPr/>
          <p:nvPr/>
        </p:nvSpPr>
        <p:spPr>
          <a:xfrm>
            <a:off x="5114925" y="5314950"/>
            <a:ext cx="6467475" cy="9525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47" name="Rectangle 39"/>
          <p:cNvSpPr/>
          <p:nvPr/>
        </p:nvSpPr>
        <p:spPr>
          <a:xfrm>
            <a:off x="5114925" y="5314950"/>
            <a:ext cx="28575" cy="952500"/>
          </a:xfrm>
          <a:prstGeom prst="rect">
            <a:avLst/>
          </a:prstGeom>
          <a:solidFill>
            <a:srgbClr val="0F6E5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48" name="TextBox 40"/>
          <p:cNvSpPr txBox="1"/>
          <p:nvPr/>
        </p:nvSpPr>
        <p:spPr>
          <a:xfrm>
            <a:off x="5343525" y="5429250"/>
            <a:ext cx="6096000" cy="762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1700"/>
              </a:lnSpc>
            </a:pPr>
            <a:r>
              <a:rPr sz="1200" b="1">
                <a:solidFill>
                  <a:srgbClr val="1F1F1D"/>
                </a:solidFill>
                <a:latin typeface="Microsoft YaHei"/>
                <a:ea typeface="Microsoft YaHei"/>
                <a:cs typeface="Microsoft YaHei"/>
              </a:rPr>
              <a:t>边界声明：</a:t>
            </a:r>
            <a:r>
              <a:rPr sz="1200" b="0">
                <a:solidFill>
                  <a:srgbClr val="6B6B66"/>
                </a:solidFill>
                <a:latin typeface="Microsoft YaHei"/>
                <a:ea typeface="Microsoft YaHei"/>
                <a:cs typeface="Microsoft YaHei"/>
              </a:rPr>
              <a:t>它不是通用证明器。只覆盖上面四类断言，单调性用的是取样法，做不了区间级严格证明。说明书里的三个固定案例已经是回归基线断言，并且配了负例与越界例 —— 只有正例的基线，证明不了引擎有分辨力。</a:t>
            </a:r>
            <a:endParaRPr/>
          </a:p>
        </p:txBody>
      </p:sp>
      <p:sp>
        <p:nvSpPr>
          <p:cNvPr id="449" name="Rectangle 41"/>
          <p:cNvSpPr/>
          <p:nvPr/>
        </p:nvSpPr>
        <p:spPr>
          <a:xfrm>
            <a:off x="609600" y="6419850"/>
            <a:ext cx="38100" cy="171450"/>
          </a:xfrm>
          <a:prstGeom prst="rect">
            <a:avLst/>
          </a:prstGeom>
          <a:solidFill>
            <a:srgbClr val="0F6E5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50" name="TextBox 42"/>
          <p:cNvSpPr txBox="1"/>
          <p:nvPr/>
        </p:nvSpPr>
        <p:spPr>
          <a:xfrm>
            <a:off x="742950" y="6362700"/>
            <a:ext cx="7239000" cy="2476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B6B66"/>
                </a:solidFill>
                <a:latin typeface="Microsoft YaHei"/>
                <a:ea typeface="Microsoft YaHei"/>
                <a:cs typeface="Microsoft YaHei"/>
              </a:rPr>
              <a:t>微积分学伴 · 大湾区 AI Coding 创新大赛</a:t>
            </a:r>
            <a:endParaRPr/>
          </a:p>
        </p:txBody>
      </p:sp>
      <p:sp>
        <p:nvSpPr>
          <p:cNvPr id="451" name="TextBox 43"/>
          <p:cNvSpPr txBox="1"/>
          <p:nvPr/>
        </p:nvSpPr>
        <p:spPr>
          <a:xfrm>
            <a:off x="9620250" y="6362700"/>
            <a:ext cx="1962150" cy="2476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050" b="0">
                <a:solidFill>
                  <a:srgbClr val="6B6B66"/>
                </a:solidFill>
                <a:latin typeface="Consolas"/>
                <a:ea typeface="Consolas"/>
                <a:cs typeface="Consolas"/>
              </a:rPr>
              <a:t>07 / 14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45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54" name="TextBox 2"/>
          <p:cNvSpPr txBox="1"/>
          <p:nvPr/>
        </p:nvSpPr>
        <p:spPr>
          <a:xfrm>
            <a:off x="609600" y="171450"/>
            <a:ext cx="8953500" cy="5143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300"/>
              </a:lnSpc>
            </a:pPr>
            <a:r>
              <a:rPr sz="2700" b="1">
                <a:solidFill>
                  <a:srgbClr val="1F1F1D"/>
                </a:solidFill>
                <a:latin typeface="Microsoft YaHei"/>
                <a:ea typeface="Microsoft YaHei"/>
                <a:cs typeface="Microsoft YaHei"/>
              </a:rPr>
              <a:t>特色三 · 不信任 AI 输出</a:t>
            </a:r>
            <a:endParaRPr/>
          </a:p>
        </p:txBody>
      </p:sp>
      <p:sp>
        <p:nvSpPr>
          <p:cNvPr id="455" name="Rounded Rectangle 3"/>
          <p:cNvSpPr/>
          <p:nvPr/>
        </p:nvSpPr>
        <p:spPr>
          <a:xfrm>
            <a:off x="10801350" y="266700"/>
            <a:ext cx="781050" cy="285750"/>
          </a:xfrm>
          <a:prstGeom prst="roundRect">
            <a:avLst>
              <a:gd name="adj" fmla="val 20000"/>
            </a:avLst>
          </a:prstGeom>
          <a:solidFill>
            <a:srgbClr val="E1F5EE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56" name="TextBox 4"/>
          <p:cNvSpPr txBox="1"/>
          <p:nvPr/>
        </p:nvSpPr>
        <p:spPr>
          <a:xfrm>
            <a:off x="10801350" y="266700"/>
            <a:ext cx="781050" cy="28575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83300"/>
              </a:lnSpc>
            </a:pPr>
            <a:r>
              <a:rPr sz="1050" b="0">
                <a:solidFill>
                  <a:srgbClr val="0B5A46"/>
                </a:solidFill>
                <a:latin typeface="Microsoft YaHei"/>
                <a:ea typeface="Microsoft YaHei"/>
                <a:cs typeface="Microsoft YaHei"/>
              </a:rPr>
              <a:t>两道闸门</a:t>
            </a:r>
            <a:endParaRPr/>
          </a:p>
        </p:txBody>
      </p:sp>
      <p:sp>
        <p:nvSpPr>
          <p:cNvPr id="457" name="TextBox 5"/>
          <p:cNvSpPr txBox="1"/>
          <p:nvPr/>
        </p:nvSpPr>
        <p:spPr>
          <a:xfrm>
            <a:off x="609600" y="704850"/>
            <a:ext cx="9906000" cy="2857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500"/>
              </a:lnSpc>
            </a:pPr>
            <a:r>
              <a:rPr sz="1350" b="0">
                <a:solidFill>
                  <a:srgbClr val="6B6B66"/>
                </a:solidFill>
                <a:latin typeface="Microsoft YaHei"/>
                <a:ea typeface="Microsoft YaHei"/>
                <a:cs typeface="Microsoft YaHei"/>
              </a:rPr>
              <a:t>所有模型输出都要先归一、再校验；宁可少答一块，不编一段引文</a:t>
            </a:r>
            <a:endParaRPr/>
          </a:p>
        </p:txBody>
      </p:sp>
      <p:sp>
        <p:nvSpPr>
          <p:cNvPr id="458" name="Rectangle 6"/>
          <p:cNvSpPr/>
          <p:nvPr/>
        </p:nvSpPr>
        <p:spPr>
          <a:xfrm>
            <a:off x="609600" y="1143000"/>
            <a:ext cx="10972800" cy="14288"/>
          </a:xfrm>
          <a:prstGeom prst="rect">
            <a:avLst/>
          </a:prstGeom>
          <a:solidFill>
            <a:srgbClr val="E2E1DC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59" name="Rounded Rectangle 7"/>
          <p:cNvSpPr/>
          <p:nvPr/>
        </p:nvSpPr>
        <p:spPr>
          <a:xfrm>
            <a:off x="609600" y="1333500"/>
            <a:ext cx="6267450" cy="419100"/>
          </a:xfrm>
          <a:prstGeom prst="roundRect">
            <a:avLst>
              <a:gd name="adj" fmla="val 18181"/>
            </a:avLst>
          </a:prstGeom>
          <a:solidFill>
            <a:srgbClr val="FFFFFF"/>
          </a:solidFill>
          <a:ln w="19050">
            <a:solidFill>
              <a:srgbClr val="E2E1DC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60" name="TextBox 8"/>
          <p:cNvSpPr txBox="1"/>
          <p:nvPr/>
        </p:nvSpPr>
        <p:spPr>
          <a:xfrm>
            <a:off x="800100" y="1333500"/>
            <a:ext cx="5905500" cy="4191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75" b="1">
                <a:solidFill>
                  <a:srgbClr val="1F1F1D"/>
                </a:solidFill>
                <a:latin typeface="Microsoft YaHei"/>
                <a:ea typeface="Microsoft YaHei"/>
                <a:cs typeface="Microsoft YaHei"/>
              </a:rPr>
              <a:t>模型原始输出：</a:t>
            </a:r>
            <a:r>
              <a:rPr sz="1275" b="0">
                <a:solidFill>
                  <a:srgbClr val="6B6B66"/>
                </a:solidFill>
                <a:latin typeface="Microsoft YaHei"/>
                <a:ea typeface="Microsoft YaHei"/>
                <a:cs typeface="Microsoft YaHei"/>
              </a:rPr>
              <a:t>自然语言加结构化字段，随时可能缺字段、引用不存在的来源</a:t>
            </a:r>
            <a:endParaRPr/>
          </a:p>
        </p:txBody>
      </p:sp>
      <p:sp>
        <p:nvSpPr>
          <p:cNvPr id="461" name="TextBox 9"/>
          <p:cNvSpPr txBox="1"/>
          <p:nvPr/>
        </p:nvSpPr>
        <p:spPr>
          <a:xfrm>
            <a:off x="609600" y="1809750"/>
            <a:ext cx="6267450" cy="2286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83300"/>
              </a:lnSpc>
            </a:pPr>
            <a:r>
              <a:rPr sz="1350" b="0">
                <a:solidFill>
                  <a:srgbClr val="0F6E56"/>
                </a:solidFill>
                <a:latin typeface="Microsoft YaHei"/>
                <a:ea typeface="Microsoft YaHei"/>
                <a:cs typeface="Microsoft YaHei"/>
              </a:rPr>
              <a:t>▼</a:t>
            </a:r>
            <a:endParaRPr/>
          </a:p>
        </p:txBody>
      </p:sp>
      <p:sp>
        <p:nvSpPr>
          <p:cNvPr id="462" name="Rounded Rectangle 10"/>
          <p:cNvSpPr/>
          <p:nvPr/>
        </p:nvSpPr>
        <p:spPr>
          <a:xfrm>
            <a:off x="609600" y="2076450"/>
            <a:ext cx="6267450" cy="1638300"/>
          </a:xfrm>
          <a:prstGeom prst="roundRect">
            <a:avLst>
              <a:gd name="adj" fmla="val 5813"/>
            </a:avLst>
          </a:prstGeom>
          <a:solidFill>
            <a:srgbClr val="E1F5EE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63" name="Oval 11"/>
          <p:cNvSpPr/>
          <p:nvPr/>
        </p:nvSpPr>
        <p:spPr>
          <a:xfrm>
            <a:off x="800100" y="2228850"/>
            <a:ext cx="247650" cy="247650"/>
          </a:xfrm>
          <a:prstGeom prst="ellipse">
            <a:avLst/>
          </a:prstGeom>
          <a:solidFill>
            <a:srgbClr val="0F6E5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64" name="TextBox 12"/>
          <p:cNvSpPr txBox="1"/>
          <p:nvPr/>
        </p:nvSpPr>
        <p:spPr>
          <a:xfrm>
            <a:off x="800100" y="2228850"/>
            <a:ext cx="247650" cy="24765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83300"/>
              </a:lnSpc>
            </a:pPr>
            <a:r>
              <a:rPr sz="105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1</a:t>
            </a:r>
            <a:endParaRPr/>
          </a:p>
        </p:txBody>
      </p:sp>
      <p:sp>
        <p:nvSpPr>
          <p:cNvPr id="465" name="TextBox 13"/>
          <p:cNvSpPr txBox="1"/>
          <p:nvPr/>
        </p:nvSpPr>
        <p:spPr>
          <a:xfrm>
            <a:off x="1162050" y="2209800"/>
            <a:ext cx="5524500" cy="2667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300"/>
              </a:lnSpc>
            </a:pPr>
            <a:r>
              <a:rPr sz="1425" b="1">
                <a:solidFill>
                  <a:srgbClr val="0B5A46"/>
                </a:solidFill>
                <a:latin typeface="Microsoft YaHei"/>
                <a:ea typeface="Microsoft YaHei"/>
                <a:cs typeface="Microsoft YaHei"/>
              </a:rPr>
              <a:t>归一 · 先把缺省方向摆正</a:t>
            </a:r>
            <a:endParaRPr/>
          </a:p>
        </p:txBody>
      </p:sp>
      <p:sp>
        <p:nvSpPr>
          <p:cNvPr id="466" name="Oval 14"/>
          <p:cNvSpPr/>
          <p:nvPr/>
        </p:nvSpPr>
        <p:spPr>
          <a:xfrm>
            <a:off x="838200" y="2609850"/>
            <a:ext cx="66675" cy="66675"/>
          </a:xfrm>
          <a:prstGeom prst="ellipse">
            <a:avLst/>
          </a:prstGeom>
          <a:solidFill>
            <a:srgbClr val="0F6E5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67" name="TextBox 15"/>
          <p:cNvSpPr txBox="1"/>
          <p:nvPr/>
        </p:nvSpPr>
        <p:spPr>
          <a:xfrm>
            <a:off x="990600" y="2533650"/>
            <a:ext cx="5715000" cy="2476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6700"/>
              </a:lnSpc>
            </a:pPr>
            <a:r>
              <a:rPr sz="1200" b="0">
                <a:solidFill>
                  <a:srgbClr val="0B5A46"/>
                </a:solidFill>
                <a:latin typeface="Microsoft YaHei"/>
                <a:ea typeface="Microsoft YaHei"/>
                <a:cs typeface="Microsoft YaHei"/>
              </a:rPr>
              <a:t>验证状态缺失或非法 → 一律落到「未验证」，不是落到「已验证」</a:t>
            </a:r>
            <a:endParaRPr/>
          </a:p>
        </p:txBody>
      </p:sp>
      <p:sp>
        <p:nvSpPr>
          <p:cNvPr id="468" name="Oval 16"/>
          <p:cNvSpPr/>
          <p:nvPr/>
        </p:nvSpPr>
        <p:spPr>
          <a:xfrm>
            <a:off x="838200" y="2876550"/>
            <a:ext cx="66675" cy="66675"/>
          </a:xfrm>
          <a:prstGeom prst="ellipse">
            <a:avLst/>
          </a:prstGeom>
          <a:solidFill>
            <a:srgbClr val="0F6E5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69" name="TextBox 17"/>
          <p:cNvSpPr txBox="1"/>
          <p:nvPr/>
        </p:nvSpPr>
        <p:spPr>
          <a:xfrm>
            <a:off x="990600" y="2800350"/>
            <a:ext cx="5715000" cy="2476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6700"/>
              </a:lnSpc>
            </a:pPr>
            <a:r>
              <a:rPr sz="1200" b="0">
                <a:solidFill>
                  <a:srgbClr val="0B5A46"/>
                </a:solidFill>
                <a:latin typeface="Microsoft YaHei"/>
                <a:ea typeface="Microsoft YaHei"/>
                <a:cs typeface="Microsoft YaHei"/>
              </a:rPr>
              <a:t>状态字段缺失或非法 → 落到 partial，不原样透传</a:t>
            </a:r>
            <a:endParaRPr/>
          </a:p>
        </p:txBody>
      </p:sp>
      <p:sp>
        <p:nvSpPr>
          <p:cNvPr id="470" name="Oval 18"/>
          <p:cNvSpPr/>
          <p:nvPr/>
        </p:nvSpPr>
        <p:spPr>
          <a:xfrm>
            <a:off x="838200" y="3143250"/>
            <a:ext cx="66675" cy="66675"/>
          </a:xfrm>
          <a:prstGeom prst="ellipse">
            <a:avLst/>
          </a:prstGeom>
          <a:solidFill>
            <a:srgbClr val="0F6E5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71" name="TextBox 19"/>
          <p:cNvSpPr txBox="1"/>
          <p:nvPr/>
        </p:nvSpPr>
        <p:spPr>
          <a:xfrm>
            <a:off x="990600" y="3067050"/>
            <a:ext cx="5715000" cy="2476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6700"/>
              </a:lnSpc>
            </a:pPr>
            <a:r>
              <a:rPr sz="1200" b="0">
                <a:solidFill>
                  <a:srgbClr val="0B5A46"/>
                </a:solidFill>
                <a:latin typeface="Microsoft YaHei"/>
                <a:ea typeface="Microsoft YaHei"/>
                <a:cs typeface="Microsoft YaHei"/>
              </a:rPr>
              <a:t>自依赖与循环依赖的关系边 → 一律丢弃</a:t>
            </a:r>
            <a:endParaRPr/>
          </a:p>
        </p:txBody>
      </p:sp>
      <p:sp>
        <p:nvSpPr>
          <p:cNvPr id="472" name="TextBox 20"/>
          <p:cNvSpPr txBox="1"/>
          <p:nvPr/>
        </p:nvSpPr>
        <p:spPr>
          <a:xfrm>
            <a:off x="609600" y="3771900"/>
            <a:ext cx="6267450" cy="2286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83300"/>
              </a:lnSpc>
            </a:pPr>
            <a:r>
              <a:rPr sz="1350" b="0">
                <a:solidFill>
                  <a:srgbClr val="0F6E56"/>
                </a:solidFill>
                <a:latin typeface="Microsoft YaHei"/>
                <a:ea typeface="Microsoft YaHei"/>
                <a:cs typeface="Microsoft YaHei"/>
              </a:rPr>
              <a:t>▼</a:t>
            </a:r>
            <a:endParaRPr/>
          </a:p>
        </p:txBody>
      </p:sp>
      <p:sp>
        <p:nvSpPr>
          <p:cNvPr id="473" name="Rounded Rectangle 21"/>
          <p:cNvSpPr/>
          <p:nvPr/>
        </p:nvSpPr>
        <p:spPr>
          <a:xfrm>
            <a:off x="609600" y="4038600"/>
            <a:ext cx="6267450" cy="1866900"/>
          </a:xfrm>
          <a:prstGeom prst="roundRect">
            <a:avLst>
              <a:gd name="adj" fmla="val 5102"/>
            </a:avLst>
          </a:prstGeom>
          <a:solidFill>
            <a:srgbClr val="FFFFFF"/>
          </a:solidFill>
          <a:ln w="19050">
            <a:solidFill>
              <a:srgbClr val="854F0B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74" name="Oval 22"/>
          <p:cNvSpPr/>
          <p:nvPr/>
        </p:nvSpPr>
        <p:spPr>
          <a:xfrm>
            <a:off x="800100" y="4191000"/>
            <a:ext cx="247650" cy="247650"/>
          </a:xfrm>
          <a:prstGeom prst="ellipse">
            <a:avLst/>
          </a:prstGeom>
          <a:solidFill>
            <a:srgbClr val="854F0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75" name="TextBox 23"/>
          <p:cNvSpPr txBox="1"/>
          <p:nvPr/>
        </p:nvSpPr>
        <p:spPr>
          <a:xfrm>
            <a:off x="800100" y="4191000"/>
            <a:ext cx="247650" cy="24765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83300"/>
              </a:lnSpc>
            </a:pPr>
            <a:r>
              <a:rPr sz="105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2</a:t>
            </a:r>
            <a:endParaRPr/>
          </a:p>
        </p:txBody>
      </p:sp>
      <p:sp>
        <p:nvSpPr>
          <p:cNvPr id="476" name="TextBox 24"/>
          <p:cNvSpPr txBox="1"/>
          <p:nvPr/>
        </p:nvSpPr>
        <p:spPr>
          <a:xfrm>
            <a:off x="1162050" y="4171950"/>
            <a:ext cx="5524500" cy="2667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300"/>
              </a:lnSpc>
            </a:pPr>
            <a:r>
              <a:rPr sz="1425" b="1">
                <a:solidFill>
                  <a:srgbClr val="854F0B"/>
                </a:solidFill>
                <a:latin typeface="Microsoft YaHei"/>
                <a:ea typeface="Microsoft YaHei"/>
                <a:cs typeface="Microsoft YaHei"/>
              </a:rPr>
              <a:t>校验 · 拦住编造的引用</a:t>
            </a:r>
            <a:endParaRPr/>
          </a:p>
        </p:txBody>
      </p:sp>
      <p:sp>
        <p:nvSpPr>
          <p:cNvPr id="477" name="Oval 25"/>
          <p:cNvSpPr/>
          <p:nvPr/>
        </p:nvSpPr>
        <p:spPr>
          <a:xfrm>
            <a:off x="838200" y="4572000"/>
            <a:ext cx="66675" cy="66675"/>
          </a:xfrm>
          <a:prstGeom prst="ellipse">
            <a:avLst/>
          </a:prstGeom>
          <a:solidFill>
            <a:srgbClr val="854F0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78" name="TextBox 26"/>
          <p:cNvSpPr txBox="1"/>
          <p:nvPr/>
        </p:nvSpPr>
        <p:spPr>
          <a:xfrm>
            <a:off x="990600" y="4495800"/>
            <a:ext cx="5715000" cy="2476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6700"/>
              </a:lnSpc>
            </a:pPr>
            <a:r>
              <a:rPr sz="1200" b="0">
                <a:solidFill>
                  <a:srgbClr val="1F1F1D"/>
                </a:solidFill>
                <a:latin typeface="Microsoft YaHei"/>
                <a:ea typeface="Microsoft YaHei"/>
                <a:cs typeface="Microsoft YaHei"/>
              </a:rPr>
              <a:t>引用了不存在的来源 → 该块移入被拒绝列表</a:t>
            </a:r>
            <a:endParaRPr/>
          </a:p>
        </p:txBody>
      </p:sp>
      <p:sp>
        <p:nvSpPr>
          <p:cNvPr id="479" name="Oval 27"/>
          <p:cNvSpPr/>
          <p:nvPr/>
        </p:nvSpPr>
        <p:spPr>
          <a:xfrm>
            <a:off x="838200" y="4838700"/>
            <a:ext cx="66675" cy="66675"/>
          </a:xfrm>
          <a:prstGeom prst="ellipse">
            <a:avLst/>
          </a:prstGeom>
          <a:solidFill>
            <a:srgbClr val="854F0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80" name="TextBox 28"/>
          <p:cNvSpPr txBox="1"/>
          <p:nvPr/>
        </p:nvSpPr>
        <p:spPr>
          <a:xfrm>
            <a:off x="990600" y="4762500"/>
            <a:ext cx="5715000" cy="2476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6700"/>
              </a:lnSpc>
            </a:pPr>
            <a:r>
              <a:rPr sz="1200" b="0">
                <a:solidFill>
                  <a:srgbClr val="1F1F1D"/>
                </a:solidFill>
                <a:latin typeface="Microsoft YaHei"/>
                <a:ea typeface="Microsoft YaHei"/>
                <a:cs typeface="Microsoft YaHei"/>
              </a:rPr>
              <a:t>引用了没有授权的补充块 → 该块被拒绝</a:t>
            </a:r>
            <a:endParaRPr/>
          </a:p>
        </p:txBody>
      </p:sp>
      <p:sp>
        <p:nvSpPr>
          <p:cNvPr id="481" name="Oval 29"/>
          <p:cNvSpPr/>
          <p:nvPr/>
        </p:nvSpPr>
        <p:spPr>
          <a:xfrm>
            <a:off x="838200" y="5105400"/>
            <a:ext cx="66675" cy="66675"/>
          </a:xfrm>
          <a:prstGeom prst="ellipse">
            <a:avLst/>
          </a:prstGeom>
          <a:solidFill>
            <a:srgbClr val="854F0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82" name="TextBox 30"/>
          <p:cNvSpPr txBox="1"/>
          <p:nvPr/>
        </p:nvSpPr>
        <p:spPr>
          <a:xfrm>
            <a:off x="990600" y="5029200"/>
            <a:ext cx="5715000" cy="2476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6700"/>
              </a:lnSpc>
            </a:pPr>
            <a:r>
              <a:rPr sz="1200" b="0">
                <a:solidFill>
                  <a:srgbClr val="1F1F1D"/>
                </a:solidFill>
                <a:latin typeface="Microsoft YaHei"/>
                <a:ea typeface="Microsoft YaHei"/>
                <a:cs typeface="Microsoft YaHei"/>
              </a:rPr>
              <a:t>摘录在来源里找不到 → 该块被拒绝（这就是编造引用的拦截点）</a:t>
            </a:r>
            <a:endParaRPr/>
          </a:p>
        </p:txBody>
      </p:sp>
      <p:sp>
        <p:nvSpPr>
          <p:cNvPr id="483" name="Oval 31"/>
          <p:cNvSpPr/>
          <p:nvPr/>
        </p:nvSpPr>
        <p:spPr>
          <a:xfrm>
            <a:off x="838200" y="5372100"/>
            <a:ext cx="66675" cy="66675"/>
          </a:xfrm>
          <a:prstGeom prst="ellipse">
            <a:avLst/>
          </a:prstGeom>
          <a:solidFill>
            <a:srgbClr val="854F0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84" name="TextBox 32"/>
          <p:cNvSpPr txBox="1"/>
          <p:nvPr/>
        </p:nvSpPr>
        <p:spPr>
          <a:xfrm>
            <a:off x="990600" y="5295900"/>
            <a:ext cx="5715000" cy="2476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6700"/>
              </a:lnSpc>
            </a:pPr>
            <a:r>
              <a:rPr sz="1200" b="0">
                <a:solidFill>
                  <a:srgbClr val="1F1F1D"/>
                </a:solidFill>
                <a:latin typeface="Microsoft YaHei"/>
                <a:ea typeface="Microsoft YaHei"/>
                <a:cs typeface="Microsoft YaHei"/>
              </a:rPr>
              <a:t>被拒绝的块如实报告，返回可重试错误，不静默丢弃</a:t>
            </a:r>
            <a:endParaRPr/>
          </a:p>
        </p:txBody>
      </p:sp>
      <p:sp>
        <p:nvSpPr>
          <p:cNvPr id="485" name="TextBox 33"/>
          <p:cNvSpPr txBox="1"/>
          <p:nvPr/>
        </p:nvSpPr>
        <p:spPr>
          <a:xfrm>
            <a:off x="7086600" y="1333500"/>
            <a:ext cx="4495800" cy="533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9200"/>
              </a:lnSpc>
            </a:pPr>
            <a:r>
              <a:rPr sz="1275" b="1">
                <a:solidFill>
                  <a:srgbClr val="1F1F1D"/>
                </a:solidFill>
                <a:latin typeface="Microsoft YaHei"/>
                <a:ea typeface="Microsoft YaHei"/>
                <a:cs typeface="Microsoft YaHei"/>
              </a:rPr>
              <a:t>通过两道闸门之后，每个回答块必须归入三类来源之一</a:t>
            </a:r>
            <a:endParaRPr/>
          </a:p>
        </p:txBody>
      </p:sp>
      <p:sp>
        <p:nvSpPr>
          <p:cNvPr id="486" name="Rounded Rectangle 34"/>
          <p:cNvSpPr/>
          <p:nvPr/>
        </p:nvSpPr>
        <p:spPr>
          <a:xfrm>
            <a:off x="7086600" y="1885950"/>
            <a:ext cx="4495800" cy="1104900"/>
          </a:xfrm>
          <a:prstGeom prst="roundRect">
            <a:avLst>
              <a:gd name="adj" fmla="val 8620"/>
            </a:avLst>
          </a:prstGeom>
          <a:solidFill>
            <a:srgbClr val="E1F5EE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87" name="TextBox 35"/>
          <p:cNvSpPr txBox="1"/>
          <p:nvPr/>
        </p:nvSpPr>
        <p:spPr>
          <a:xfrm>
            <a:off x="7296150" y="2019300"/>
            <a:ext cx="40767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B5A46"/>
                </a:solidFill>
                <a:latin typeface="Consolas"/>
                <a:ea typeface="Consolas"/>
                <a:cs typeface="Consolas"/>
              </a:rPr>
              <a:t>material · 来自讲义</a:t>
            </a:r>
            <a:endParaRPr/>
          </a:p>
        </p:txBody>
      </p:sp>
      <p:sp>
        <p:nvSpPr>
          <p:cNvPr id="488" name="TextBox 36"/>
          <p:cNvSpPr txBox="1"/>
          <p:nvPr/>
        </p:nvSpPr>
        <p:spPr>
          <a:xfrm>
            <a:off x="7296150" y="2305050"/>
            <a:ext cx="4076700" cy="571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3300"/>
              </a:lnSpc>
            </a:pPr>
            <a:r>
              <a:rPr sz="1200" b="0">
                <a:solidFill>
                  <a:srgbClr val="0B5A46"/>
                </a:solidFill>
                <a:latin typeface="Microsoft YaHei"/>
                <a:ea typeface="Microsoft YaHei"/>
                <a:cs typeface="Microsoft YaHei"/>
              </a:rPr>
              <a:t>引用编号有效，摘录能在对应材料里逐字找到 —— 这是唯一可以标注「基于你的材料」的来源。</a:t>
            </a:r>
            <a:endParaRPr/>
          </a:p>
        </p:txBody>
      </p:sp>
      <p:sp>
        <p:nvSpPr>
          <p:cNvPr id="489" name="Rounded Rectangle 37"/>
          <p:cNvSpPr/>
          <p:nvPr/>
        </p:nvSpPr>
        <p:spPr>
          <a:xfrm>
            <a:off x="7086600" y="3067050"/>
            <a:ext cx="4495800" cy="1104900"/>
          </a:xfrm>
          <a:prstGeom prst="roundRect">
            <a:avLst>
              <a:gd name="adj" fmla="val 8620"/>
            </a:avLst>
          </a:prstGeom>
          <a:solidFill>
            <a:srgbClr val="E1F5EE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90" name="TextBox 38"/>
          <p:cNvSpPr txBox="1"/>
          <p:nvPr/>
        </p:nvSpPr>
        <p:spPr>
          <a:xfrm>
            <a:off x="7296150" y="3200400"/>
            <a:ext cx="40767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B5A46"/>
                </a:solidFill>
                <a:latin typeface="Consolas"/>
                <a:ea typeface="Consolas"/>
                <a:cs typeface="Consolas"/>
              </a:rPr>
              <a:t>derived · 基于材料推导</a:t>
            </a:r>
            <a:endParaRPr/>
          </a:p>
        </p:txBody>
      </p:sp>
      <p:sp>
        <p:nvSpPr>
          <p:cNvPr id="491" name="TextBox 39"/>
          <p:cNvSpPr txBox="1"/>
          <p:nvPr/>
        </p:nvSpPr>
        <p:spPr>
          <a:xfrm>
            <a:off x="7296150" y="3486150"/>
            <a:ext cx="4076700" cy="571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3300"/>
              </a:lnSpc>
            </a:pPr>
            <a:r>
              <a:rPr sz="1200" b="0">
                <a:solidFill>
                  <a:srgbClr val="0B5A46"/>
                </a:solidFill>
                <a:latin typeface="Microsoft YaHei"/>
                <a:ea typeface="Microsoft YaHei"/>
                <a:cs typeface="Microsoft YaHei"/>
              </a:rPr>
              <a:t>由讲义内容推导得出，必须绑定支持它的规则或片段，不能只说「由材料可得」。</a:t>
            </a:r>
            <a:endParaRPr/>
          </a:p>
        </p:txBody>
      </p:sp>
      <p:sp>
        <p:nvSpPr>
          <p:cNvPr id="492" name="Rounded Rectangle 40"/>
          <p:cNvSpPr/>
          <p:nvPr/>
        </p:nvSpPr>
        <p:spPr>
          <a:xfrm>
            <a:off x="7086600" y="4248150"/>
            <a:ext cx="4495800" cy="1257300"/>
          </a:xfrm>
          <a:prstGeom prst="roundRect">
            <a:avLst>
              <a:gd name="adj" fmla="val 7575"/>
            </a:avLst>
          </a:prstGeom>
          <a:solidFill>
            <a:srgbClr val="FDF0D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93" name="TextBox 41"/>
          <p:cNvSpPr txBox="1"/>
          <p:nvPr/>
        </p:nvSpPr>
        <p:spPr>
          <a:xfrm>
            <a:off x="7296150" y="4381500"/>
            <a:ext cx="40767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854F0B"/>
                </a:solidFill>
                <a:latin typeface="Consolas"/>
                <a:ea typeface="Consolas"/>
                <a:cs typeface="Consolas"/>
              </a:rPr>
              <a:t>ai-supplement · AI 补充</a:t>
            </a:r>
            <a:endParaRPr/>
          </a:p>
        </p:txBody>
      </p:sp>
      <p:sp>
        <p:nvSpPr>
          <p:cNvPr id="494" name="TextBox 42"/>
          <p:cNvSpPr txBox="1"/>
          <p:nvPr/>
        </p:nvSpPr>
        <p:spPr>
          <a:xfrm>
            <a:off x="7296150" y="4667250"/>
            <a:ext cx="4076700" cy="7429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3300"/>
              </a:lnSpc>
            </a:pPr>
            <a:r>
              <a:rPr sz="1200" b="0">
                <a:solidFill>
                  <a:srgbClr val="854F0B"/>
                </a:solidFill>
                <a:latin typeface="Microsoft YaHei"/>
                <a:ea typeface="Microsoft YaHei"/>
                <a:cs typeface="Microsoft YaHei"/>
              </a:rPr>
              <a:t>仅在学生按需授权后生成。界面层把依据降权为可展开的「依据详情」——</a:t>
            </a:r>
            <a:r>
              <a:rPr sz="1200" b="1">
                <a:solidFill>
                  <a:srgbClr val="854F0B"/>
                </a:solidFill>
                <a:latin typeface="Microsoft YaHei"/>
                <a:ea typeface="Microsoft YaHei"/>
                <a:cs typeface="Microsoft YaHei"/>
              </a:rPr>
              <a:t>唯一不降权的是这一类，它始终显著标注。</a:t>
            </a:r>
            <a:endParaRPr/>
          </a:p>
        </p:txBody>
      </p:sp>
      <p:sp>
        <p:nvSpPr>
          <p:cNvPr id="495" name="Rounded Rectangle 43"/>
          <p:cNvSpPr/>
          <p:nvPr/>
        </p:nvSpPr>
        <p:spPr>
          <a:xfrm>
            <a:off x="7086600" y="5581650"/>
            <a:ext cx="4495800" cy="704850"/>
          </a:xfrm>
          <a:prstGeom prst="roundRect">
            <a:avLst>
              <a:gd name="adj" fmla="val 13513"/>
            </a:avLst>
          </a:prstGeom>
          <a:solidFill>
            <a:srgbClr val="FFFFFF"/>
          </a:solidFill>
          <a:ln w="19050">
            <a:solidFill>
              <a:srgbClr val="E2E1DC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96" name="TextBox 44"/>
          <p:cNvSpPr txBox="1"/>
          <p:nvPr/>
        </p:nvSpPr>
        <p:spPr>
          <a:xfrm>
            <a:off x="7296150" y="5695950"/>
            <a:ext cx="4076700" cy="495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7500"/>
              </a:lnSpc>
            </a:pPr>
            <a:r>
              <a:rPr sz="1200" b="0">
                <a:solidFill>
                  <a:srgbClr val="6B6B66"/>
                </a:solidFill>
                <a:latin typeface="Microsoft YaHei"/>
                <a:ea typeface="Microsoft YaHei"/>
                <a:cs typeface="Microsoft YaHei"/>
              </a:rPr>
              <a:t>验证失败的内容也必须显著提示，不允许用来源标签，把不确定的东西说得像确定的。</a:t>
            </a:r>
            <a:endParaRPr/>
          </a:p>
        </p:txBody>
      </p:sp>
      <p:sp>
        <p:nvSpPr>
          <p:cNvPr id="497" name="Rectangle 45"/>
          <p:cNvSpPr/>
          <p:nvPr/>
        </p:nvSpPr>
        <p:spPr>
          <a:xfrm>
            <a:off x="609600" y="6419850"/>
            <a:ext cx="38100" cy="171450"/>
          </a:xfrm>
          <a:prstGeom prst="rect">
            <a:avLst/>
          </a:prstGeom>
          <a:solidFill>
            <a:srgbClr val="0F6E5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98" name="TextBox 46"/>
          <p:cNvSpPr txBox="1"/>
          <p:nvPr/>
        </p:nvSpPr>
        <p:spPr>
          <a:xfrm>
            <a:off x="742950" y="6362700"/>
            <a:ext cx="7239000" cy="2476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B6B66"/>
                </a:solidFill>
                <a:latin typeface="Microsoft YaHei"/>
                <a:ea typeface="Microsoft YaHei"/>
                <a:cs typeface="Microsoft YaHei"/>
              </a:rPr>
              <a:t>微积分学伴 · 大湾区 AI Coding 创新大赛</a:t>
            </a:r>
            <a:endParaRPr/>
          </a:p>
        </p:txBody>
      </p:sp>
      <p:sp>
        <p:nvSpPr>
          <p:cNvPr id="499" name="TextBox 47"/>
          <p:cNvSpPr txBox="1"/>
          <p:nvPr/>
        </p:nvSpPr>
        <p:spPr>
          <a:xfrm>
            <a:off x="9620250" y="6362700"/>
            <a:ext cx="1962150" cy="2476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050" b="0">
                <a:solidFill>
                  <a:srgbClr val="6B6B66"/>
                </a:solidFill>
                <a:latin typeface="Consolas"/>
                <a:ea typeface="Consolas"/>
                <a:cs typeface="Consolas"/>
              </a:rPr>
              <a:t>08 / 14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50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02" name="TextBox 2"/>
          <p:cNvSpPr txBox="1"/>
          <p:nvPr/>
        </p:nvSpPr>
        <p:spPr>
          <a:xfrm>
            <a:off x="609600" y="171450"/>
            <a:ext cx="8953500" cy="5143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300"/>
              </a:lnSpc>
            </a:pPr>
            <a:r>
              <a:rPr sz="2700" b="1">
                <a:solidFill>
                  <a:srgbClr val="1F1F1D"/>
                </a:solidFill>
                <a:latin typeface="Microsoft YaHei"/>
                <a:ea typeface="Microsoft YaHei"/>
                <a:cs typeface="Microsoft YaHei"/>
              </a:rPr>
              <a:t>特色四 · 零门槛的三个入口</a:t>
            </a:r>
            <a:endParaRPr/>
          </a:p>
        </p:txBody>
      </p:sp>
      <p:sp>
        <p:nvSpPr>
          <p:cNvPr id="503" name="Rounded Rectangle 3"/>
          <p:cNvSpPr/>
          <p:nvPr/>
        </p:nvSpPr>
        <p:spPr>
          <a:xfrm>
            <a:off x="9658350" y="266700"/>
            <a:ext cx="1924050" cy="285750"/>
          </a:xfrm>
          <a:prstGeom prst="roundRect">
            <a:avLst>
              <a:gd name="adj" fmla="val 20000"/>
            </a:avLst>
          </a:prstGeom>
          <a:solidFill>
            <a:srgbClr val="E1F5EE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04" name="TextBox 4"/>
          <p:cNvSpPr txBox="1"/>
          <p:nvPr/>
        </p:nvSpPr>
        <p:spPr>
          <a:xfrm>
            <a:off x="9658350" y="266700"/>
            <a:ext cx="1924050" cy="28575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83300"/>
              </a:lnSpc>
            </a:pPr>
            <a:r>
              <a:rPr sz="1050" b="0">
                <a:solidFill>
                  <a:srgbClr val="0B5A46"/>
                </a:solidFill>
                <a:latin typeface="Microsoft YaHei"/>
                <a:ea typeface="Microsoft YaHei"/>
                <a:cs typeface="Microsoft YaHei"/>
              </a:rPr>
              <a:t>文字 / 图片 / 语音</a:t>
            </a:r>
            <a:endParaRPr/>
          </a:p>
        </p:txBody>
      </p:sp>
      <p:sp>
        <p:nvSpPr>
          <p:cNvPr id="505" name="TextBox 5"/>
          <p:cNvSpPr txBox="1"/>
          <p:nvPr/>
        </p:nvSpPr>
        <p:spPr>
          <a:xfrm>
            <a:off x="609600" y="704850"/>
            <a:ext cx="9906000" cy="2857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500"/>
              </a:lnSpc>
            </a:pPr>
            <a:r>
              <a:rPr sz="1350" b="0">
                <a:solidFill>
                  <a:srgbClr val="6B6B66"/>
                </a:solidFill>
                <a:latin typeface="Microsoft YaHei"/>
                <a:ea typeface="Microsoft YaHei"/>
                <a:cs typeface="Microsoft YaHei"/>
              </a:rPr>
              <a:t>三条入口在识别之后汇进同一条管道 —— 从哪里进，后面的行为完全一致</a:t>
            </a:r>
            <a:endParaRPr/>
          </a:p>
        </p:txBody>
      </p:sp>
      <p:sp>
        <p:nvSpPr>
          <p:cNvPr id="506" name="Rectangle 6"/>
          <p:cNvSpPr/>
          <p:nvPr/>
        </p:nvSpPr>
        <p:spPr>
          <a:xfrm>
            <a:off x="609600" y="1143000"/>
            <a:ext cx="10972800" cy="14288"/>
          </a:xfrm>
          <a:prstGeom prst="rect">
            <a:avLst/>
          </a:prstGeom>
          <a:solidFill>
            <a:srgbClr val="E2E1DC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07" name="Rounded Rectangle 7"/>
          <p:cNvSpPr/>
          <p:nvPr/>
        </p:nvSpPr>
        <p:spPr>
          <a:xfrm>
            <a:off x="609600" y="1781175"/>
            <a:ext cx="2743200" cy="533400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 w="19050">
            <a:solidFill>
              <a:srgbClr val="0F6E5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08" name="Rectangle 8"/>
          <p:cNvSpPr/>
          <p:nvPr/>
        </p:nvSpPr>
        <p:spPr>
          <a:xfrm>
            <a:off x="781050" y="1924050"/>
            <a:ext cx="38100" cy="247650"/>
          </a:xfrm>
          <a:prstGeom prst="rect">
            <a:avLst/>
          </a:prstGeom>
          <a:solidFill>
            <a:srgbClr val="0F6E5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09" name="TextBox 9"/>
          <p:cNvSpPr txBox="1"/>
          <p:nvPr/>
        </p:nvSpPr>
        <p:spPr>
          <a:xfrm>
            <a:off x="933450" y="1857375"/>
            <a:ext cx="22860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75" b="1">
                <a:solidFill>
                  <a:srgbClr val="1F1F1D"/>
                </a:solidFill>
                <a:latin typeface="Microsoft YaHei"/>
                <a:ea typeface="Microsoft YaHei"/>
                <a:cs typeface="Microsoft YaHei"/>
              </a:rPr>
              <a:t>文字输入</a:t>
            </a:r>
            <a:endParaRPr/>
          </a:p>
        </p:txBody>
      </p:sp>
      <p:sp>
        <p:nvSpPr>
          <p:cNvPr id="510" name="TextBox 10"/>
          <p:cNvSpPr txBox="1"/>
          <p:nvPr/>
        </p:nvSpPr>
        <p:spPr>
          <a:xfrm>
            <a:off x="933450" y="2085975"/>
            <a:ext cx="2286000" cy="2095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B6B66"/>
                </a:solidFill>
                <a:latin typeface="Microsoft YaHei"/>
                <a:ea typeface="Microsoft YaHei"/>
                <a:cs typeface="Microsoft YaHei"/>
              </a:rPr>
              <a:t>随手粘贴即可</a:t>
            </a:r>
            <a:endParaRPr/>
          </a:p>
        </p:txBody>
      </p:sp>
      <p:sp>
        <p:nvSpPr>
          <p:cNvPr id="511" name="Rounded Rectangle 11"/>
          <p:cNvSpPr/>
          <p:nvPr/>
        </p:nvSpPr>
        <p:spPr>
          <a:xfrm>
            <a:off x="609600" y="2447925"/>
            <a:ext cx="2743200" cy="533400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 w="19050">
            <a:solidFill>
              <a:srgbClr val="0F6E5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12" name="Rectangle 12"/>
          <p:cNvSpPr/>
          <p:nvPr/>
        </p:nvSpPr>
        <p:spPr>
          <a:xfrm>
            <a:off x="781050" y="2590800"/>
            <a:ext cx="38100" cy="247650"/>
          </a:xfrm>
          <a:prstGeom prst="rect">
            <a:avLst/>
          </a:prstGeom>
          <a:solidFill>
            <a:srgbClr val="0F6E5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13" name="TextBox 13"/>
          <p:cNvSpPr txBox="1"/>
          <p:nvPr/>
        </p:nvSpPr>
        <p:spPr>
          <a:xfrm>
            <a:off x="933450" y="2524125"/>
            <a:ext cx="22860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75" b="1">
                <a:solidFill>
                  <a:srgbClr val="1F1F1D"/>
                </a:solidFill>
                <a:latin typeface="Microsoft YaHei"/>
                <a:ea typeface="Microsoft YaHei"/>
                <a:cs typeface="Microsoft YaHei"/>
              </a:rPr>
              <a:t>图片输入</a:t>
            </a:r>
            <a:endParaRPr/>
          </a:p>
        </p:txBody>
      </p:sp>
      <p:sp>
        <p:nvSpPr>
          <p:cNvPr id="514" name="TextBox 14"/>
          <p:cNvSpPr txBox="1"/>
          <p:nvPr/>
        </p:nvSpPr>
        <p:spPr>
          <a:xfrm>
            <a:off x="933450" y="2752725"/>
            <a:ext cx="2286000" cy="2095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B6B66"/>
                </a:solidFill>
                <a:latin typeface="Microsoft YaHei"/>
                <a:ea typeface="Microsoft YaHei"/>
                <a:cs typeface="Microsoft YaHei"/>
              </a:rPr>
              <a:t>拍照 / 截图讲义</a:t>
            </a:r>
            <a:endParaRPr/>
          </a:p>
        </p:txBody>
      </p:sp>
      <p:sp>
        <p:nvSpPr>
          <p:cNvPr id="515" name="Rounded Rectangle 15"/>
          <p:cNvSpPr/>
          <p:nvPr/>
        </p:nvSpPr>
        <p:spPr>
          <a:xfrm>
            <a:off x="609600" y="3114675"/>
            <a:ext cx="2743200" cy="533400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 w="19050">
            <a:solidFill>
              <a:srgbClr val="0F6E5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16" name="Rectangle 16"/>
          <p:cNvSpPr/>
          <p:nvPr/>
        </p:nvSpPr>
        <p:spPr>
          <a:xfrm>
            <a:off x="781050" y="3257550"/>
            <a:ext cx="38100" cy="247650"/>
          </a:xfrm>
          <a:prstGeom prst="rect">
            <a:avLst/>
          </a:prstGeom>
          <a:solidFill>
            <a:srgbClr val="0F6E5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17" name="TextBox 17"/>
          <p:cNvSpPr txBox="1"/>
          <p:nvPr/>
        </p:nvSpPr>
        <p:spPr>
          <a:xfrm>
            <a:off x="933450" y="3190875"/>
            <a:ext cx="22860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75" b="1">
                <a:solidFill>
                  <a:srgbClr val="1F1F1D"/>
                </a:solidFill>
                <a:latin typeface="Microsoft YaHei"/>
                <a:ea typeface="Microsoft YaHei"/>
                <a:cs typeface="Microsoft YaHei"/>
              </a:rPr>
              <a:t>语音输入</a:t>
            </a:r>
            <a:endParaRPr/>
          </a:p>
        </p:txBody>
      </p:sp>
      <p:sp>
        <p:nvSpPr>
          <p:cNvPr id="518" name="TextBox 18"/>
          <p:cNvSpPr txBox="1"/>
          <p:nvPr/>
        </p:nvSpPr>
        <p:spPr>
          <a:xfrm>
            <a:off x="933450" y="3419475"/>
            <a:ext cx="2286000" cy="2095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B6B66"/>
                </a:solidFill>
                <a:latin typeface="Microsoft YaHei"/>
                <a:ea typeface="Microsoft YaHei"/>
                <a:cs typeface="Microsoft YaHei"/>
              </a:rPr>
              <a:t>浏览器内置识别</a:t>
            </a:r>
            <a:endParaRPr/>
          </a:p>
        </p:txBody>
      </p:sp>
      <p:sp>
        <p:nvSpPr>
          <p:cNvPr id="519" name="Freeform 19"/>
          <p:cNvSpPr/>
          <p:nvPr/>
        </p:nvSpPr>
        <p:spPr>
          <a:xfrm>
            <a:off x="3352800" y="2047875"/>
            <a:ext cx="457200" cy="666750"/>
          </a:xfrm>
          <a:custGeom>
            <a:avLst/>
            <a:gdLst/>
            <a:ahLst/>
            <a:cxnLst/>
            <a:rect l="l" t="t" r="r" b="b"/>
            <a:pathLst>
              <a:path w="457200" h="666750">
                <a:moveTo>
                  <a:pt x="0" y="0"/>
                </a:moveTo>
                <a:lnTo>
                  <a:pt x="457200" y="666750"/>
                </a:lnTo>
              </a:path>
            </a:pathLst>
          </a:custGeom>
          <a:noFill/>
          <a:ln w="22860">
            <a:solidFill>
              <a:srgbClr val="0F6E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0" name="Rectangle 20"/>
          <p:cNvSpPr/>
          <p:nvPr/>
        </p:nvSpPr>
        <p:spPr>
          <a:xfrm>
            <a:off x="3352800" y="2714625"/>
            <a:ext cx="457200" cy="14288"/>
          </a:xfrm>
          <a:prstGeom prst="rect">
            <a:avLst/>
          </a:prstGeom>
          <a:solidFill>
            <a:srgbClr val="0F6E5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21" name="Freeform 21"/>
          <p:cNvSpPr/>
          <p:nvPr/>
        </p:nvSpPr>
        <p:spPr>
          <a:xfrm>
            <a:off x="3352800" y="2714625"/>
            <a:ext cx="457200" cy="666750"/>
          </a:xfrm>
          <a:custGeom>
            <a:avLst/>
            <a:gdLst/>
            <a:ahLst/>
            <a:cxnLst/>
            <a:rect l="l" t="t" r="r" b="b"/>
            <a:pathLst>
              <a:path w="457200" h="666750">
                <a:moveTo>
                  <a:pt x="0" y="666750"/>
                </a:moveTo>
                <a:lnTo>
                  <a:pt x="457200" y="0"/>
                </a:lnTo>
              </a:path>
            </a:pathLst>
          </a:custGeom>
          <a:noFill/>
          <a:ln w="22860">
            <a:solidFill>
              <a:srgbClr val="0F6E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2" name="Rounded Rectangle 22"/>
          <p:cNvSpPr/>
          <p:nvPr/>
        </p:nvSpPr>
        <p:spPr>
          <a:xfrm>
            <a:off x="3810000" y="1781175"/>
            <a:ext cx="3429000" cy="1866900"/>
          </a:xfrm>
          <a:prstGeom prst="roundRect">
            <a:avLst>
              <a:gd name="adj" fmla="val 5102"/>
            </a:avLst>
          </a:prstGeom>
          <a:solidFill>
            <a:srgbClr val="E1F5EE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23" name="TextBox 23"/>
          <p:cNvSpPr txBox="1"/>
          <p:nvPr/>
        </p:nvSpPr>
        <p:spPr>
          <a:xfrm>
            <a:off x="4019550" y="2019300"/>
            <a:ext cx="30099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75" b="0">
                <a:solidFill>
                  <a:srgbClr val="0B5A46"/>
                </a:solidFill>
                <a:latin typeface="Microsoft YaHei"/>
                <a:ea typeface="Microsoft YaHei"/>
                <a:cs typeface="Microsoft YaHei"/>
              </a:rPr>
              <a:t>合流点</a:t>
            </a:r>
            <a:endParaRPr/>
          </a:p>
        </p:txBody>
      </p:sp>
      <p:sp>
        <p:nvSpPr>
          <p:cNvPr id="524" name="TextBox 24"/>
          <p:cNvSpPr txBox="1"/>
          <p:nvPr/>
        </p:nvSpPr>
        <p:spPr>
          <a:xfrm>
            <a:off x="4019550" y="2286000"/>
            <a:ext cx="3009900" cy="2857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300"/>
              </a:lnSpc>
            </a:pPr>
            <a:r>
              <a:rPr sz="1425" b="1">
                <a:solidFill>
                  <a:srgbClr val="0B5A46"/>
                </a:solidFill>
                <a:latin typeface="Microsoft YaHei"/>
                <a:ea typeface="Microsoft YaHei"/>
                <a:cs typeface="Microsoft YaHei"/>
              </a:rPr>
              <a:t>同一条下游管道</a:t>
            </a:r>
            <a:endParaRPr/>
          </a:p>
        </p:txBody>
      </p:sp>
      <p:sp>
        <p:nvSpPr>
          <p:cNvPr id="525" name="TextBox 25"/>
          <p:cNvSpPr txBox="1"/>
          <p:nvPr/>
        </p:nvSpPr>
        <p:spPr>
          <a:xfrm>
            <a:off x="4019550" y="2628900"/>
            <a:ext cx="3009900" cy="876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1700"/>
              </a:lnSpc>
            </a:pPr>
            <a:r>
              <a:rPr sz="1125" b="0">
                <a:solidFill>
                  <a:srgbClr val="0B5A46"/>
                </a:solidFill>
                <a:latin typeface="Microsoft YaHei"/>
                <a:ea typeface="Microsoft YaHei"/>
                <a:cs typeface="Microsoft YaHei"/>
              </a:rPr>
              <a:t>识别之后进入同一条解析与落盘链路：不同入口，后端拿到的是同一种东西。</a:t>
            </a:r>
            <a:endParaRPr/>
          </a:p>
        </p:txBody>
      </p:sp>
      <p:sp>
        <p:nvSpPr>
          <p:cNvPr id="526" name="Freeform 26"/>
          <p:cNvSpPr/>
          <p:nvPr/>
        </p:nvSpPr>
        <p:spPr>
          <a:xfrm>
            <a:off x="7239000" y="1971675"/>
            <a:ext cx="457200" cy="742950"/>
          </a:xfrm>
          <a:custGeom>
            <a:avLst/>
            <a:gdLst/>
            <a:ahLst/>
            <a:cxnLst/>
            <a:rect l="l" t="t" r="r" b="b"/>
            <a:pathLst>
              <a:path w="457200" h="742950">
                <a:moveTo>
                  <a:pt x="0" y="742950"/>
                </a:moveTo>
                <a:lnTo>
                  <a:pt x="457200" y="0"/>
                </a:lnTo>
              </a:path>
            </a:pathLst>
          </a:custGeom>
          <a:noFill/>
          <a:ln w="22860">
            <a:solidFill>
              <a:srgbClr val="0F6E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7" name="Freeform 27"/>
          <p:cNvSpPr/>
          <p:nvPr/>
        </p:nvSpPr>
        <p:spPr>
          <a:xfrm>
            <a:off x="7239000" y="2466975"/>
            <a:ext cx="457200" cy="247650"/>
          </a:xfrm>
          <a:custGeom>
            <a:avLst/>
            <a:gdLst/>
            <a:ahLst/>
            <a:cxnLst/>
            <a:rect l="l" t="t" r="r" b="b"/>
            <a:pathLst>
              <a:path w="457200" h="247650">
                <a:moveTo>
                  <a:pt x="0" y="247650"/>
                </a:moveTo>
                <a:lnTo>
                  <a:pt x="457200" y="0"/>
                </a:lnTo>
              </a:path>
            </a:pathLst>
          </a:custGeom>
          <a:noFill/>
          <a:ln w="22860">
            <a:solidFill>
              <a:srgbClr val="0F6E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8" name="Freeform 28"/>
          <p:cNvSpPr/>
          <p:nvPr/>
        </p:nvSpPr>
        <p:spPr>
          <a:xfrm>
            <a:off x="7239000" y="2714625"/>
            <a:ext cx="457200" cy="247650"/>
          </a:xfrm>
          <a:custGeom>
            <a:avLst/>
            <a:gdLst/>
            <a:ahLst/>
            <a:cxnLst/>
            <a:rect l="l" t="t" r="r" b="b"/>
            <a:pathLst>
              <a:path w="457200" h="247650">
                <a:moveTo>
                  <a:pt x="0" y="0"/>
                </a:moveTo>
                <a:lnTo>
                  <a:pt x="457200" y="247650"/>
                </a:lnTo>
              </a:path>
            </a:pathLst>
          </a:custGeom>
          <a:noFill/>
          <a:ln w="22860">
            <a:solidFill>
              <a:srgbClr val="0F6E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9" name="Freeform 29"/>
          <p:cNvSpPr/>
          <p:nvPr/>
        </p:nvSpPr>
        <p:spPr>
          <a:xfrm>
            <a:off x="7239000" y="2714625"/>
            <a:ext cx="457200" cy="742950"/>
          </a:xfrm>
          <a:custGeom>
            <a:avLst/>
            <a:gdLst/>
            <a:ahLst/>
            <a:cxnLst/>
            <a:rect l="l" t="t" r="r" b="b"/>
            <a:pathLst>
              <a:path w="457200" h="742950">
                <a:moveTo>
                  <a:pt x="0" y="0"/>
                </a:moveTo>
                <a:lnTo>
                  <a:pt x="457200" y="742950"/>
                </a:lnTo>
              </a:path>
            </a:pathLst>
          </a:custGeom>
          <a:noFill/>
          <a:ln w="22860">
            <a:solidFill>
              <a:srgbClr val="0F6E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0" name="Rounded Rectangle 30"/>
          <p:cNvSpPr/>
          <p:nvPr/>
        </p:nvSpPr>
        <p:spPr>
          <a:xfrm>
            <a:off x="7696200" y="1762125"/>
            <a:ext cx="3886200" cy="419100"/>
          </a:xfrm>
          <a:prstGeom prst="roundRect">
            <a:avLst>
              <a:gd name="adj" fmla="val 18181"/>
            </a:avLst>
          </a:prstGeom>
          <a:solidFill>
            <a:srgbClr val="FFFFFF"/>
          </a:solidFill>
          <a:ln w="19050">
            <a:solidFill>
              <a:srgbClr val="E2E1DC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31" name="TextBox 31"/>
          <p:cNvSpPr txBox="1"/>
          <p:nvPr/>
        </p:nvSpPr>
        <p:spPr>
          <a:xfrm>
            <a:off x="7886700" y="1762125"/>
            <a:ext cx="3619500" cy="4191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F1F1D"/>
                </a:solidFill>
                <a:latin typeface="Microsoft YaHei"/>
                <a:ea typeface="Microsoft YaHei"/>
                <a:cs typeface="Microsoft YaHei"/>
              </a:rPr>
              <a:t>识别文本与公式 LaTeX</a:t>
            </a:r>
            <a:endParaRPr/>
          </a:p>
        </p:txBody>
      </p:sp>
      <p:sp>
        <p:nvSpPr>
          <p:cNvPr id="532" name="Rounded Rectangle 32"/>
          <p:cNvSpPr/>
          <p:nvPr/>
        </p:nvSpPr>
        <p:spPr>
          <a:xfrm>
            <a:off x="7696200" y="2257425"/>
            <a:ext cx="3886200" cy="419100"/>
          </a:xfrm>
          <a:prstGeom prst="roundRect">
            <a:avLst>
              <a:gd name="adj" fmla="val 18181"/>
            </a:avLst>
          </a:prstGeom>
          <a:solidFill>
            <a:srgbClr val="FFFFFF"/>
          </a:solidFill>
          <a:ln w="19050">
            <a:solidFill>
              <a:srgbClr val="E2E1DC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33" name="TextBox 33"/>
          <p:cNvSpPr txBox="1"/>
          <p:nvPr/>
        </p:nvSpPr>
        <p:spPr>
          <a:xfrm>
            <a:off x="7886700" y="2257425"/>
            <a:ext cx="3619500" cy="4191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F1F1D"/>
                </a:solidFill>
                <a:latin typeface="Microsoft YaHei"/>
                <a:ea typeface="Microsoft YaHei"/>
                <a:cs typeface="Microsoft YaHei"/>
              </a:rPr>
              <a:t>知识点与前置依赖</a:t>
            </a:r>
            <a:endParaRPr/>
          </a:p>
        </p:txBody>
      </p:sp>
      <p:sp>
        <p:nvSpPr>
          <p:cNvPr id="534" name="Rounded Rectangle 34"/>
          <p:cNvSpPr/>
          <p:nvPr/>
        </p:nvSpPr>
        <p:spPr>
          <a:xfrm>
            <a:off x="7696200" y="2752725"/>
            <a:ext cx="3886200" cy="419100"/>
          </a:xfrm>
          <a:prstGeom prst="roundRect">
            <a:avLst>
              <a:gd name="adj" fmla="val 18181"/>
            </a:avLst>
          </a:prstGeom>
          <a:solidFill>
            <a:srgbClr val="FFFFFF"/>
          </a:solidFill>
          <a:ln w="19050">
            <a:solidFill>
              <a:srgbClr val="E2E1DC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35" name="TextBox 35"/>
          <p:cNvSpPr txBox="1"/>
          <p:nvPr/>
        </p:nvSpPr>
        <p:spPr>
          <a:xfrm>
            <a:off x="7886700" y="2752725"/>
            <a:ext cx="3619500" cy="4191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F1F1D"/>
                </a:solidFill>
                <a:latin typeface="Microsoft YaHei"/>
                <a:ea typeface="Microsoft YaHei"/>
                <a:cs typeface="Microsoft YaHei"/>
              </a:rPr>
              <a:t>图谱落盘与邻域查询</a:t>
            </a:r>
            <a:endParaRPr/>
          </a:p>
        </p:txBody>
      </p:sp>
      <p:sp>
        <p:nvSpPr>
          <p:cNvPr id="536" name="Rounded Rectangle 36"/>
          <p:cNvSpPr/>
          <p:nvPr/>
        </p:nvSpPr>
        <p:spPr>
          <a:xfrm>
            <a:off x="7696200" y="3248025"/>
            <a:ext cx="3886200" cy="419100"/>
          </a:xfrm>
          <a:prstGeom prst="roundRect">
            <a:avLst>
              <a:gd name="adj" fmla="val 18181"/>
            </a:avLst>
          </a:prstGeom>
          <a:solidFill>
            <a:srgbClr val="E1F5EE"/>
          </a:solidFill>
          <a:ln w="19050">
            <a:solidFill>
              <a:srgbClr val="0F6E5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37" name="TextBox 37"/>
          <p:cNvSpPr txBox="1"/>
          <p:nvPr/>
        </p:nvSpPr>
        <p:spPr>
          <a:xfrm>
            <a:off x="7886700" y="3248025"/>
            <a:ext cx="3619500" cy="4191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0B5A46"/>
                </a:solidFill>
                <a:latin typeface="Microsoft YaHei"/>
                <a:ea typeface="Microsoft YaHei"/>
                <a:cs typeface="Microsoft YaHei"/>
              </a:rPr>
              <a:t>答疑、校验与来源标注</a:t>
            </a:r>
            <a:endParaRPr/>
          </a:p>
        </p:txBody>
      </p:sp>
      <p:sp>
        <p:nvSpPr>
          <p:cNvPr id="538" name="Rounded Rectangle 38"/>
          <p:cNvSpPr/>
          <p:nvPr/>
        </p:nvSpPr>
        <p:spPr>
          <a:xfrm>
            <a:off x="609600" y="4210050"/>
            <a:ext cx="4476750" cy="2076450"/>
          </a:xfrm>
          <a:prstGeom prst="roundRect">
            <a:avLst>
              <a:gd name="adj" fmla="val 5504"/>
            </a:avLst>
          </a:prstGeom>
          <a:solidFill>
            <a:srgbClr val="FFFFFF"/>
          </a:solidFill>
          <a:ln w="19050">
            <a:solidFill>
              <a:srgbClr val="0F6E5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39" name="TextBox 39"/>
          <p:cNvSpPr txBox="1"/>
          <p:nvPr/>
        </p:nvSpPr>
        <p:spPr>
          <a:xfrm>
            <a:off x="800100" y="4362450"/>
            <a:ext cx="4095750" cy="2667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300"/>
              </a:lnSpc>
            </a:pPr>
            <a:r>
              <a:rPr sz="1425" b="1">
                <a:solidFill>
                  <a:srgbClr val="1F1F1D"/>
                </a:solidFill>
                <a:latin typeface="Microsoft YaHei"/>
                <a:ea typeface="Microsoft YaHei"/>
                <a:cs typeface="Microsoft YaHei"/>
              </a:rPr>
              <a:t>图片 · 已接入并线上实测</a:t>
            </a:r>
            <a:endParaRPr/>
          </a:p>
        </p:txBody>
      </p:sp>
      <p:sp>
        <p:nvSpPr>
          <p:cNvPr id="540" name="TextBox 40"/>
          <p:cNvSpPr txBox="1"/>
          <p:nvPr/>
        </p:nvSpPr>
        <p:spPr>
          <a:xfrm>
            <a:off x="800100" y="4686300"/>
            <a:ext cx="2819400" cy="11239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800"/>
              </a:lnSpc>
            </a:pPr>
            <a:r>
              <a:rPr sz="1200" b="0">
                <a:solidFill>
                  <a:srgbClr val="6B6B66"/>
                </a:solidFill>
                <a:latin typeface="Microsoft YaHei"/>
                <a:ea typeface="Microsoft YaHei"/>
                <a:cs typeface="Microsoft YaHei"/>
              </a:rPr>
              <a:t>上传一张图 → 服务端转成文本与 LaTeX，可就地纠错。实测：「抛物线 F(X)=X^2，P、Q 两点、过 P 的切线（红）与割线 PQ（绿）」</a:t>
            </a:r>
          </a:p>
        </p:txBody>
      </p:sp>
      <p:sp>
        <p:nvSpPr>
          <p:cNvPr id="541" name="Freeform 41"/>
          <p:cNvSpPr/>
          <p:nvPr/>
        </p:nvSpPr>
        <p:spPr>
          <a:xfrm>
            <a:off x="800100" y="5867400"/>
            <a:ext cx="4095750" cy="7620"/>
          </a:xfrm>
          <a:custGeom>
            <a:avLst/>
            <a:gdLst/>
            <a:ahLst/>
            <a:cxnLst/>
            <a:rect l="l" t="t" r="r" b="b"/>
            <a:pathLst>
              <a:path w="4095750" h="7620">
                <a:moveTo>
                  <a:pt x="0" y="0"/>
                </a:moveTo>
                <a:lnTo>
                  <a:pt x="4095750" y="7620"/>
                </a:lnTo>
              </a:path>
            </a:pathLst>
          </a:custGeom>
          <a:noFill/>
          <a:ln w="12700">
            <a:solidFill>
              <a:srgbClr val="E2E1D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2" name="TextBox 42"/>
          <p:cNvSpPr txBox="1"/>
          <p:nvPr/>
        </p:nvSpPr>
        <p:spPr>
          <a:xfrm>
            <a:off x="800100" y="5943600"/>
            <a:ext cx="4089400" cy="2476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300"/>
              </a:lnSpc>
            </a:pPr>
            <a:r>
              <a:rPr sz="1125" b="0">
                <a:solidFill>
                  <a:srgbClr val="0F6E56"/>
                </a:solidFill>
                <a:latin typeface="Consolas"/>
                <a:ea typeface="Consolas"/>
                <a:cs typeface="Consolas"/>
              </a:rPr>
              <a:t>示例图 derivative.png　HTTP 200 / 3.81 s</a:t>
            </a:r>
          </a:p>
        </p:txBody>
      </p:sp>
      <p:sp>
        <p:nvSpPr>
          <p:cNvPr id="543" name="Rounded Rectangle 43"/>
          <p:cNvSpPr/>
          <p:nvPr/>
        </p:nvSpPr>
        <p:spPr>
          <a:xfrm>
            <a:off x="5238750" y="4210050"/>
            <a:ext cx="3200400" cy="2076450"/>
          </a:xfrm>
          <a:prstGeom prst="roundRect">
            <a:avLst>
              <a:gd name="adj" fmla="val 5504"/>
            </a:avLst>
          </a:prstGeom>
          <a:solidFill>
            <a:srgbClr val="FFFFFF"/>
          </a:solidFill>
          <a:ln w="19050">
            <a:solidFill>
              <a:srgbClr val="E2E1DC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44" name="TextBox 44"/>
          <p:cNvSpPr txBox="1"/>
          <p:nvPr/>
        </p:nvSpPr>
        <p:spPr>
          <a:xfrm>
            <a:off x="5429250" y="4362450"/>
            <a:ext cx="2819400" cy="2667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300"/>
              </a:lnSpc>
            </a:pPr>
            <a:r>
              <a:rPr sz="1425" b="1">
                <a:solidFill>
                  <a:srgbClr val="1F1F1D"/>
                </a:solidFill>
                <a:latin typeface="Microsoft YaHei"/>
                <a:ea typeface="Microsoft YaHei"/>
                <a:cs typeface="Microsoft YaHei"/>
              </a:rPr>
              <a:t>文字 · 最基础入口</a:t>
            </a:r>
            <a:endParaRPr/>
          </a:p>
        </p:txBody>
      </p:sp>
      <p:sp>
        <p:nvSpPr>
          <p:cNvPr id="545" name="TextBox 45"/>
          <p:cNvSpPr txBox="1"/>
          <p:nvPr/>
        </p:nvSpPr>
        <p:spPr>
          <a:xfrm>
            <a:off x="5429250" y="4686300"/>
            <a:ext cx="2819400" cy="11239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800"/>
              </a:lnSpc>
            </a:pPr>
            <a:r>
              <a:rPr sz="1200" b="0">
                <a:solidFill>
                  <a:srgbClr val="6B6B66"/>
                </a:solidFill>
                <a:latin typeface="Microsoft YaHei"/>
                <a:ea typeface="Microsoft YaHei"/>
                <a:cs typeface="Microsoft YaHei"/>
              </a:rPr>
              <a:t>粘贴一段讲义就能开始。纯文字输入时，界面不会出现任何公式相关的提示 —— 「这次没识别出公式」不是异常，不报警。</a:t>
            </a:r>
            <a:endParaRPr/>
          </a:p>
        </p:txBody>
      </p:sp>
      <p:sp>
        <p:nvSpPr>
          <p:cNvPr id="546" name="Freeform 46"/>
          <p:cNvSpPr/>
          <p:nvPr/>
        </p:nvSpPr>
        <p:spPr>
          <a:xfrm>
            <a:off x="5429250" y="5867400"/>
            <a:ext cx="2819400" cy="7620"/>
          </a:xfrm>
          <a:custGeom>
            <a:avLst/>
            <a:gdLst/>
            <a:ahLst/>
            <a:cxnLst/>
            <a:rect l="l" t="t" r="r" b="b"/>
            <a:pathLst>
              <a:path w="2819400" h="7620">
                <a:moveTo>
                  <a:pt x="0" y="0"/>
                </a:moveTo>
                <a:lnTo>
                  <a:pt x="2819400" y="7620"/>
                </a:lnTo>
              </a:path>
            </a:pathLst>
          </a:custGeom>
          <a:noFill/>
          <a:ln w="12700">
            <a:solidFill>
              <a:srgbClr val="E2E1D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7" name="TextBox 47"/>
          <p:cNvSpPr txBox="1"/>
          <p:nvPr/>
        </p:nvSpPr>
        <p:spPr>
          <a:xfrm>
            <a:off x="5429250" y="5943600"/>
            <a:ext cx="2819400" cy="2476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300"/>
              </a:lnSpc>
            </a:pPr>
            <a:r>
              <a:rPr sz="1050" b="0">
                <a:solidFill>
                  <a:srgbClr val="0F6E56"/>
                </a:solidFill>
                <a:latin typeface="Consolas"/>
                <a:ea typeface="Consolas"/>
                <a:cs typeface="Consolas"/>
              </a:rPr>
              <a:t>零材料也能用</a:t>
            </a:r>
            <a:endParaRPr/>
          </a:p>
        </p:txBody>
      </p:sp>
      <p:sp>
        <p:nvSpPr>
          <p:cNvPr id="548" name="Rounded Rectangle 48"/>
          <p:cNvSpPr/>
          <p:nvPr/>
        </p:nvSpPr>
        <p:spPr>
          <a:xfrm>
            <a:off x="8591550" y="4210050"/>
            <a:ext cx="2990850" cy="2076450"/>
          </a:xfrm>
          <a:prstGeom prst="roundRect">
            <a:avLst>
              <a:gd name="adj" fmla="val 5504"/>
            </a:avLst>
          </a:prstGeom>
          <a:solidFill>
            <a:srgbClr val="FDF0D5"/>
          </a:solidFill>
          <a:ln w="19050">
            <a:solidFill>
              <a:srgbClr val="854F0B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49" name="TextBox 49"/>
          <p:cNvSpPr txBox="1"/>
          <p:nvPr/>
        </p:nvSpPr>
        <p:spPr>
          <a:xfrm>
            <a:off x="8782050" y="4362450"/>
            <a:ext cx="2609850" cy="2667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300"/>
              </a:lnSpc>
            </a:pPr>
            <a:r>
              <a:rPr sz="1425" b="1">
                <a:solidFill>
                  <a:srgbClr val="854F0B"/>
                </a:solidFill>
                <a:latin typeface="Microsoft YaHei"/>
                <a:ea typeface="Microsoft YaHei"/>
                <a:cs typeface="Microsoft YaHei"/>
              </a:rPr>
              <a:t>语音 · 能力边界如实说</a:t>
            </a:r>
            <a:endParaRPr/>
          </a:p>
        </p:txBody>
      </p:sp>
      <p:sp>
        <p:nvSpPr>
          <p:cNvPr id="550" name="TextBox 50"/>
          <p:cNvSpPr txBox="1"/>
          <p:nvPr/>
        </p:nvSpPr>
        <p:spPr>
          <a:xfrm>
            <a:off x="8782050" y="4686300"/>
            <a:ext cx="2609850" cy="11239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800"/>
              </a:lnSpc>
            </a:pPr>
            <a:r>
              <a:rPr lang="zh-CN" sz="1200" b="0">
                <a:solidFill>
                  <a:srgbClr val="854F0B"/>
                </a:solidFill>
                <a:latin typeface="Microsoft YaHei"/>
                <a:ea typeface="Microsoft YaHei"/>
                <a:cs typeface="Microsoft YaHei"/>
              </a:rPr>
              <a:t>走浏览器内置识别，服务端不做语音转写。转写结果填进输入框但不自动提交；已在 Chrome 实测能顺利转出文字。</a:t>
            </a:r>
            <a:r>
              <a:rPr lang="zh-CN" sz="1200" b="0">
                <a:solidFill>
                  <a:srgbClr val="854F0B"/>
                </a:solidFill>
                <a:latin typeface="Microsoft YaHei"/>
                <a:ea typeface="Microsoft YaHei"/>
                <a:cs typeface="Microsoft YaHei"/>
              </a:rPr>
              <a:t></a:t>
            </a:r>
            <a:endParaRPr lang="zh-CN" sz="1200" b="0">
              <a:solidFill>
                <a:srgbClr val="854F0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51" name="Freeform 51"/>
          <p:cNvSpPr/>
          <p:nvPr/>
        </p:nvSpPr>
        <p:spPr>
          <a:xfrm>
            <a:off x="8782050" y="5867400"/>
            <a:ext cx="2609850" cy="7620"/>
          </a:xfrm>
          <a:custGeom>
            <a:avLst/>
            <a:gdLst/>
            <a:ahLst/>
            <a:cxnLst/>
            <a:rect l="l" t="t" r="r" b="b"/>
            <a:pathLst>
              <a:path w="2609850" h="7620">
                <a:moveTo>
                  <a:pt x="0" y="0"/>
                </a:moveTo>
                <a:lnTo>
                  <a:pt x="2609850" y="7620"/>
                </a:lnTo>
              </a:path>
            </a:pathLst>
          </a:custGeom>
          <a:noFill/>
          <a:ln w="12700">
            <a:solidFill>
              <a:srgbClr val="854F0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2" name="TextBox 52"/>
          <p:cNvSpPr txBox="1"/>
          <p:nvPr/>
        </p:nvSpPr>
        <p:spPr>
          <a:xfrm>
            <a:off x="8782050" y="5943600"/>
            <a:ext cx="2609850" cy="2476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300"/>
              </a:lnSpc>
            </a:pPr>
            <a:r>
              <a:rPr sz="975" b="0">
                <a:solidFill>
                  <a:srgbClr val="854F0B"/>
                </a:solidFill>
                <a:latin typeface="Consolas"/>
                <a:ea typeface="Consolas"/>
                <a:cs typeface="Consolas"/>
              </a:rPr>
              <a:t>audio 通道如实标为未接入</a:t>
            </a:r>
            <a:endParaRPr/>
          </a:p>
        </p:txBody>
      </p:sp>
      <p:sp>
        <p:nvSpPr>
          <p:cNvPr id="553" name="Rectangle 53"/>
          <p:cNvSpPr/>
          <p:nvPr/>
        </p:nvSpPr>
        <p:spPr>
          <a:xfrm>
            <a:off x="609600" y="6419850"/>
            <a:ext cx="38100" cy="171450"/>
          </a:xfrm>
          <a:prstGeom prst="rect">
            <a:avLst/>
          </a:prstGeom>
          <a:solidFill>
            <a:srgbClr val="0F6E5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54" name="TextBox 54"/>
          <p:cNvSpPr txBox="1"/>
          <p:nvPr/>
        </p:nvSpPr>
        <p:spPr>
          <a:xfrm>
            <a:off x="742950" y="6362700"/>
            <a:ext cx="7239000" cy="2476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B6B66"/>
                </a:solidFill>
                <a:latin typeface="Microsoft YaHei"/>
                <a:ea typeface="Microsoft YaHei"/>
                <a:cs typeface="Microsoft YaHei"/>
              </a:rPr>
              <a:t>微积分学伴 · 大湾区 AI Coding 创新大赛</a:t>
            </a:r>
            <a:endParaRPr/>
          </a:p>
        </p:txBody>
      </p:sp>
      <p:sp>
        <p:nvSpPr>
          <p:cNvPr id="555" name="TextBox 55"/>
          <p:cNvSpPr txBox="1"/>
          <p:nvPr/>
        </p:nvSpPr>
        <p:spPr>
          <a:xfrm>
            <a:off x="9620250" y="6362700"/>
            <a:ext cx="1962150" cy="2476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050" b="0">
                <a:solidFill>
                  <a:srgbClr val="6B6B66"/>
                </a:solidFill>
                <a:latin typeface="Consolas"/>
                <a:ea typeface="Consolas"/>
                <a:cs typeface="Consolas"/>
              </a:rPr>
              <a:t>09 / 14</a:t>
            </a:r>
            <a:endParaRPr/>
          </a:p>
        </p:txBody>
      </p:sp>
      <p:pic>
        <p:nvPicPr>
          <p:cNvPr id="556" name=""/>
          <p:cNvPicPr/>
          <p:nvPr/>
        </p:nvPicPr>
        <p:blipFill>
          <a:blip r:embed="rId2"/>
          <a:stretch/>
        </p:blipFill>
        <p:spPr>
          <a:xfrm>
            <a:off x="3784600" y="4699000"/>
            <a:ext cx="1200727" cy="825500"/>
          </a:xfrm>
          <a:prstGeom prst="rect"/>
        </p:spPr>
      </p:pic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2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"/>
          <p:cNvSpPr txBox="1"/>
          <p:nvPr/>
        </p:nvSpPr>
        <p:spPr>
          <a:xfrm>
            <a:off x="609600" y="171450"/>
            <a:ext cx="8953500" cy="5143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300"/>
              </a:lnSpc>
            </a:pPr>
            <a:r>
              <a:rPr sz="2700" b="1">
                <a:solidFill>
                  <a:srgbClr val="1F1F1D"/>
                </a:solidFill>
                <a:latin typeface="Microsoft YaHei"/>
                <a:ea typeface="Microsoft YaHei"/>
                <a:cs typeface="Microsoft YaHei"/>
              </a:rPr>
              <a:t>特色五 · 边界诚实</a:t>
            </a:r>
            <a:endParaRPr/>
          </a:p>
        </p:txBody>
      </p:sp>
      <p:sp>
        <p:nvSpPr>
          <p:cNvPr id="23" name="Rounded Rectangle 3"/>
          <p:cNvSpPr/>
          <p:nvPr/>
        </p:nvSpPr>
        <p:spPr>
          <a:xfrm>
            <a:off x="10658475" y="266700"/>
            <a:ext cx="923925" cy="285750"/>
          </a:xfrm>
          <a:prstGeom prst="roundRect">
            <a:avLst>
              <a:gd name="adj" fmla="val 20000"/>
            </a:avLst>
          </a:prstGeom>
          <a:solidFill>
            <a:srgbClr val="E1F5EE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4"/>
          <p:cNvSpPr txBox="1"/>
          <p:nvPr/>
        </p:nvSpPr>
        <p:spPr>
          <a:xfrm>
            <a:off x="10658475" y="266700"/>
            <a:ext cx="923925" cy="28575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83300"/>
              </a:lnSpc>
            </a:pPr>
            <a:r>
              <a:rPr sz="1050" b="0">
                <a:solidFill>
                  <a:srgbClr val="0B5A46"/>
                </a:solidFill>
                <a:latin typeface="Microsoft YaHei"/>
                <a:ea typeface="Microsoft YaHei"/>
                <a:cs typeface="Microsoft YaHei"/>
              </a:rPr>
              <a:t>写在界面上</a:t>
            </a:r>
            <a:endParaRPr/>
          </a:p>
        </p:txBody>
      </p:sp>
      <p:sp>
        <p:nvSpPr>
          <p:cNvPr id="25" name="TextBox 5"/>
          <p:cNvSpPr txBox="1"/>
          <p:nvPr/>
        </p:nvSpPr>
        <p:spPr>
          <a:xfrm>
            <a:off x="609600" y="704850"/>
            <a:ext cx="9906000" cy="2857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500"/>
              </a:lnSpc>
            </a:pPr>
            <a:r>
              <a:rPr sz="1350" b="0">
                <a:solidFill>
                  <a:srgbClr val="6B6B66"/>
                </a:solidFill>
                <a:latin typeface="Microsoft YaHei"/>
                <a:ea typeface="Microsoft YaHei"/>
                <a:cs typeface="Microsoft YaHei"/>
              </a:rPr>
              <a:t>解释「系统会做什么」的话可以删；说明「系统做不到什么」的话必须留</a:t>
            </a:r>
            <a:endParaRPr/>
          </a:p>
        </p:txBody>
      </p:sp>
      <p:sp>
        <p:nvSpPr>
          <p:cNvPr id="26" name="Rectangle 6"/>
          <p:cNvSpPr/>
          <p:nvPr/>
        </p:nvSpPr>
        <p:spPr>
          <a:xfrm>
            <a:off x="609600" y="1143000"/>
            <a:ext cx="10972800" cy="14288"/>
          </a:xfrm>
          <a:prstGeom prst="rect">
            <a:avLst/>
          </a:prstGeom>
          <a:solidFill>
            <a:srgbClr val="E2E1DC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7"/>
          <p:cNvSpPr/>
          <p:nvPr/>
        </p:nvSpPr>
        <p:spPr>
          <a:xfrm>
            <a:off x="609600" y="1333500"/>
            <a:ext cx="6467475" cy="1447800"/>
          </a:xfrm>
          <a:prstGeom prst="roundRect">
            <a:avLst>
              <a:gd name="adj" fmla="val 7894"/>
            </a:avLst>
          </a:prstGeom>
          <a:solidFill>
            <a:srgbClr val="FFFFFF"/>
          </a:solidFill>
          <a:ln w="19050">
            <a:solidFill>
              <a:srgbClr val="E2E1DC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8"/>
          <p:cNvSpPr txBox="1"/>
          <p:nvPr/>
        </p:nvSpPr>
        <p:spPr>
          <a:xfrm>
            <a:off x="819150" y="1485900"/>
            <a:ext cx="6048375" cy="2857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6700"/>
              </a:lnSpc>
            </a:pPr>
            <a:r>
              <a:rPr sz="1350" b="1">
                <a:solidFill>
                  <a:srgbClr val="1F1F1D"/>
                </a:solidFill>
                <a:latin typeface="Microsoft YaHei"/>
                <a:ea typeface="Microsoft YaHei"/>
                <a:cs typeface="Microsoft YaHei"/>
              </a:rPr>
              <a:t>「我已掌握」不会把「材料未覆盖」改判为「已覆盖」</a:t>
            </a:r>
            <a:endParaRPr/>
          </a:p>
        </p:txBody>
      </p:sp>
      <p:sp>
        <p:nvSpPr>
          <p:cNvPr id="29" name="TextBox 9"/>
          <p:cNvSpPr txBox="1"/>
          <p:nvPr/>
        </p:nvSpPr>
        <p:spPr>
          <a:xfrm>
            <a:off x="819150" y="1809750"/>
            <a:ext cx="6048375" cy="571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1700"/>
              </a:lnSpc>
            </a:pPr>
            <a:r>
              <a:rPr sz="1200" b="0">
                <a:solidFill>
                  <a:srgbClr val="6B6B66"/>
                </a:solidFill>
                <a:latin typeface="Microsoft YaHei"/>
                <a:ea typeface="Microsoft YaHei"/>
                <a:cs typeface="Microsoft YaHei"/>
              </a:rPr>
              <a:t>学生的一句自我评价不能改变材料事实。否则覆盖状态就成了自我申报，这个字段对老师、对画像都不再有意义 —— 它只能反映材料，不能反映情绪。</a:t>
            </a:r>
            <a:endParaRPr/>
          </a:p>
        </p:txBody>
      </p:sp>
      <p:sp>
        <p:nvSpPr>
          <p:cNvPr id="30" name="Freeform 10"/>
          <p:cNvSpPr/>
          <p:nvPr/>
        </p:nvSpPr>
        <p:spPr>
          <a:xfrm>
            <a:off x="819150" y="2457450"/>
            <a:ext cx="6048375" cy="7620"/>
          </a:xfrm>
          <a:custGeom>
            <a:avLst/>
            <a:gdLst/>
            <a:ahLst/>
            <a:cxnLst/>
            <a:rect l="l" t="t" r="r" b="b"/>
            <a:pathLst>
              <a:path w="6048375" h="7620">
                <a:moveTo>
                  <a:pt x="0" y="0"/>
                </a:moveTo>
                <a:lnTo>
                  <a:pt x="6048375" y="7620"/>
                </a:lnTo>
              </a:path>
            </a:pathLst>
          </a:custGeom>
          <a:noFill/>
          <a:ln w="12700">
            <a:solidFill>
              <a:srgbClr val="E2E1D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11"/>
          <p:cNvSpPr txBox="1"/>
          <p:nvPr/>
        </p:nvSpPr>
        <p:spPr>
          <a:xfrm>
            <a:off x="819150" y="2514600"/>
            <a:ext cx="6048375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0F6E56"/>
                </a:solidFill>
                <a:latin typeface="Consolas"/>
                <a:ea typeface="Consolas"/>
                <a:cs typeface="Consolas"/>
              </a:rPr>
              <a:t>判据：材料事实优先于自我评价</a:t>
            </a:r>
            <a:endParaRPr/>
          </a:p>
        </p:txBody>
      </p:sp>
      <p:sp>
        <p:nvSpPr>
          <p:cNvPr id="32" name="Rounded Rectangle 12"/>
          <p:cNvSpPr/>
          <p:nvPr/>
        </p:nvSpPr>
        <p:spPr>
          <a:xfrm>
            <a:off x="609600" y="3086100"/>
            <a:ext cx="6467475" cy="1447800"/>
          </a:xfrm>
          <a:prstGeom prst="roundRect">
            <a:avLst>
              <a:gd name="adj" fmla="val 7894"/>
            </a:avLst>
          </a:prstGeom>
          <a:solidFill>
            <a:srgbClr val="FFFFFF"/>
          </a:solidFill>
          <a:ln w="19050">
            <a:solidFill>
              <a:srgbClr val="E2E1DC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13"/>
          <p:cNvSpPr txBox="1"/>
          <p:nvPr/>
        </p:nvSpPr>
        <p:spPr>
          <a:xfrm>
            <a:off x="819150" y="3238500"/>
            <a:ext cx="6048375" cy="2857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6700"/>
              </a:lnSpc>
            </a:pPr>
            <a:r>
              <a:rPr sz="1350" b="1">
                <a:solidFill>
                  <a:srgbClr val="1F1F1D"/>
                </a:solidFill>
                <a:latin typeface="Microsoft YaHei"/>
                <a:ea typeface="Microsoft YaHei"/>
                <a:cs typeface="Microsoft YaHei"/>
              </a:rPr>
              <a:t>「AI 已补充」不等于「已验证」</a:t>
            </a:r>
            <a:endParaRPr/>
          </a:p>
        </p:txBody>
      </p:sp>
      <p:sp>
        <p:nvSpPr>
          <p:cNvPr id="34" name="TextBox 14"/>
          <p:cNvSpPr txBox="1"/>
          <p:nvPr/>
        </p:nvSpPr>
        <p:spPr>
          <a:xfrm>
            <a:off x="819150" y="3562350"/>
            <a:ext cx="6048375" cy="571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1700"/>
              </a:lnSpc>
            </a:pPr>
            <a:r>
              <a:rPr sz="1200" b="0">
                <a:solidFill>
                  <a:srgbClr val="6B6B66"/>
                </a:solidFill>
                <a:latin typeface="Microsoft YaHei"/>
                <a:ea typeface="Microsoft YaHei"/>
                <a:cs typeface="Microsoft YaHei"/>
              </a:rPr>
              <a:t>补充内容是模型生成的，没有通过符号验证之前，不得暗示为可靠结论。界面上这两件事用不同的词、不同的位置说明，绝不合并成一句「已有解释」。</a:t>
            </a:r>
            <a:endParaRPr/>
          </a:p>
        </p:txBody>
      </p:sp>
      <p:sp>
        <p:nvSpPr>
          <p:cNvPr id="35" name="Freeform 15"/>
          <p:cNvSpPr/>
          <p:nvPr/>
        </p:nvSpPr>
        <p:spPr>
          <a:xfrm>
            <a:off x="819150" y="4210050"/>
            <a:ext cx="6048375" cy="7620"/>
          </a:xfrm>
          <a:custGeom>
            <a:avLst/>
            <a:gdLst/>
            <a:ahLst/>
            <a:cxnLst/>
            <a:rect l="l" t="t" r="r" b="b"/>
            <a:pathLst>
              <a:path w="6048375" h="7620">
                <a:moveTo>
                  <a:pt x="0" y="0"/>
                </a:moveTo>
                <a:lnTo>
                  <a:pt x="6048375" y="7620"/>
                </a:lnTo>
              </a:path>
            </a:pathLst>
          </a:custGeom>
          <a:noFill/>
          <a:ln w="12700">
            <a:solidFill>
              <a:srgbClr val="E2E1D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16"/>
          <p:cNvSpPr txBox="1"/>
          <p:nvPr/>
        </p:nvSpPr>
        <p:spPr>
          <a:xfrm>
            <a:off x="819150" y="4267200"/>
            <a:ext cx="6048375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0F6E56"/>
                </a:solidFill>
                <a:latin typeface="Consolas"/>
                <a:ea typeface="Consolas"/>
                <a:cs typeface="Consolas"/>
              </a:rPr>
              <a:t>判据：验证状态缺省必须落在「未验证」一侧</a:t>
            </a:r>
            <a:endParaRPr/>
          </a:p>
        </p:txBody>
      </p:sp>
      <p:sp>
        <p:nvSpPr>
          <p:cNvPr id="37" name="Rounded Rectangle 17"/>
          <p:cNvSpPr/>
          <p:nvPr/>
        </p:nvSpPr>
        <p:spPr>
          <a:xfrm>
            <a:off x="609600" y="4838700"/>
            <a:ext cx="6467475" cy="1447800"/>
          </a:xfrm>
          <a:prstGeom prst="roundRect">
            <a:avLst>
              <a:gd name="adj" fmla="val 7894"/>
            </a:avLst>
          </a:prstGeom>
          <a:solidFill>
            <a:srgbClr val="FFFFFF"/>
          </a:solidFill>
          <a:ln w="19050">
            <a:solidFill>
              <a:srgbClr val="E2E1DC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18"/>
          <p:cNvSpPr txBox="1"/>
          <p:nvPr/>
        </p:nvSpPr>
        <p:spPr>
          <a:xfrm>
            <a:off x="819150" y="4991100"/>
            <a:ext cx="6048375" cy="2857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6700"/>
              </a:lnSpc>
            </a:pPr>
            <a:r>
              <a:rPr sz="1350" b="1">
                <a:solidFill>
                  <a:srgbClr val="1F1F1D"/>
                </a:solidFill>
                <a:latin typeface="Microsoft YaHei"/>
                <a:ea typeface="Microsoft YaHei"/>
                <a:cs typeface="Microsoft YaHei"/>
              </a:rPr>
              <a:t>补充内容不跨会话迁移，新会话回到「材料未覆盖」</a:t>
            </a:r>
            <a:endParaRPr/>
          </a:p>
        </p:txBody>
      </p:sp>
      <p:sp>
        <p:nvSpPr>
          <p:cNvPr id="39" name="TextBox 19"/>
          <p:cNvSpPr txBox="1"/>
          <p:nvPr/>
        </p:nvSpPr>
        <p:spPr>
          <a:xfrm>
            <a:off x="819150" y="5314950"/>
            <a:ext cx="6048375" cy="571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1700"/>
              </a:lnSpc>
            </a:pPr>
            <a:r>
              <a:rPr sz="1200" b="0">
                <a:solidFill>
                  <a:srgbClr val="6B6B66"/>
                </a:solidFill>
                <a:latin typeface="Microsoft YaHei"/>
                <a:ea typeface="Microsoft YaHei"/>
                <a:cs typeface="Microsoft YaHei"/>
              </a:rPr>
              <a:t>避免把上一轮临时补的内容，当成学生长期掌握的部分。这条对画像尤其重要：连续两次缺同一块，本身就是要被看见的信号。</a:t>
            </a:r>
            <a:endParaRPr/>
          </a:p>
        </p:txBody>
      </p:sp>
      <p:sp>
        <p:nvSpPr>
          <p:cNvPr id="40" name="Freeform 20"/>
          <p:cNvSpPr/>
          <p:nvPr/>
        </p:nvSpPr>
        <p:spPr>
          <a:xfrm>
            <a:off x="819150" y="5962650"/>
            <a:ext cx="6048375" cy="7620"/>
          </a:xfrm>
          <a:custGeom>
            <a:avLst/>
            <a:gdLst/>
            <a:ahLst/>
            <a:cxnLst/>
            <a:rect l="l" t="t" r="r" b="b"/>
            <a:pathLst>
              <a:path w="6048375" h="7620">
                <a:moveTo>
                  <a:pt x="0" y="0"/>
                </a:moveTo>
                <a:lnTo>
                  <a:pt x="6048375" y="7620"/>
                </a:lnTo>
              </a:path>
            </a:pathLst>
          </a:custGeom>
          <a:noFill/>
          <a:ln w="12700">
            <a:solidFill>
              <a:srgbClr val="E2E1D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21"/>
          <p:cNvSpPr txBox="1"/>
          <p:nvPr/>
        </p:nvSpPr>
        <p:spPr>
          <a:xfrm>
            <a:off x="819150" y="6019800"/>
            <a:ext cx="6048375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0F6E56"/>
                </a:solidFill>
                <a:latin typeface="Consolas"/>
                <a:ea typeface="Consolas"/>
                <a:cs typeface="Consolas"/>
              </a:rPr>
              <a:t>判据：补充内容绑定会话，不跨会话引用</a:t>
            </a:r>
            <a:endParaRPr/>
          </a:p>
        </p:txBody>
      </p:sp>
      <p:sp>
        <p:nvSpPr>
          <p:cNvPr id="42" name="Rounded Rectangle 22"/>
          <p:cNvSpPr/>
          <p:nvPr/>
        </p:nvSpPr>
        <p:spPr>
          <a:xfrm>
            <a:off x="7267575" y="1333500"/>
            <a:ext cx="4314825" cy="28575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E2E1DC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23"/>
          <p:cNvSpPr txBox="1"/>
          <p:nvPr/>
        </p:nvSpPr>
        <p:spPr>
          <a:xfrm>
            <a:off x="7477125" y="1504950"/>
            <a:ext cx="3895725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75" b="0">
                <a:solidFill>
                  <a:srgbClr val="0F6E56"/>
                </a:solidFill>
                <a:latin typeface="Microsoft YaHei"/>
                <a:ea typeface="Microsoft YaHei"/>
                <a:cs typeface="Microsoft YaHei"/>
              </a:rPr>
              <a:t>界面只有三个色族</a:t>
            </a:r>
            <a:endParaRPr/>
          </a:p>
        </p:txBody>
      </p:sp>
      <p:sp>
        <p:nvSpPr>
          <p:cNvPr id="44" name="Rounded Rectangle 24"/>
          <p:cNvSpPr/>
          <p:nvPr/>
        </p:nvSpPr>
        <p:spPr>
          <a:xfrm>
            <a:off x="7477125" y="1828800"/>
            <a:ext cx="438150" cy="247650"/>
          </a:xfrm>
          <a:prstGeom prst="roundRect">
            <a:avLst>
              <a:gd name="adj" fmla="val 15384"/>
            </a:avLst>
          </a:prstGeom>
          <a:solidFill>
            <a:srgbClr val="0F6E5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25"/>
          <p:cNvSpPr txBox="1"/>
          <p:nvPr/>
        </p:nvSpPr>
        <p:spPr>
          <a:xfrm>
            <a:off x="8029575" y="1809750"/>
            <a:ext cx="3352800" cy="2857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6700"/>
              </a:lnSpc>
            </a:pPr>
            <a:r>
              <a:rPr sz="1200" b="0">
                <a:solidFill>
                  <a:srgbClr val="1F1F1D"/>
                </a:solidFill>
                <a:latin typeface="Microsoft YaHei"/>
                <a:ea typeface="Microsoft YaHei"/>
                <a:cs typeface="Microsoft YaHei"/>
              </a:rPr>
              <a:t>绿 · 唯一主色：按钮、选中、链接、正在处理中</a:t>
            </a:r>
            <a:endParaRPr/>
          </a:p>
        </p:txBody>
      </p:sp>
      <p:sp>
        <p:nvSpPr>
          <p:cNvPr id="46" name="Rounded Rectangle 26"/>
          <p:cNvSpPr/>
          <p:nvPr/>
        </p:nvSpPr>
        <p:spPr>
          <a:xfrm>
            <a:off x="7477125" y="2324100"/>
            <a:ext cx="438150" cy="247650"/>
          </a:xfrm>
          <a:prstGeom prst="roundRect">
            <a:avLst>
              <a:gd name="adj" fmla="val 15384"/>
            </a:avLst>
          </a:prstGeom>
          <a:solidFill>
            <a:srgbClr val="FDF0D5"/>
          </a:solidFill>
          <a:ln w="12700">
            <a:solidFill>
              <a:srgbClr val="854F0B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27"/>
          <p:cNvSpPr txBox="1"/>
          <p:nvPr/>
        </p:nvSpPr>
        <p:spPr>
          <a:xfrm>
            <a:off x="8029575" y="2305050"/>
            <a:ext cx="3352800" cy="2857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6700"/>
              </a:lnSpc>
            </a:pPr>
            <a:r>
              <a:rPr sz="1200" b="0">
                <a:solidFill>
                  <a:srgbClr val="1F1F1D"/>
                </a:solidFill>
                <a:latin typeface="Microsoft YaHei"/>
                <a:ea typeface="Microsoft YaHei"/>
                <a:cs typeface="Microsoft YaHei"/>
              </a:rPr>
              <a:t>黄 · 唯一强调色：警告与失败同族，只加深一档</a:t>
            </a:r>
            <a:endParaRPr/>
          </a:p>
        </p:txBody>
      </p:sp>
      <p:sp>
        <p:nvSpPr>
          <p:cNvPr id="48" name="Rounded Rectangle 28"/>
          <p:cNvSpPr/>
          <p:nvPr/>
        </p:nvSpPr>
        <p:spPr>
          <a:xfrm>
            <a:off x="7477125" y="2819400"/>
            <a:ext cx="438150" cy="247650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 w="12700">
            <a:solidFill>
              <a:srgbClr val="E2E1DC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29"/>
          <p:cNvSpPr txBox="1"/>
          <p:nvPr/>
        </p:nvSpPr>
        <p:spPr>
          <a:xfrm>
            <a:off x="8029575" y="2800350"/>
            <a:ext cx="3352800" cy="2857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6700"/>
              </a:lnSpc>
            </a:pPr>
            <a:r>
              <a:rPr sz="1200" b="0">
                <a:solidFill>
                  <a:srgbClr val="1F1F1D"/>
                </a:solidFill>
                <a:latin typeface="Microsoft YaHei"/>
                <a:ea typeface="Microsoft YaHei"/>
                <a:cs typeface="Microsoft YaHei"/>
              </a:rPr>
              <a:t>白 · 中性：底色、卡片、文本、分隔线</a:t>
            </a:r>
            <a:endParaRPr/>
          </a:p>
        </p:txBody>
      </p:sp>
      <p:sp>
        <p:nvSpPr>
          <p:cNvPr id="50" name="Freeform 30"/>
          <p:cNvSpPr/>
          <p:nvPr/>
        </p:nvSpPr>
        <p:spPr>
          <a:xfrm>
            <a:off x="7477125" y="3333750"/>
            <a:ext cx="3895725" cy="7620"/>
          </a:xfrm>
          <a:custGeom>
            <a:avLst/>
            <a:gdLst/>
            <a:ahLst/>
            <a:cxnLst/>
            <a:rect l="l" t="t" r="r" b="b"/>
            <a:pathLst>
              <a:path w="3895725" h="7620">
                <a:moveTo>
                  <a:pt x="0" y="0"/>
                </a:moveTo>
                <a:lnTo>
                  <a:pt x="3895725" y="7620"/>
                </a:lnTo>
              </a:path>
            </a:pathLst>
          </a:custGeom>
          <a:noFill/>
          <a:ln w="12700">
            <a:solidFill>
              <a:srgbClr val="E2E1D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31"/>
          <p:cNvSpPr txBox="1"/>
          <p:nvPr/>
        </p:nvSpPr>
        <p:spPr>
          <a:xfrm>
            <a:off x="7477125" y="3448050"/>
            <a:ext cx="3895725" cy="6286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7500"/>
              </a:lnSpc>
            </a:pPr>
            <a:r>
              <a:rPr sz="1125" b="0">
                <a:solidFill>
                  <a:srgbClr val="6B6B66"/>
                </a:solidFill>
                <a:latin typeface="Microsoft YaHei"/>
                <a:ea typeface="Microsoft YaHei"/>
                <a:cs typeface="Microsoft YaHei"/>
              </a:rPr>
              <a:t>原来的红并入黄、蓝并入绿 —— 「警告」和「失败」靠文案与图标区分，不靠颜色。</a:t>
            </a:r>
            <a:endParaRPr/>
          </a:p>
        </p:txBody>
      </p:sp>
      <p:sp>
        <p:nvSpPr>
          <p:cNvPr id="52" name="Rounded Rectangle 32"/>
          <p:cNvSpPr/>
          <p:nvPr/>
        </p:nvSpPr>
        <p:spPr>
          <a:xfrm>
            <a:off x="7267575" y="4343400"/>
            <a:ext cx="4314825" cy="1943100"/>
          </a:xfrm>
          <a:prstGeom prst="roundRect">
            <a:avLst>
              <a:gd name="adj" fmla="val 5882"/>
            </a:avLst>
          </a:prstGeom>
          <a:solidFill>
            <a:srgbClr val="FDF0D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33"/>
          <p:cNvSpPr txBox="1"/>
          <p:nvPr/>
        </p:nvSpPr>
        <p:spPr>
          <a:xfrm>
            <a:off x="7477125" y="4514850"/>
            <a:ext cx="3895725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300"/>
              </a:lnSpc>
            </a:pPr>
            <a:r>
              <a:rPr sz="1125" b="1">
                <a:solidFill>
                  <a:srgbClr val="854F0B"/>
                </a:solidFill>
                <a:latin typeface="Microsoft YaHei"/>
                <a:ea typeface="Microsoft YaHei"/>
                <a:cs typeface="Microsoft YaHei"/>
              </a:rPr>
              <a:t>一律保留的「真实性标注」</a:t>
            </a:r>
            <a:endParaRPr/>
          </a:p>
        </p:txBody>
      </p:sp>
      <p:sp>
        <p:nvSpPr>
          <p:cNvPr id="54" name="TextBox 34"/>
          <p:cNvSpPr txBox="1"/>
          <p:nvPr/>
        </p:nvSpPr>
        <p:spPr>
          <a:xfrm>
            <a:off x="7477125" y="4781550"/>
            <a:ext cx="3895725" cy="13525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800"/>
              </a:lnSpc>
            </a:pPr>
            <a:r>
              <a:rPr sz="1200" b="0">
                <a:solidFill>
                  <a:srgbClr val="854F0B"/>
                </a:solidFill>
                <a:latin typeface="Microsoft YaHei"/>
                <a:ea typeface="Microsoft YaHei"/>
                <a:cs typeface="Microsoft YaHei"/>
              </a:rPr>
              <a:t>服务端不语音转写、演示数据提示、画像不跨会话、图谱的三处如实说明、会话仅本标签页保存、mock 标记。这些文字不好看，但它们是真话 —— 每一次界面收敛，我们都要逐条核对它们还在不在。</a:t>
            </a:r>
            <a:endParaRPr/>
          </a:p>
        </p:txBody>
      </p:sp>
      <p:sp>
        <p:nvSpPr>
          <p:cNvPr id="55" name="Rectangle 35"/>
          <p:cNvSpPr/>
          <p:nvPr/>
        </p:nvSpPr>
        <p:spPr>
          <a:xfrm>
            <a:off x="609600" y="6419850"/>
            <a:ext cx="38100" cy="171450"/>
          </a:xfrm>
          <a:prstGeom prst="rect">
            <a:avLst/>
          </a:prstGeom>
          <a:solidFill>
            <a:srgbClr val="0F6E5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36"/>
          <p:cNvSpPr txBox="1"/>
          <p:nvPr/>
        </p:nvSpPr>
        <p:spPr>
          <a:xfrm>
            <a:off x="742950" y="6362700"/>
            <a:ext cx="7239000" cy="2476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B6B66"/>
                </a:solidFill>
                <a:latin typeface="Microsoft YaHei"/>
                <a:ea typeface="Microsoft YaHei"/>
                <a:cs typeface="Microsoft YaHei"/>
              </a:rPr>
              <a:t>微积分学伴 · 大湾区 AI Coding 创新大赛</a:t>
            </a:r>
            <a:endParaRPr/>
          </a:p>
        </p:txBody>
      </p:sp>
      <p:sp>
        <p:nvSpPr>
          <p:cNvPr id="57" name="TextBox 37"/>
          <p:cNvSpPr txBox="1"/>
          <p:nvPr/>
        </p:nvSpPr>
        <p:spPr>
          <a:xfrm>
            <a:off x="9620250" y="6362700"/>
            <a:ext cx="1962150" cy="2476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050" b="0">
                <a:solidFill>
                  <a:srgbClr val="6B6B66"/>
                </a:solidFill>
                <a:latin typeface="Consolas"/>
                <a:ea typeface="Consolas"/>
                <a:cs typeface="Consolas"/>
              </a:rPr>
              <a:t>10 / 14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spTree>
      <p:nvGrpSpPr>
        <p:cNvPr id="5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2"/>
          <p:cNvSpPr txBox="1"/>
          <p:nvPr/>
        </p:nvSpPr>
        <p:spPr>
          <a:xfrm>
            <a:off x="609600" y="171450"/>
            <a:ext cx="8953500" cy="5143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300"/>
              </a:lnSpc>
            </a:pPr>
            <a:r>
              <a:rPr sz="2700" b="1">
                <a:solidFill>
                  <a:srgbClr val="1F1F1D"/>
                </a:solidFill>
                <a:latin typeface="Microsoft YaHei"/>
                <a:ea typeface="Microsoft YaHei"/>
                <a:cs typeface="Microsoft YaHei"/>
              </a:rPr>
              <a:t>工程底座与质量</a:t>
            </a:r>
            <a:endParaRPr/>
          </a:p>
        </p:txBody>
      </p:sp>
      <p:sp>
        <p:nvSpPr>
          <p:cNvPr id="61" name="TextBox 3"/>
          <p:cNvSpPr txBox="1"/>
          <p:nvPr/>
        </p:nvSpPr>
        <p:spPr>
          <a:xfrm>
            <a:off x="609600" y="704850"/>
            <a:ext cx="9906000" cy="2857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500"/>
              </a:lnSpc>
            </a:pPr>
            <a:r>
              <a:rPr sz="1350" b="0">
                <a:solidFill>
                  <a:srgbClr val="6B6B66"/>
                </a:solidFill>
                <a:latin typeface="Microsoft YaHei"/>
                <a:ea typeface="Microsoft YaHei"/>
                <a:cs typeface="Microsoft YaHei"/>
              </a:rPr>
              <a:t>前面讲的每一条都有东西兜着 —— 下面的数字都是本机实测，包括不好看的那些</a:t>
            </a:r>
            <a:endParaRPr/>
          </a:p>
        </p:txBody>
      </p:sp>
      <p:sp>
        <p:nvSpPr>
          <p:cNvPr id="62" name="Rectangle 4"/>
          <p:cNvSpPr/>
          <p:nvPr/>
        </p:nvSpPr>
        <p:spPr>
          <a:xfrm>
            <a:off x="609600" y="1143000"/>
            <a:ext cx="10972800" cy="14288"/>
          </a:xfrm>
          <a:prstGeom prst="rect">
            <a:avLst/>
          </a:prstGeom>
          <a:solidFill>
            <a:srgbClr val="E2E1DC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ounded Rectangle 5"/>
          <p:cNvSpPr/>
          <p:nvPr/>
        </p:nvSpPr>
        <p:spPr>
          <a:xfrm>
            <a:off x="609600" y="1333500"/>
            <a:ext cx="4314825" cy="2628900"/>
          </a:xfrm>
          <a:prstGeom prst="roundRect">
            <a:avLst>
              <a:gd name="adj" fmla="val 4347"/>
            </a:avLst>
          </a:prstGeom>
          <a:solidFill>
            <a:srgbClr val="E1F5EE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"/>
          <p:cNvSpPr txBox="1"/>
          <p:nvPr/>
        </p:nvSpPr>
        <p:spPr>
          <a:xfrm>
            <a:off x="857250" y="1562100"/>
            <a:ext cx="38100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75" b="0">
                <a:solidFill>
                  <a:srgbClr val="0B5A46"/>
                </a:solidFill>
                <a:latin typeface="Microsoft YaHei"/>
                <a:ea typeface="Microsoft YaHei"/>
                <a:cs typeface="Microsoft YaHei"/>
              </a:rPr>
              <a:t>回归脚本总项数 · 全部通过</a:t>
            </a:r>
            <a:endParaRPr/>
          </a:p>
        </p:txBody>
      </p:sp>
      <p:sp>
        <p:nvSpPr>
          <p:cNvPr id="65" name="TextBox 7"/>
          <p:cNvSpPr txBox="1"/>
          <p:nvPr/>
        </p:nvSpPr>
        <p:spPr>
          <a:xfrm>
            <a:off x="857250" y="1790700"/>
            <a:ext cx="3810000" cy="12382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83300"/>
              </a:lnSpc>
            </a:pPr>
            <a:r>
              <a:rPr lang="zh-CN" sz="7950" b="1">
                <a:solidFill>
                  <a:srgbClr val="0F6E56"/>
                </a:solidFill>
                <a:latin typeface="Segoe UI"/>
                <a:ea typeface="Segoe UI"/>
                <a:cs typeface="Segoe UI"/>
              </a:rPr>
              <a:t>927</a:t>
            </a:r>
            <a:r>
              <a:rPr lang="zh-CN" sz="7950" b="1">
                <a:solidFill>
                  <a:srgbClr val="0F6E56"/>
                </a:solidFill>
                <a:latin typeface="Segoe UI"/>
                <a:ea typeface="Segoe UI"/>
                <a:cs typeface="Segoe UI"/>
              </a:rPr>
              <a:t></a:t>
            </a:r>
            <a:endParaRPr lang="zh-CN" sz="7950" b="1">
              <a:solidFill>
                <a:srgbClr val="0F6E56"/>
              </a:solidFill>
              <a:latin typeface="Segoe UI"/>
              <a:ea typeface="Segoe UI"/>
              <a:cs typeface="Segoe UI"/>
            </a:endParaRPr>
          </a:p>
        </p:txBody>
      </p:sp>
      <p:sp>
        <p:nvSpPr>
          <p:cNvPr id="66" name="Rounded Rectangle 8"/>
          <p:cNvSpPr/>
          <p:nvPr/>
        </p:nvSpPr>
        <p:spPr>
          <a:xfrm>
            <a:off x="857250" y="3200400"/>
            <a:ext cx="781050" cy="323850"/>
          </a:xfrm>
          <a:prstGeom prst="roundRect">
            <a:avLst>
              <a:gd name="adj" fmla="val 17647"/>
            </a:avLst>
          </a:prstGeom>
          <a:solidFill>
            <a:srgbClr val="0F6E5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9"/>
          <p:cNvSpPr txBox="1"/>
          <p:nvPr/>
        </p:nvSpPr>
        <p:spPr>
          <a:xfrm>
            <a:off x="857250" y="3200400"/>
            <a:ext cx="781050" cy="32385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83300"/>
              </a:lnSpc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 失败</a:t>
            </a:r>
            <a:endParaRPr/>
          </a:p>
        </p:txBody>
      </p:sp>
      <p:sp>
        <p:nvSpPr>
          <p:cNvPr id="68" name="TextBox 10"/>
          <p:cNvSpPr txBox="1"/>
          <p:nvPr/>
        </p:nvSpPr>
        <p:spPr>
          <a:xfrm>
            <a:off x="1733550" y="3238500"/>
            <a:ext cx="2857500" cy="2476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300"/>
              </a:lnSpc>
            </a:pPr>
            <a:r>
              <a:rPr lang="zh-CN" sz="1125" b="0">
                <a:solidFill>
                  <a:srgbClr val="0B5A46"/>
                </a:solidFill>
                <a:latin typeface="Microsoft YaHei"/>
                <a:ea typeface="Microsoft YaHei"/>
                <a:cs typeface="Microsoft YaHei"/>
              </a:rPr>
              <a:t>2026-09-25 本机逐套件复核</a:t>
            </a:r>
            <a:r>
              <a:rPr lang="zh-CN" sz="1125" b="0">
                <a:solidFill>
                  <a:srgbClr val="0B5A46"/>
                </a:solidFill>
                <a:latin typeface="Microsoft YaHei"/>
                <a:ea typeface="Microsoft YaHei"/>
                <a:cs typeface="Microsoft YaHei"/>
              </a:rPr>
              <a:t></a:t>
            </a:r>
            <a:endParaRPr lang="zh-CN" sz="1125" b="0">
              <a:solidFill>
                <a:srgbClr val="0B5A46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9" name="Rounded Rectangle 11"/>
          <p:cNvSpPr/>
          <p:nvPr/>
        </p:nvSpPr>
        <p:spPr>
          <a:xfrm>
            <a:off x="5114925" y="1333500"/>
            <a:ext cx="6467475" cy="2628900"/>
          </a:xfrm>
          <a:prstGeom prst="roundRect">
            <a:avLst>
              <a:gd name="adj" fmla="val 4347"/>
            </a:avLst>
          </a:prstGeom>
          <a:solidFill>
            <a:srgbClr val="FFFFFF"/>
          </a:solidFill>
          <a:ln w="19050">
            <a:solidFill>
              <a:srgbClr val="E2E1DC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12"/>
          <p:cNvSpPr txBox="1"/>
          <p:nvPr/>
        </p:nvSpPr>
        <p:spPr>
          <a:xfrm>
            <a:off x="5343525" y="1504950"/>
            <a:ext cx="6010275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75" b="0">
                <a:solidFill>
                  <a:srgbClr val="6B6B66"/>
                </a:solidFill>
                <a:latin typeface="Microsoft YaHei"/>
                <a:ea typeface="Microsoft YaHei"/>
                <a:cs typeface="Microsoft YaHei"/>
              </a:rPr>
              <a:t>七个套件的构成</a:t>
            </a:r>
            <a:endParaRPr/>
          </a:p>
        </p:txBody>
      </p:sp>
      <p:sp>
        <p:nvSpPr>
          <p:cNvPr id="71" name="TextBox 13"/>
          <p:cNvSpPr txBox="1"/>
          <p:nvPr/>
        </p:nvSpPr>
        <p:spPr>
          <a:xfrm>
            <a:off x="5343525" y="1790700"/>
            <a:ext cx="523875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zh-CN" sz="1200" b="0">
                <a:solidFill>
                  <a:srgbClr val="1F1F1D"/>
                </a:solidFill>
                <a:latin typeface="Microsoft YaHei"/>
                <a:ea typeface="Microsoft YaHei"/>
                <a:cs typeface="Microsoft YaHei"/>
              </a:rPr>
              <a:t>服务端：错误层、入参守卫、图谱、符号验证、视觉识别、教学素材</a:t>
            </a:r>
            <a:r>
              <a:rPr lang="zh-CN" sz="1200" b="0">
                <a:solidFill>
                  <a:srgbClr val="1F1F1D"/>
                </a:solidFill>
                <a:latin typeface="Microsoft YaHei"/>
                <a:ea typeface="Microsoft YaHei"/>
                <a:cs typeface="Microsoft YaHei"/>
              </a:rPr>
              <a:t></a:t>
            </a:r>
            <a:endParaRPr lang="zh-CN" sz="1200" b="0">
              <a:solidFill>
                <a:srgbClr val="1F1F1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2" name="TextBox 14"/>
          <p:cNvSpPr txBox="1"/>
          <p:nvPr/>
        </p:nvSpPr>
        <p:spPr>
          <a:xfrm>
            <a:off x="10668000" y="1790700"/>
            <a:ext cx="6858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lang="zh-CN" sz="1200" b="1">
                <a:solidFill>
                  <a:srgbClr val="0F6E56"/>
                </a:solidFill>
                <a:latin typeface="Consolas"/>
                <a:ea typeface="Consolas"/>
                <a:cs typeface="Consolas"/>
              </a:rPr>
              <a:t>412</a:t>
            </a:r>
            <a:r>
              <a:rPr lang="zh-CN" sz="1200" b="1">
                <a:solidFill>
                  <a:srgbClr val="0F6E56"/>
                </a:solidFill>
                <a:latin typeface="Consolas"/>
                <a:ea typeface="Consolas"/>
                <a:cs typeface="Consolas"/>
              </a:rPr>
              <a:t></a:t>
            </a:r>
            <a:endParaRPr lang="zh-CN" sz="1200" b="1">
              <a:solidFill>
                <a:srgbClr val="0F6E56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73" name="TextBox 15"/>
          <p:cNvSpPr txBox="1"/>
          <p:nvPr/>
        </p:nvSpPr>
        <p:spPr>
          <a:xfrm>
            <a:off x="5343525" y="2066925"/>
            <a:ext cx="523875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F1F1D"/>
                </a:solidFill>
                <a:latin typeface="Microsoft YaHei"/>
                <a:ea typeface="Microsoft YaHei"/>
                <a:cs typeface="Microsoft YaHei"/>
              </a:rPr>
              <a:t>端到端流程：真实 HTTP 请求</a:t>
            </a:r>
            <a:endParaRPr/>
          </a:p>
        </p:txBody>
      </p:sp>
      <p:sp>
        <p:nvSpPr>
          <p:cNvPr id="74" name="TextBox 16"/>
          <p:cNvSpPr txBox="1"/>
          <p:nvPr/>
        </p:nvSpPr>
        <p:spPr>
          <a:xfrm>
            <a:off x="10668000" y="2066925"/>
            <a:ext cx="6858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lang="zh-CN" sz="1200" b="1">
                <a:solidFill>
                  <a:srgbClr val="0F6E56"/>
                </a:solidFill>
                <a:latin typeface="Consolas"/>
                <a:ea typeface="Consolas"/>
                <a:cs typeface="Consolas"/>
              </a:rPr>
              <a:t>113</a:t>
            </a:r>
            <a:r>
              <a:rPr lang="zh-CN" sz="1200" b="1">
                <a:solidFill>
                  <a:srgbClr val="0F6E56"/>
                </a:solidFill>
                <a:latin typeface="Consolas"/>
                <a:ea typeface="Consolas"/>
                <a:cs typeface="Consolas"/>
              </a:rPr>
              <a:t></a:t>
            </a:r>
            <a:endParaRPr lang="zh-CN" sz="1200" b="1">
              <a:solidFill>
                <a:srgbClr val="0F6E56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75" name="TextBox 17"/>
          <p:cNvSpPr txBox="1"/>
          <p:nvPr/>
        </p:nvSpPr>
        <p:spPr>
          <a:xfrm>
            <a:off x="5343525" y="2343150"/>
            <a:ext cx="523875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F1F1D"/>
                </a:solidFill>
                <a:latin typeface="Microsoft YaHei"/>
                <a:ea typeface="Microsoft YaHei"/>
                <a:cs typeface="Microsoft YaHei"/>
              </a:rPr>
              <a:t>前端渲染冒烟：外壳、索引栏、对话模型、会话归档</a:t>
            </a:r>
            <a:endParaRPr/>
          </a:p>
        </p:txBody>
      </p:sp>
      <p:sp>
        <p:nvSpPr>
          <p:cNvPr id="76" name="TextBox 18"/>
          <p:cNvSpPr txBox="1"/>
          <p:nvPr/>
        </p:nvSpPr>
        <p:spPr>
          <a:xfrm>
            <a:off x="10668000" y="2343150"/>
            <a:ext cx="6858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lang="zh-CN" sz="1200" b="1">
                <a:solidFill>
                  <a:srgbClr val="0F6E56"/>
                </a:solidFill>
                <a:latin typeface="Consolas"/>
                <a:ea typeface="Consolas"/>
                <a:cs typeface="Consolas"/>
              </a:rPr>
              <a:t>241</a:t>
            </a:r>
            <a:r>
              <a:rPr lang="zh-CN" sz="1200" b="1">
                <a:solidFill>
                  <a:srgbClr val="0F6E56"/>
                </a:solidFill>
                <a:latin typeface="Consolas"/>
                <a:ea typeface="Consolas"/>
                <a:cs typeface="Consolas"/>
              </a:rPr>
              <a:t></a:t>
            </a:r>
            <a:endParaRPr lang="zh-CN" sz="1200" b="1">
              <a:solidFill>
                <a:srgbClr val="0F6E56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77" name="TextBox 19"/>
          <p:cNvSpPr txBox="1"/>
          <p:nvPr/>
        </p:nvSpPr>
        <p:spPr>
          <a:xfrm>
            <a:off x="5343525" y="2619375"/>
            <a:ext cx="523875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F1F1D"/>
                </a:solidFill>
                <a:latin typeface="Microsoft YaHei"/>
                <a:ea typeface="Microsoft YaHei"/>
                <a:cs typeface="Microsoft YaHei"/>
              </a:rPr>
              <a:t>语音输入专项：覆盖九类分支（打桩引擎）</a:t>
            </a:r>
            <a:endParaRPr/>
          </a:p>
        </p:txBody>
      </p:sp>
      <p:sp>
        <p:nvSpPr>
          <p:cNvPr id="78" name="TextBox 20"/>
          <p:cNvSpPr txBox="1"/>
          <p:nvPr/>
        </p:nvSpPr>
        <p:spPr>
          <a:xfrm>
            <a:off x="10668000" y="2619375"/>
            <a:ext cx="6858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200" b="1">
                <a:solidFill>
                  <a:srgbClr val="0F6E56"/>
                </a:solidFill>
                <a:latin typeface="Consolas"/>
                <a:ea typeface="Consolas"/>
                <a:cs typeface="Consolas"/>
              </a:rPr>
              <a:t>68</a:t>
            </a:r>
            <a:endParaRPr/>
          </a:p>
        </p:txBody>
      </p:sp>
      <p:sp>
        <p:nvSpPr>
          <p:cNvPr id="79" name="TextBox 21"/>
          <p:cNvSpPr txBox="1"/>
          <p:nvPr/>
        </p:nvSpPr>
        <p:spPr>
          <a:xfrm>
            <a:off x="5343525" y="2895600"/>
            <a:ext cx="523875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F1F1D"/>
                </a:solidFill>
                <a:latin typeface="Microsoft YaHei"/>
                <a:ea typeface="Microsoft YaHei"/>
                <a:cs typeface="Microsoft YaHei"/>
              </a:rPr>
              <a:t>同源托管：SPA 回退边界、安全响应头、权限策略</a:t>
            </a:r>
            <a:endParaRPr/>
          </a:p>
        </p:txBody>
      </p:sp>
      <p:sp>
        <p:nvSpPr>
          <p:cNvPr id="80" name="TextBox 22"/>
          <p:cNvSpPr txBox="1"/>
          <p:nvPr/>
        </p:nvSpPr>
        <p:spPr>
          <a:xfrm>
            <a:off x="10668000" y="2895600"/>
            <a:ext cx="6858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200" b="1">
                <a:solidFill>
                  <a:srgbClr val="0F6E56"/>
                </a:solidFill>
                <a:latin typeface="Consolas"/>
                <a:ea typeface="Consolas"/>
                <a:cs typeface="Consolas"/>
              </a:rPr>
              <a:t>45</a:t>
            </a:r>
            <a:endParaRPr/>
          </a:p>
        </p:txBody>
      </p:sp>
      <p:sp>
        <p:nvSpPr>
          <p:cNvPr id="81" name="TextBox 23"/>
          <p:cNvSpPr txBox="1"/>
          <p:nvPr/>
        </p:nvSpPr>
        <p:spPr>
          <a:xfrm>
            <a:off x="5343525" y="3171825"/>
            <a:ext cx="523875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F1F1D"/>
                </a:solidFill>
                <a:latin typeface="Microsoft YaHei"/>
                <a:ea typeface="Microsoft YaHei"/>
                <a:cs typeface="Microsoft YaHei"/>
              </a:rPr>
              <a:t>仓库检查：敏感信息、依赖与许可证、提示词快照</a:t>
            </a:r>
            <a:endParaRPr/>
          </a:p>
        </p:txBody>
      </p:sp>
      <p:sp>
        <p:nvSpPr>
          <p:cNvPr id="82" name="TextBox 24"/>
          <p:cNvSpPr txBox="1"/>
          <p:nvPr/>
        </p:nvSpPr>
        <p:spPr>
          <a:xfrm>
            <a:off x="10668000" y="3171825"/>
            <a:ext cx="6858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lang="zh-CN" sz="1200" b="1">
                <a:solidFill>
                  <a:srgbClr val="0F6E56"/>
                </a:solidFill>
                <a:latin typeface="Consolas"/>
                <a:ea typeface="Consolas"/>
                <a:cs typeface="Consolas"/>
              </a:rPr>
              <a:t>37</a:t>
            </a:r>
            <a:r>
              <a:rPr lang="zh-CN" sz="1200" b="1">
                <a:solidFill>
                  <a:srgbClr val="0F6E56"/>
                </a:solidFill>
                <a:latin typeface="Consolas"/>
                <a:ea typeface="Consolas"/>
                <a:cs typeface="Consolas"/>
              </a:rPr>
              <a:t></a:t>
            </a:r>
            <a:endParaRPr lang="zh-CN" sz="1200" b="1">
              <a:solidFill>
                <a:srgbClr val="0F6E56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83" name="TextBox 25"/>
          <p:cNvSpPr txBox="1"/>
          <p:nvPr/>
        </p:nvSpPr>
        <p:spPr>
          <a:xfrm>
            <a:off x="5343525" y="3448050"/>
            <a:ext cx="523875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F1F1D"/>
                </a:solidFill>
                <a:latin typeface="Microsoft YaHei"/>
                <a:ea typeface="Microsoft YaHei"/>
                <a:cs typeface="Microsoft YaHei"/>
              </a:rPr>
              <a:t>构建产物形态：含运行形态自证</a:t>
            </a:r>
            <a:endParaRPr/>
          </a:p>
        </p:txBody>
      </p:sp>
      <p:sp>
        <p:nvSpPr>
          <p:cNvPr id="84" name="TextBox 26"/>
          <p:cNvSpPr txBox="1"/>
          <p:nvPr/>
        </p:nvSpPr>
        <p:spPr>
          <a:xfrm>
            <a:off x="10668000" y="3448050"/>
            <a:ext cx="6858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200" b="1">
                <a:solidFill>
                  <a:srgbClr val="0F6E56"/>
                </a:solidFill>
                <a:latin typeface="Consolas"/>
                <a:ea typeface="Consolas"/>
                <a:cs typeface="Consolas"/>
              </a:rPr>
              <a:t>11</a:t>
            </a:r>
            <a:endParaRPr/>
          </a:p>
        </p:txBody>
      </p:sp>
      <p:sp>
        <p:nvSpPr>
          <p:cNvPr id="85" name="Rounded Rectangle 27"/>
          <p:cNvSpPr/>
          <p:nvPr/>
        </p:nvSpPr>
        <p:spPr>
          <a:xfrm>
            <a:off x="609600" y="4076700"/>
            <a:ext cx="2667000" cy="533400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 w="12700">
            <a:solidFill>
              <a:srgbClr val="E2E1DC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28"/>
          <p:cNvSpPr txBox="1"/>
          <p:nvPr/>
        </p:nvSpPr>
        <p:spPr>
          <a:xfrm>
            <a:off x="742950" y="4076700"/>
            <a:ext cx="2400300" cy="5334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300"/>
              </a:lnSpc>
            </a:pPr>
            <a:r>
              <a:rPr sz="1125" b="0">
                <a:solidFill>
                  <a:srgbClr val="1F1F1D"/>
                </a:solidFill>
                <a:latin typeface="Microsoft YaHei"/>
                <a:ea typeface="Microsoft YaHei"/>
                <a:cs typeface="Microsoft YaHei"/>
              </a:rPr>
              <a:t>apps/web　前端交互层</a:t>
            </a:r>
            <a:endParaRPr/>
          </a:p>
        </p:txBody>
      </p:sp>
      <p:sp>
        <p:nvSpPr>
          <p:cNvPr id="87" name="Rounded Rectangle 29"/>
          <p:cNvSpPr/>
          <p:nvPr/>
        </p:nvSpPr>
        <p:spPr>
          <a:xfrm>
            <a:off x="3390900" y="4076700"/>
            <a:ext cx="2667000" cy="533400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 w="12700">
            <a:solidFill>
              <a:srgbClr val="E2E1DC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TextBox 30"/>
          <p:cNvSpPr txBox="1"/>
          <p:nvPr/>
        </p:nvSpPr>
        <p:spPr>
          <a:xfrm>
            <a:off x="3524250" y="4076700"/>
            <a:ext cx="2400300" cy="5334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300"/>
              </a:lnSpc>
            </a:pPr>
            <a:r>
              <a:rPr sz="1125" b="0">
                <a:solidFill>
                  <a:srgbClr val="1F1F1D"/>
                </a:solidFill>
                <a:latin typeface="Microsoft YaHei"/>
                <a:ea typeface="Microsoft YaHei"/>
                <a:cs typeface="Microsoft YaHei"/>
              </a:rPr>
              <a:t>packages/teaching　教学智能</a:t>
            </a:r>
            <a:endParaRPr/>
          </a:p>
        </p:txBody>
      </p:sp>
      <p:sp>
        <p:nvSpPr>
          <p:cNvPr id="89" name="Rounded Rectangle 31"/>
          <p:cNvSpPr/>
          <p:nvPr/>
        </p:nvSpPr>
        <p:spPr>
          <a:xfrm>
            <a:off x="6172200" y="4076700"/>
            <a:ext cx="2667000" cy="533400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 w="12700">
            <a:solidFill>
              <a:srgbClr val="E2E1DC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32"/>
          <p:cNvSpPr txBox="1"/>
          <p:nvPr/>
        </p:nvSpPr>
        <p:spPr>
          <a:xfrm>
            <a:off x="6305550" y="4076700"/>
            <a:ext cx="2400300" cy="5334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300"/>
              </a:lnSpc>
            </a:pPr>
            <a:r>
              <a:rPr sz="1125" b="0">
                <a:solidFill>
                  <a:srgbClr val="1F1F1D"/>
                </a:solidFill>
                <a:latin typeface="Microsoft YaHei"/>
                <a:ea typeface="Microsoft YaHei"/>
                <a:cs typeface="Microsoft YaHei"/>
              </a:rPr>
              <a:t>packages/contracts　共享契约</a:t>
            </a:r>
            <a:endParaRPr/>
          </a:p>
        </p:txBody>
      </p:sp>
      <p:sp>
        <p:nvSpPr>
          <p:cNvPr id="91" name="Rounded Rectangle 33"/>
          <p:cNvSpPr/>
          <p:nvPr/>
        </p:nvSpPr>
        <p:spPr>
          <a:xfrm>
            <a:off x="8953500" y="4076700"/>
            <a:ext cx="2667000" cy="533400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 w="12700">
            <a:solidFill>
              <a:srgbClr val="E2E1DC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34"/>
          <p:cNvSpPr txBox="1"/>
          <p:nvPr/>
        </p:nvSpPr>
        <p:spPr>
          <a:xfrm>
            <a:off x="9086850" y="4076700"/>
            <a:ext cx="2400300" cy="5334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300"/>
              </a:lnSpc>
            </a:pPr>
            <a:r>
              <a:rPr sz="1125" b="0">
                <a:solidFill>
                  <a:srgbClr val="1F1F1D"/>
                </a:solidFill>
                <a:latin typeface="Microsoft YaHei"/>
                <a:ea typeface="Microsoft YaHei"/>
                <a:cs typeface="Microsoft YaHei"/>
              </a:rPr>
              <a:t>apps/server　服务与部署</a:t>
            </a:r>
            <a:endParaRPr/>
          </a:p>
        </p:txBody>
      </p:sp>
      <p:sp>
        <p:nvSpPr>
          <p:cNvPr id="93" name="TextBox 35"/>
          <p:cNvSpPr txBox="1"/>
          <p:nvPr/>
        </p:nvSpPr>
        <p:spPr>
          <a:xfrm>
            <a:off x="609600" y="4724400"/>
            <a:ext cx="3486150" cy="2476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300"/>
              </a:lnSpc>
            </a:pPr>
            <a:r>
              <a:rPr sz="1350" b="1">
                <a:solidFill>
                  <a:srgbClr val="1F1F1D"/>
                </a:solidFill>
                <a:latin typeface="Microsoft YaHei"/>
                <a:ea typeface="Microsoft YaHei"/>
                <a:cs typeface="Microsoft YaHei"/>
              </a:rPr>
              <a:t>契约是唯一事实来源</a:t>
            </a:r>
            <a:endParaRPr/>
          </a:p>
        </p:txBody>
      </p:sp>
      <p:sp>
        <p:nvSpPr>
          <p:cNvPr id="94" name="TextBox 36"/>
          <p:cNvSpPr txBox="1"/>
          <p:nvPr/>
        </p:nvSpPr>
        <p:spPr>
          <a:xfrm>
            <a:off x="609600" y="5029200"/>
            <a:ext cx="3486150" cy="1257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800"/>
              </a:lnSpc>
            </a:pPr>
            <a:r>
              <a:rPr lang="zh-CN" sz="1200" b="0">
                <a:solidFill>
                  <a:srgbClr val="6B6B66"/>
                </a:solidFill>
                <a:latin typeface="Microsoft YaHei"/>
                <a:ea typeface="Microsoft YaHei"/>
                <a:cs typeface="Microsoft YaHei"/>
              </a:rPr>
              <a:t>一共十四个接口，全部可用。教师视图由「如实返回 501」改为已实现；契约变更必须串行，同时只放一个在飞。</a:t>
            </a:r>
            <a:r>
              <a:rPr lang="zh-CN" sz="1200" b="0">
                <a:solidFill>
                  <a:srgbClr val="6B6B66"/>
                </a:solidFill>
                <a:latin typeface="Microsoft YaHei"/>
                <a:ea typeface="Microsoft YaHei"/>
                <a:cs typeface="Microsoft YaHei"/>
              </a:rPr>
              <a:t></a:t>
            </a:r>
            <a:endParaRPr lang="zh-CN" sz="1200" b="0">
              <a:solidFill>
                <a:srgbClr val="6B6B66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5" name="TextBox 37"/>
          <p:cNvSpPr txBox="1"/>
          <p:nvPr/>
        </p:nvSpPr>
        <p:spPr>
          <a:xfrm>
            <a:off x="4352925" y="4724400"/>
            <a:ext cx="3486150" cy="2476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300"/>
              </a:lnSpc>
            </a:pPr>
            <a:r>
              <a:rPr sz="1350" b="1">
                <a:solidFill>
                  <a:srgbClr val="1F1F1D"/>
                </a:solidFill>
                <a:latin typeface="Microsoft YaHei"/>
                <a:ea typeface="Microsoft YaHei"/>
                <a:cs typeface="Microsoft YaHei"/>
              </a:rPr>
              <a:t>错误响应只有一个出口</a:t>
            </a:r>
            <a:endParaRPr/>
          </a:p>
        </p:txBody>
      </p:sp>
      <p:sp>
        <p:nvSpPr>
          <p:cNvPr id="96" name="TextBox 38"/>
          <p:cNvSpPr txBox="1"/>
          <p:nvPr/>
        </p:nvSpPr>
        <p:spPr>
          <a:xfrm>
            <a:off x="4352925" y="5029200"/>
            <a:ext cx="3486150" cy="1257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800"/>
              </a:lnSpc>
            </a:pPr>
            <a:r>
              <a:rPr sz="1200" b="0">
                <a:solidFill>
                  <a:srgbClr val="6B6B66"/>
                </a:solidFill>
                <a:latin typeface="Microsoft YaHei"/>
                <a:ea typeface="Microsoft YaHei"/>
                <a:cs typeface="Microsoft YaHei"/>
              </a:rPr>
              <a:t>状态码与「是否可重试」由唯一一张表按错误码推导，不在各个分支里各写一遍。同一个码只有一个答案，入口校验与提交复核两条路径必须给出完全相同的结果。</a:t>
            </a:r>
            <a:endParaRPr/>
          </a:p>
        </p:txBody>
      </p:sp>
      <p:sp>
        <p:nvSpPr>
          <p:cNvPr id="97" name="TextBox 39"/>
          <p:cNvSpPr txBox="1"/>
          <p:nvPr/>
        </p:nvSpPr>
        <p:spPr>
          <a:xfrm>
            <a:off x="8096250" y="4724400"/>
            <a:ext cx="3486150" cy="2476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300"/>
              </a:lnSpc>
            </a:pPr>
            <a:r>
              <a:rPr sz="1350" b="1">
                <a:solidFill>
                  <a:srgbClr val="1F1F1D"/>
                </a:solidFill>
                <a:latin typeface="Microsoft YaHei"/>
                <a:ea typeface="Microsoft YaHei"/>
                <a:cs typeface="Microsoft YaHei"/>
              </a:rPr>
              <a:t>教学模块不碰密钥</a:t>
            </a:r>
            <a:endParaRPr/>
          </a:p>
        </p:txBody>
      </p:sp>
      <p:sp>
        <p:nvSpPr>
          <p:cNvPr id="98" name="TextBox 40"/>
          <p:cNvSpPr txBox="1"/>
          <p:nvPr/>
        </p:nvSpPr>
        <p:spPr>
          <a:xfrm>
            <a:off x="8096250" y="5029200"/>
            <a:ext cx="3486150" cy="1257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800"/>
              </a:lnSpc>
            </a:pPr>
            <a:r>
              <a:rPr sz="1200" b="0">
                <a:solidFill>
                  <a:srgbClr val="6B6B66"/>
                </a:solidFill>
                <a:latin typeface="Microsoft YaHei"/>
                <a:ea typeface="Microsoft YaHei"/>
                <a:cs typeface="Microsoft YaHei"/>
              </a:rPr>
              <a:t>它不读密钥、不直接访问网络、不依赖托管平台，模型调用由外部注入 —— 所以可以离线单测。这也是回归能覆盖它、并且不消耗模型额度的原因。</a:t>
            </a:r>
            <a:endParaRPr/>
          </a:p>
        </p:txBody>
      </p:sp>
      <p:sp>
        <p:nvSpPr>
          <p:cNvPr id="99" name="Rectangle 41"/>
          <p:cNvSpPr/>
          <p:nvPr/>
        </p:nvSpPr>
        <p:spPr>
          <a:xfrm>
            <a:off x="609600" y="6419850"/>
            <a:ext cx="38100" cy="171450"/>
          </a:xfrm>
          <a:prstGeom prst="rect">
            <a:avLst/>
          </a:prstGeom>
          <a:solidFill>
            <a:srgbClr val="0F6E5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TextBox 42"/>
          <p:cNvSpPr txBox="1"/>
          <p:nvPr/>
        </p:nvSpPr>
        <p:spPr>
          <a:xfrm>
            <a:off x="742950" y="6362700"/>
            <a:ext cx="7239000" cy="2476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B6B66"/>
                </a:solidFill>
                <a:latin typeface="Microsoft YaHei"/>
                <a:ea typeface="Microsoft YaHei"/>
                <a:cs typeface="Microsoft YaHei"/>
              </a:rPr>
              <a:t>微积分学伴 · 大湾区 AI Coding 创新大赛</a:t>
            </a:r>
            <a:endParaRPr/>
          </a:p>
        </p:txBody>
      </p:sp>
      <p:sp>
        <p:nvSpPr>
          <p:cNvPr id="101" name="TextBox 43"/>
          <p:cNvSpPr txBox="1"/>
          <p:nvPr/>
        </p:nvSpPr>
        <p:spPr>
          <a:xfrm>
            <a:off x="9620250" y="6362700"/>
            <a:ext cx="1962150" cy="2476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050" b="0">
                <a:solidFill>
                  <a:srgbClr val="6B6B66"/>
                </a:solidFill>
                <a:latin typeface="Consolas"/>
                <a:ea typeface="Consolas"/>
                <a:cs typeface="Consolas"/>
              </a:rPr>
              <a:t>11 / 14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spTree>
      <p:nvGrpSpPr>
        <p:cNvPr id="10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TextBox 2"/>
          <p:cNvSpPr txBox="1"/>
          <p:nvPr/>
        </p:nvSpPr>
        <p:spPr>
          <a:xfrm>
            <a:off x="609600" y="171450"/>
            <a:ext cx="8953500" cy="5143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300"/>
              </a:lnSpc>
            </a:pPr>
            <a:r>
              <a:rPr sz="2700" b="1">
                <a:solidFill>
                  <a:srgbClr val="1F1F1D"/>
                </a:solidFill>
                <a:latin typeface="Microsoft YaHei"/>
                <a:ea typeface="Microsoft YaHei"/>
                <a:cs typeface="Microsoft YaHei"/>
              </a:rPr>
              <a:t>赛事交付现状</a:t>
            </a:r>
            <a:endParaRPr/>
          </a:p>
        </p:txBody>
      </p:sp>
      <p:sp>
        <p:nvSpPr>
          <p:cNvPr id="105" name="TextBox 3"/>
          <p:cNvSpPr txBox="1"/>
          <p:nvPr/>
        </p:nvSpPr>
        <p:spPr>
          <a:xfrm>
            <a:off x="609600" y="704850"/>
            <a:ext cx="9906000" cy="2857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500"/>
              </a:lnSpc>
            </a:pPr>
            <a:r>
              <a:rPr lang="zh-CN" sz="1350" b="0">
                <a:solidFill>
                  <a:srgbClr val="6B6B66"/>
                </a:solidFill>
                <a:latin typeface="Microsoft YaHei"/>
                <a:ea typeface="Microsoft YaHei"/>
                <a:cs typeface="Microsoft YaHei"/>
              </a:rPr>
              <a:t>五件提交物逐项如实汇报；三条在线限制提前说清 —— 它们都不是故障</a:t>
            </a:r>
            <a:r>
              <a:rPr lang="zh-CN" sz="1350" b="0">
                <a:solidFill>
                  <a:srgbClr val="6B6B66"/>
                </a:solidFill>
                <a:latin typeface="Microsoft YaHei"/>
                <a:ea typeface="Microsoft YaHei"/>
                <a:cs typeface="Microsoft YaHei"/>
              </a:rPr>
              <a:t></a:t>
            </a:r>
            <a:endParaRPr lang="zh-CN" sz="1350" b="0">
              <a:solidFill>
                <a:srgbClr val="6B6B66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6" name="Rectangle 4"/>
          <p:cNvSpPr/>
          <p:nvPr/>
        </p:nvSpPr>
        <p:spPr>
          <a:xfrm>
            <a:off x="609600" y="1143000"/>
            <a:ext cx="10972800" cy="14288"/>
          </a:xfrm>
          <a:prstGeom prst="rect">
            <a:avLst/>
          </a:prstGeom>
          <a:solidFill>
            <a:srgbClr val="E2E1DC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Rounded Rectangle 5"/>
          <p:cNvSpPr/>
          <p:nvPr/>
        </p:nvSpPr>
        <p:spPr>
          <a:xfrm>
            <a:off x="609600" y="1333500"/>
            <a:ext cx="3371850" cy="4953000"/>
          </a:xfrm>
          <a:prstGeom prst="roundRect">
            <a:avLst>
              <a:gd name="adj" fmla="val 3389"/>
            </a:avLst>
          </a:prstGeom>
          <a:solidFill>
            <a:srgbClr val="E1F5EE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TextBox 6"/>
          <p:cNvSpPr txBox="1"/>
          <p:nvPr/>
        </p:nvSpPr>
        <p:spPr>
          <a:xfrm>
            <a:off x="838200" y="1562100"/>
            <a:ext cx="291465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75" b="0">
                <a:solidFill>
                  <a:srgbClr val="0B5A46"/>
                </a:solidFill>
                <a:latin typeface="Microsoft YaHei"/>
                <a:ea typeface="Microsoft YaHei"/>
                <a:cs typeface="Microsoft YaHei"/>
              </a:rPr>
              <a:t>提交物</a:t>
            </a:r>
            <a:endParaRPr/>
          </a:p>
        </p:txBody>
      </p:sp>
      <p:sp>
        <p:nvSpPr>
          <p:cNvPr id="109" name="TextBox 7"/>
          <p:cNvSpPr txBox="1"/>
          <p:nvPr/>
        </p:nvSpPr>
        <p:spPr>
          <a:xfrm>
            <a:off x="838200" y="1790700"/>
            <a:ext cx="2914650" cy="571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800"/>
              </a:lnSpc>
            </a:pPr>
            <a:r>
              <a:rPr lang="zh-CN" sz="3300" b="1">
                <a:solidFill>
                  <a:srgbClr val="0F6E56"/>
                </a:solidFill>
                <a:latin typeface="Microsoft YaHei"/>
                <a:ea typeface="Microsoft YaHei"/>
                <a:cs typeface="Microsoft YaHei"/>
              </a:rPr>
              <a:t>五件必需</a:t>
            </a:r>
            <a:r>
              <a:rPr lang="zh-CN" sz="3300" b="1">
                <a:solidFill>
                  <a:srgbClr val="0F6E56"/>
                </a:solidFill>
                <a:latin typeface="Microsoft YaHei"/>
                <a:ea typeface="Microsoft YaHei"/>
                <a:cs typeface="Microsoft YaHei"/>
              </a:rPr>
              <a:t></a:t>
            </a:r>
            <a:endParaRPr lang="zh-CN" sz="3300" b="1">
              <a:solidFill>
                <a:srgbClr val="0F6E56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0" name="TextBox 8"/>
          <p:cNvSpPr txBox="1"/>
          <p:nvPr/>
        </p:nvSpPr>
        <p:spPr>
          <a:xfrm>
            <a:off x="838200" y="2457450"/>
            <a:ext cx="2914650" cy="11811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800"/>
              </a:lnSpc>
            </a:pPr>
            <a:r>
              <a:rPr lang="zh-CN" sz="1275" b="0">
                <a:solidFill>
                  <a:srgbClr val="0B5A46"/>
                </a:solidFill>
                <a:latin typeface="Microsoft YaHei"/>
                <a:ea typeface="Microsoft YaHei"/>
                <a:cs typeface="Microsoft YaHei"/>
              </a:rPr>
              <a:t>作品链接、Demo 视频、介绍 PPT、源码仓库、对话记录 —— 依赛事手册 §4.1 逐项如实汇报。</a:t>
            </a:r>
            <a:r>
              <a:rPr lang="zh-CN" sz="1275" b="0">
                <a:solidFill>
                  <a:srgbClr val="0B5A46"/>
                </a:solidFill>
                <a:latin typeface="Microsoft YaHei"/>
                <a:ea typeface="Microsoft YaHei"/>
                <a:cs typeface="Microsoft YaHei"/>
              </a:rPr>
              <a:t></a:t>
            </a:r>
            <a:endParaRPr lang="zh-CN" sz="1275" b="0">
              <a:solidFill>
                <a:srgbClr val="0B5A46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1" name="Rectangle 9"/>
          <p:cNvSpPr/>
          <p:nvPr/>
        </p:nvSpPr>
        <p:spPr>
          <a:xfrm>
            <a:off x="838200" y="3810000"/>
            <a:ext cx="2914650" cy="14288"/>
          </a:xfrm>
          <a:prstGeom prst="rect">
            <a:avLst/>
          </a:prstGeom>
          <a:solidFill>
            <a:srgbClr val="0F6E5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TextBox 10"/>
          <p:cNvSpPr txBox="1"/>
          <p:nvPr/>
        </p:nvSpPr>
        <p:spPr>
          <a:xfrm>
            <a:off x="838200" y="3943350"/>
            <a:ext cx="291465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300"/>
              </a:lnSpc>
            </a:pPr>
            <a:r>
              <a:rPr sz="1125" b="1">
                <a:solidFill>
                  <a:srgbClr val="0B5A46"/>
                </a:solidFill>
                <a:latin typeface="Microsoft YaHei"/>
                <a:ea typeface="Microsoft YaHei"/>
                <a:cs typeface="Microsoft YaHei"/>
              </a:rPr>
              <a:t>交付口径</a:t>
            </a:r>
            <a:endParaRPr/>
          </a:p>
        </p:txBody>
      </p:sp>
      <p:sp>
        <p:nvSpPr>
          <p:cNvPr id="113" name="TextBox 11"/>
          <p:cNvSpPr txBox="1"/>
          <p:nvPr/>
        </p:nvSpPr>
        <p:spPr>
          <a:xfrm>
            <a:off x="838200" y="4229100"/>
            <a:ext cx="2914650" cy="10477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1700"/>
              </a:lnSpc>
            </a:pPr>
            <a:r>
              <a:rPr sz="1200" b="0">
                <a:solidFill>
                  <a:srgbClr val="0B5A46"/>
                </a:solidFill>
                <a:latin typeface="Microsoft YaHei"/>
                <a:ea typeface="Microsoft YaHei"/>
                <a:cs typeface="Microsoft YaHei"/>
              </a:rPr>
              <a:t>评委无需配置任何密钥；仓库在匿名状态下可读可克隆；材料上限 5 份 / 15000 字；单次模型调用预算 90 秒。</a:t>
            </a:r>
            <a:endParaRPr/>
          </a:p>
        </p:txBody>
      </p:sp>
      <p:sp>
        <p:nvSpPr>
          <p:cNvPr id="114" name="Rectangle 12"/>
          <p:cNvSpPr/>
          <p:nvPr/>
        </p:nvSpPr>
        <p:spPr>
          <a:xfrm>
            <a:off x="838200" y="5467350"/>
            <a:ext cx="2914650" cy="14288"/>
          </a:xfrm>
          <a:prstGeom prst="rect">
            <a:avLst/>
          </a:prstGeom>
          <a:solidFill>
            <a:srgbClr val="0F6E5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TextBox 13"/>
          <p:cNvSpPr txBox="1"/>
          <p:nvPr/>
        </p:nvSpPr>
        <p:spPr>
          <a:xfrm>
            <a:off x="838200" y="5600700"/>
            <a:ext cx="2914650" cy="571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3300"/>
              </a:lnSpc>
            </a:pPr>
            <a:r>
              <a:rPr sz="1125" b="0">
                <a:solidFill>
                  <a:srgbClr val="0B5A46"/>
                </a:solidFill>
                <a:latin typeface="Microsoft YaHei"/>
                <a:ea typeface="Microsoft YaHei"/>
                <a:cs typeface="Microsoft YaHei"/>
              </a:rPr>
              <a:t>团队内部提交 9/26 18:00；官方截止 9/26 23:59。</a:t>
            </a:r>
            <a:endParaRPr/>
          </a:p>
        </p:txBody>
      </p:sp>
      <p:sp>
        <p:nvSpPr>
          <p:cNvPr id="116" name="Rounded Rectangle 14"/>
          <p:cNvSpPr/>
          <p:nvPr/>
        </p:nvSpPr>
        <p:spPr>
          <a:xfrm>
            <a:off x="4171950" y="1333500"/>
            <a:ext cx="7410450" cy="800100"/>
          </a:xfrm>
          <a:prstGeom prst="roundRect">
            <a:avLst>
              <a:gd name="adj" fmla="val 11904"/>
            </a:avLst>
          </a:prstGeom>
          <a:solidFill>
            <a:srgbClr val="FFFFFF"/>
          </a:solidFill>
          <a:ln w="19050">
            <a:solidFill>
              <a:srgbClr val="0F6E5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Oval 15"/>
          <p:cNvSpPr/>
          <p:nvPr/>
        </p:nvSpPr>
        <p:spPr>
          <a:xfrm>
            <a:off x="4400550" y="1600200"/>
            <a:ext cx="266700" cy="266700"/>
          </a:xfrm>
          <a:prstGeom prst="ellipse">
            <a:avLst/>
          </a:prstGeom>
          <a:solidFill>
            <a:srgbClr val="0F6E5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TextBox 16"/>
          <p:cNvSpPr txBox="1"/>
          <p:nvPr/>
        </p:nvSpPr>
        <p:spPr>
          <a:xfrm>
            <a:off x="4400550" y="1600200"/>
            <a:ext cx="266700" cy="2667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83300"/>
              </a:lnSpc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✓</a:t>
            </a:r>
            <a:endParaRPr/>
          </a:p>
        </p:txBody>
      </p:sp>
      <p:sp>
        <p:nvSpPr>
          <p:cNvPr id="119" name="TextBox 17"/>
          <p:cNvSpPr txBox="1"/>
          <p:nvPr/>
        </p:nvSpPr>
        <p:spPr>
          <a:xfrm>
            <a:off x="4819650" y="1428750"/>
            <a:ext cx="6667500" cy="2476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300"/>
              </a:lnSpc>
            </a:pPr>
            <a:r>
              <a:rPr sz="1350" b="1">
                <a:solidFill>
                  <a:srgbClr val="1F1F1D"/>
                </a:solidFill>
                <a:latin typeface="Microsoft YaHei"/>
                <a:ea typeface="Microsoft YaHei"/>
                <a:cs typeface="Microsoft YaHei"/>
              </a:rPr>
              <a:t>在线链接 · 已部署</a:t>
            </a:r>
            <a:endParaRPr/>
          </a:p>
        </p:txBody>
      </p:sp>
      <p:sp>
        <p:nvSpPr>
          <p:cNvPr id="120" name="TextBox 18"/>
          <p:cNvSpPr txBox="1"/>
          <p:nvPr/>
        </p:nvSpPr>
        <p:spPr>
          <a:xfrm>
            <a:off x="4819650" y="1714500"/>
            <a:ext cx="6667500" cy="4191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6700"/>
              </a:lnSpc>
            </a:pPr>
            <a:r>
              <a:rPr lang="zh-CN" sz="1200" b="0">
                <a:solidFill>
                  <a:srgbClr val="6B6B66"/>
                </a:solidFill>
                <a:latin typeface="Microsoft YaHei"/>
                <a:ea typeface="Microsoft YaHei"/>
                <a:cs typeface="Microsoft YaHei"/>
              </a:rPr>
              <a:t>页面与 /api 同源托管，真实 DeepSeek 通道端到端实测通过；补缺口走到「已验证」、图谱 10 条边、识图 2.07 s 均为线上实测。</a:t>
            </a:r>
            <a:r>
              <a:rPr lang="zh-CN" sz="1200" b="0">
                <a:solidFill>
                  <a:srgbClr val="6B6B66"/>
                </a:solidFill>
                <a:latin typeface="Microsoft YaHei"/>
                <a:ea typeface="Microsoft YaHei"/>
                <a:cs typeface="Microsoft YaHei"/>
              </a:rPr>
              <a:t></a:t>
            </a:r>
            <a:endParaRPr lang="zh-CN" sz="1200" b="0">
              <a:solidFill>
                <a:srgbClr val="6B6B66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21" name="Rounded Rectangle 19"/>
          <p:cNvSpPr/>
          <p:nvPr/>
        </p:nvSpPr>
        <p:spPr>
          <a:xfrm>
            <a:off x="4171950" y="2209800"/>
            <a:ext cx="7410450" cy="800100"/>
          </a:xfrm>
          <a:prstGeom prst="roundRect">
            <a:avLst>
              <a:gd name="adj" fmla="val 11904"/>
            </a:avLst>
          </a:prstGeom>
          <a:solidFill>
            <a:srgbClr val="FFFFFF"/>
          </a:solidFill>
          <a:ln w="19050">
            <a:solidFill>
              <a:srgbClr val="0F6E5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Oval 20"/>
          <p:cNvSpPr/>
          <p:nvPr/>
        </p:nvSpPr>
        <p:spPr>
          <a:xfrm>
            <a:off x="4400550" y="2476500"/>
            <a:ext cx="266700" cy="266700"/>
          </a:xfrm>
          <a:prstGeom prst="ellipse">
            <a:avLst/>
          </a:prstGeom>
          <a:solidFill>
            <a:srgbClr val="0F6E5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3" name="TextBox 21"/>
          <p:cNvSpPr txBox="1"/>
          <p:nvPr/>
        </p:nvSpPr>
        <p:spPr>
          <a:xfrm>
            <a:off x="4400550" y="2476500"/>
            <a:ext cx="266700" cy="2667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83300"/>
              </a:lnSpc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✓</a:t>
            </a:r>
            <a:endParaRPr/>
          </a:p>
        </p:txBody>
      </p:sp>
      <p:sp>
        <p:nvSpPr>
          <p:cNvPr id="124" name="TextBox 22"/>
          <p:cNvSpPr txBox="1"/>
          <p:nvPr/>
        </p:nvSpPr>
        <p:spPr>
          <a:xfrm>
            <a:off x="4819650" y="2305050"/>
            <a:ext cx="6667500" cy="2476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300"/>
              </a:lnSpc>
            </a:pPr>
            <a:r>
              <a:rPr sz="1350" b="1">
                <a:solidFill>
                  <a:srgbClr val="1F1F1D"/>
                </a:solidFill>
                <a:latin typeface="Microsoft YaHei"/>
                <a:ea typeface="Microsoft YaHei"/>
                <a:cs typeface="Microsoft YaHei"/>
              </a:rPr>
              <a:t>源码仓库 · 已公开</a:t>
            </a:r>
            <a:endParaRPr/>
          </a:p>
        </p:txBody>
      </p:sp>
      <p:sp>
        <p:nvSpPr>
          <p:cNvPr id="125" name="TextBox 23"/>
          <p:cNvSpPr txBox="1"/>
          <p:nvPr/>
        </p:nvSpPr>
        <p:spPr>
          <a:xfrm>
            <a:off x="4819650" y="2590800"/>
            <a:ext cx="6667500" cy="4191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6700"/>
              </a:lnSpc>
            </a:pPr>
            <a:r>
              <a:rPr sz="1200" b="0">
                <a:solidFill>
                  <a:srgbClr val="6B6B66"/>
                </a:solidFill>
                <a:latin typeface="Microsoft YaHei"/>
                <a:ea typeface="Microsoft YaHei"/>
                <a:cs typeface="Microsoft YaHei"/>
              </a:rPr>
              <a:t>GitHub 公开仓库，含启动说明与 .env.example；匿名状态下可读可克隆，评委无需配置任何密钥。</a:t>
            </a:r>
            <a:endParaRPr/>
          </a:p>
        </p:txBody>
      </p:sp>
      <p:sp>
        <p:nvSpPr>
          <p:cNvPr id="126" name="Rounded Rectangle 24"/>
          <p:cNvSpPr/>
          <p:nvPr/>
        </p:nvSpPr>
        <p:spPr>
          <a:xfrm>
            <a:off x="4171950" y="3086100"/>
            <a:ext cx="7410450" cy="800100"/>
          </a:xfrm>
          <a:prstGeom prst="roundRect">
            <a:avLst>
              <a:gd name="adj" fmla="val 11904"/>
            </a:avLst>
          </a:prstGeom>
          <a:solidFill>
            <a:srgbClr val="FFFFFF"/>
          </a:solidFill>
          <a:ln w="19050">
            <a:solidFill>
              <a:srgbClr val="854F0B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7" name="Oval 25"/>
          <p:cNvSpPr/>
          <p:nvPr/>
        </p:nvSpPr>
        <p:spPr>
          <a:xfrm>
            <a:off x="4400550" y="3352800"/>
            <a:ext cx="266700" cy="266700"/>
          </a:xfrm>
          <a:prstGeom prst="ellipse">
            <a:avLst/>
          </a:prstGeom>
          <a:solidFill>
            <a:srgbClr val="854F0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8" name="TextBox 26"/>
          <p:cNvSpPr txBox="1"/>
          <p:nvPr/>
        </p:nvSpPr>
        <p:spPr>
          <a:xfrm>
            <a:off x="4400550" y="3352800"/>
            <a:ext cx="266700" cy="2667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83300"/>
              </a:lnSpc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129" name="TextBox 27"/>
          <p:cNvSpPr txBox="1"/>
          <p:nvPr/>
        </p:nvSpPr>
        <p:spPr>
          <a:xfrm>
            <a:off x="4819650" y="3181350"/>
            <a:ext cx="6667500" cy="2476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300"/>
              </a:lnSpc>
            </a:pPr>
            <a:r>
              <a:rPr sz="1350" b="1">
                <a:solidFill>
                  <a:srgbClr val="1F1F1D"/>
                </a:solidFill>
                <a:latin typeface="Microsoft YaHei"/>
                <a:ea typeface="Microsoft YaHei"/>
                <a:cs typeface="Microsoft YaHei"/>
              </a:rPr>
              <a:t>对话记录 · 已归档</a:t>
            </a:r>
          </a:p>
        </p:txBody>
      </p:sp>
      <p:sp>
        <p:nvSpPr>
          <p:cNvPr id="130" name="TextBox 28"/>
          <p:cNvSpPr txBox="1"/>
          <p:nvPr/>
        </p:nvSpPr>
        <p:spPr>
          <a:xfrm>
            <a:off x="4819650" y="3467100"/>
            <a:ext cx="6667500" cy="4191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6700"/>
              </a:lnSpc>
            </a:pPr>
            <a:r>
              <a:rPr lang="zh-CN" sz="1200" b="1">
                <a:solidFill>
                  <a:srgbClr val="6B6B66"/>
                </a:solidFill>
                <a:latin typeface="Microsoft YaHei"/>
                <a:ea typeface="Microsoft YaHei"/>
                <a:cs typeface="Microsoft YaHei"/>
              </a:rPr>
              <a:t>已导出 9/16–9/26 共 180 轮人工提问，随附原始文件清单与校验值；与四类开发文档互相溯源。</a:t>
            </a:r>
            <a:endParaRPr lang="zh-CN" sz="1200" b="1">
              <a:solidFill>
                <a:srgbClr val="6B6B66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31" name="Rounded Rectangle 29"/>
          <p:cNvSpPr/>
          <p:nvPr/>
        </p:nvSpPr>
        <p:spPr>
          <a:xfrm>
            <a:off x="4171950" y="3962400"/>
            <a:ext cx="7410450" cy="800100"/>
          </a:xfrm>
          <a:prstGeom prst="roundRect">
            <a:avLst>
              <a:gd name="adj" fmla="val 11904"/>
            </a:avLst>
          </a:prstGeom>
          <a:solidFill>
            <a:srgbClr val="FFFFFF"/>
          </a:solidFill>
          <a:ln w="19050">
            <a:solidFill>
              <a:srgbClr val="854F0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2" name="Oval 30"/>
          <p:cNvSpPr/>
          <p:nvPr/>
        </p:nvSpPr>
        <p:spPr>
          <a:xfrm>
            <a:off x="4400550" y="4229100"/>
            <a:ext cx="266700" cy="266700"/>
          </a:xfrm>
          <a:prstGeom prst="ellipse">
            <a:avLst/>
          </a:prstGeom>
          <a:solidFill>
            <a:srgbClr val="854F0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!</a:t>
            </a:r>
          </a:p>
        </p:txBody>
      </p:sp>
      <p:sp>
        <p:nvSpPr>
          <p:cNvPr id="133" name="TextBox 31"/>
          <p:cNvSpPr txBox="1"/>
          <p:nvPr/>
        </p:nvSpPr>
        <p:spPr>
          <a:xfrm>
            <a:off x="4400550" y="4229100"/>
            <a:ext cx="266700" cy="2667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83300"/>
              </a:lnSpc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!</a:t>
            </a:r>
            <a:endParaRPr/>
          </a:p>
        </p:txBody>
      </p:sp>
      <p:sp>
        <p:nvSpPr>
          <p:cNvPr id="134" name="TextBox 32"/>
          <p:cNvSpPr txBox="1"/>
          <p:nvPr/>
        </p:nvSpPr>
        <p:spPr>
          <a:xfrm>
            <a:off x="4819650" y="4057650"/>
            <a:ext cx="6667500" cy="2476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300"/>
              </a:lnSpc>
            </a:pPr>
            <a:r>
              <a:rPr sz="1350" b="1">
                <a:solidFill>
                  <a:srgbClr val="1F1F1D"/>
                </a:solidFill>
                <a:latin typeface="Microsoft YaHei"/>
                <a:ea typeface="Microsoft YaHei"/>
                <a:cs typeface="Microsoft YaHei"/>
              </a:rPr>
              <a:t>可交互作品 · 主体可演示</a:t>
            </a:r>
            <a:endParaRPr/>
          </a:p>
        </p:txBody>
      </p:sp>
      <p:sp>
        <p:nvSpPr>
          <p:cNvPr id="135" name="TextBox 33"/>
          <p:cNvSpPr txBox="1"/>
          <p:nvPr/>
        </p:nvSpPr>
        <p:spPr>
          <a:xfrm>
            <a:off x="4819650" y="4343400"/>
            <a:ext cx="6667500" cy="4191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6700"/>
              </a:lnSpc>
            </a:pPr>
            <a:r>
              <a:rPr sz="1200" b="0">
                <a:solidFill>
                  <a:srgbClr val="6B6B66"/>
                </a:solidFill>
                <a:latin typeface="Microsoft YaHei"/>
                <a:ea typeface="Microsoft YaHei"/>
                <a:cs typeface="Microsoft YaHei"/>
              </a:rPr>
              <a:t>材料路径与零材料轻路径都可交互；图片识别已接入；语音走浏览器侧，服务端不转写。</a:t>
            </a:r>
            <a:endParaRPr/>
          </a:p>
        </p:txBody>
      </p:sp>
      <p:sp>
        <p:nvSpPr>
          <p:cNvPr id="136" name="Rounded Rectangle 34"/>
          <p:cNvSpPr/>
          <p:nvPr/>
        </p:nvSpPr>
        <p:spPr>
          <a:xfrm>
            <a:off x="4171950" y="4895850"/>
            <a:ext cx="7410450" cy="1390650"/>
          </a:xfrm>
          <a:prstGeom prst="roundRect">
            <a:avLst>
              <a:gd name="adj" fmla="val 6849"/>
            </a:avLst>
          </a:prstGeom>
          <a:solidFill>
            <a:srgbClr val="FDF0D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7" name="TextBox 35"/>
          <p:cNvSpPr txBox="1"/>
          <p:nvPr/>
        </p:nvSpPr>
        <p:spPr>
          <a:xfrm>
            <a:off x="4400550" y="5029200"/>
            <a:ext cx="695325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300"/>
              </a:lnSpc>
            </a:pPr>
            <a:r>
              <a:rPr sz="1125" b="1">
                <a:solidFill>
                  <a:srgbClr val="854F0B"/>
                </a:solidFill>
                <a:latin typeface="Microsoft YaHei"/>
                <a:ea typeface="Microsoft YaHei"/>
                <a:cs typeface="Microsoft YaHei"/>
              </a:rPr>
              <a:t>三条在线限制 · 都不是故障</a:t>
            </a:r>
            <a:endParaRPr/>
          </a:p>
        </p:txBody>
      </p:sp>
      <p:sp>
        <p:nvSpPr>
          <p:cNvPr id="138" name="TextBox 36"/>
          <p:cNvSpPr txBox="1"/>
          <p:nvPr/>
        </p:nvSpPr>
        <p:spPr>
          <a:xfrm>
            <a:off x="4400550" y="5295900"/>
            <a:ext cx="6953250" cy="2667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6700"/>
              </a:lnSpc>
            </a:pPr>
            <a:r>
              <a:rPr sz="1200" b="0">
                <a:solidFill>
                  <a:srgbClr val="854F0B"/>
                </a:solidFill>
                <a:latin typeface="Microsoft YaHei"/>
                <a:ea typeface="Microsoft YaHei"/>
                <a:cs typeface="Microsoft YaHei"/>
              </a:rPr>
              <a:t>① 默认域名先出现一次「访问提示中间页」：打开 → 点确定访问 → 可用。</a:t>
            </a:r>
            <a:endParaRPr/>
          </a:p>
        </p:txBody>
      </p:sp>
      <p:sp>
        <p:nvSpPr>
          <p:cNvPr id="139" name="TextBox 37"/>
          <p:cNvSpPr txBox="1"/>
          <p:nvPr/>
        </p:nvSpPr>
        <p:spPr>
          <a:xfrm>
            <a:off x="4400550" y="5581650"/>
            <a:ext cx="6953250" cy="2667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6700"/>
              </a:lnSpc>
            </a:pPr>
            <a:r>
              <a:rPr sz="1200" b="0">
                <a:solidFill>
                  <a:srgbClr val="854F0B"/>
                </a:solidFill>
                <a:latin typeface="Microsoft YaHei"/>
                <a:ea typeface="Microsoft YaHei"/>
                <a:cs typeface="Microsoft YaHei"/>
              </a:rPr>
              <a:t>② 冷启动：长时间无流量后首访可能 503、或需等约 30 秒，重试即 200。</a:t>
            </a:r>
            <a:endParaRPr/>
          </a:p>
        </p:txBody>
      </p:sp>
      <p:sp>
        <p:nvSpPr>
          <p:cNvPr id="140" name="TextBox 38"/>
          <p:cNvSpPr txBox="1"/>
          <p:nvPr/>
        </p:nvSpPr>
        <p:spPr>
          <a:xfrm>
            <a:off x="4400550" y="5867400"/>
            <a:ext cx="6953250" cy="2667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6700"/>
              </a:lnSpc>
            </a:pPr>
            <a:r>
              <a:rPr lang="zh-CN" sz="1200" b="0">
                <a:solidFill>
                  <a:srgbClr val="854F0B"/>
                </a:solidFill>
                <a:latin typeface="Microsoft YaHei"/>
                <a:ea typeface="Microsoft YaHei"/>
                <a:cs typeface="Microsoft YaHei"/>
              </a:rPr>
              <a:t>③ 响应头 content-disposition 来自云托管网关；真实浏览器实测为「打开页面」，不触发下载。</a:t>
            </a:r>
            <a:r>
              <a:rPr lang="zh-CN" sz="1200" b="0">
                <a:solidFill>
                  <a:srgbClr val="854F0B"/>
                </a:solidFill>
                <a:latin typeface="Microsoft YaHei"/>
                <a:ea typeface="Microsoft YaHei"/>
                <a:cs typeface="Microsoft YaHei"/>
              </a:rPr>
              <a:t></a:t>
            </a:r>
            <a:endParaRPr lang="zh-CN" sz="1200" b="0">
              <a:solidFill>
                <a:srgbClr val="854F0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41" name="Rectangle 39"/>
          <p:cNvSpPr/>
          <p:nvPr/>
        </p:nvSpPr>
        <p:spPr>
          <a:xfrm>
            <a:off x="609600" y="6419850"/>
            <a:ext cx="38100" cy="171450"/>
          </a:xfrm>
          <a:prstGeom prst="rect">
            <a:avLst/>
          </a:prstGeom>
          <a:solidFill>
            <a:srgbClr val="0F6E5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2" name="TextBox 40"/>
          <p:cNvSpPr txBox="1"/>
          <p:nvPr/>
        </p:nvSpPr>
        <p:spPr>
          <a:xfrm>
            <a:off x="742950" y="6362700"/>
            <a:ext cx="7239000" cy="2476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B6B66"/>
                </a:solidFill>
                <a:latin typeface="Microsoft YaHei"/>
                <a:ea typeface="Microsoft YaHei"/>
                <a:cs typeface="Microsoft YaHei"/>
              </a:rPr>
              <a:t>微积分学伴 · 大湾区 AI Coding 创新大赛</a:t>
            </a:r>
            <a:endParaRPr/>
          </a:p>
        </p:txBody>
      </p:sp>
      <p:sp>
        <p:nvSpPr>
          <p:cNvPr id="143" name="TextBox 41"/>
          <p:cNvSpPr txBox="1"/>
          <p:nvPr/>
        </p:nvSpPr>
        <p:spPr>
          <a:xfrm>
            <a:off x="9620250" y="6362700"/>
            <a:ext cx="1962150" cy="2476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050" b="0">
                <a:solidFill>
                  <a:srgbClr val="6B6B66"/>
                </a:solidFill>
                <a:latin typeface="Consolas"/>
                <a:ea typeface="Consolas"/>
                <a:cs typeface="Consolas"/>
              </a:rPr>
              <a:t>12 / 14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spTree>
      <p:nvGrpSpPr>
        <p:cNvPr id="14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6" name="TextBox 2"/>
          <p:cNvSpPr txBox="1"/>
          <p:nvPr/>
        </p:nvSpPr>
        <p:spPr>
          <a:xfrm>
            <a:off x="609600" y="171450"/>
            <a:ext cx="8953500" cy="5143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300"/>
              </a:lnSpc>
            </a:pPr>
            <a:r>
              <a:rPr lang="zh-CN" sz="2700" b="1">
                <a:solidFill>
                  <a:srgbClr val="1F1F1D"/>
                </a:solidFill>
                <a:latin typeface="Microsoft YaHei"/>
                <a:ea typeface="Microsoft YaHei"/>
                <a:cs typeface="Microsoft YaHei"/>
              </a:rPr>
              <a:t>已实现 / 未实测 / 后续</a:t>
            </a:r>
            <a:r>
              <a:rPr lang="zh-CN" sz="2700" b="1">
                <a:solidFill>
                  <a:srgbClr val="1F1F1D"/>
                </a:solidFill>
                <a:latin typeface="Microsoft YaHei"/>
                <a:ea typeface="Microsoft YaHei"/>
                <a:cs typeface="Microsoft YaHei"/>
              </a:rPr>
              <a:t></a:t>
            </a:r>
            <a:endParaRPr lang="zh-CN" sz="2700" b="1">
              <a:solidFill>
                <a:srgbClr val="1F1F1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47" name="TextBox 3"/>
          <p:cNvSpPr txBox="1"/>
          <p:nvPr/>
        </p:nvSpPr>
        <p:spPr>
          <a:xfrm>
            <a:off x="609600" y="704850"/>
            <a:ext cx="9906000" cy="2857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500"/>
              </a:lnSpc>
            </a:pPr>
            <a:r>
              <a:rPr sz="1350" b="0">
                <a:solidFill>
                  <a:srgbClr val="6B6B66"/>
                </a:solidFill>
                <a:latin typeface="Microsoft YaHei"/>
                <a:ea typeface="Microsoft YaHei"/>
                <a:cs typeface="Microsoft YaHei"/>
              </a:rPr>
              <a:t>三档如实分列，每一档都能被检查 —— 这一页是我们最想被追问的一页</a:t>
            </a:r>
            <a:endParaRPr/>
          </a:p>
        </p:txBody>
      </p:sp>
      <p:sp>
        <p:nvSpPr>
          <p:cNvPr id="148" name="Rectangle 4"/>
          <p:cNvSpPr/>
          <p:nvPr/>
        </p:nvSpPr>
        <p:spPr>
          <a:xfrm>
            <a:off x="609600" y="1143000"/>
            <a:ext cx="10972800" cy="14288"/>
          </a:xfrm>
          <a:prstGeom prst="rect">
            <a:avLst/>
          </a:prstGeom>
          <a:solidFill>
            <a:srgbClr val="E2E1DC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9" name="Rectangle 5"/>
          <p:cNvSpPr/>
          <p:nvPr/>
        </p:nvSpPr>
        <p:spPr>
          <a:xfrm>
            <a:off x="609600" y="1333500"/>
            <a:ext cx="7867650" cy="419100"/>
          </a:xfrm>
          <a:prstGeom prst="rect">
            <a:avLst/>
          </a:prstGeom>
          <a:solidFill>
            <a:srgbClr val="0F6E5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0" name="TextBox 6"/>
          <p:cNvSpPr txBox="1"/>
          <p:nvPr/>
        </p:nvSpPr>
        <p:spPr>
          <a:xfrm>
            <a:off x="723900" y="1333500"/>
            <a:ext cx="1343025" cy="4191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分档</a:t>
            </a:r>
            <a:endParaRPr/>
          </a:p>
        </p:txBody>
      </p:sp>
      <p:sp>
        <p:nvSpPr>
          <p:cNvPr id="151" name="TextBox 7"/>
          <p:cNvSpPr txBox="1"/>
          <p:nvPr/>
        </p:nvSpPr>
        <p:spPr>
          <a:xfrm>
            <a:off x="2295525" y="1333500"/>
            <a:ext cx="3228975" cy="4191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包含的能力</a:t>
            </a:r>
            <a:endParaRPr/>
          </a:p>
        </p:txBody>
      </p:sp>
      <p:sp>
        <p:nvSpPr>
          <p:cNvPr id="152" name="TextBox 8"/>
          <p:cNvSpPr txBox="1"/>
          <p:nvPr/>
        </p:nvSpPr>
        <p:spPr>
          <a:xfrm>
            <a:off x="5753100" y="1333500"/>
            <a:ext cx="2609850" cy="4191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可核验的依据</a:t>
            </a:r>
            <a:endParaRPr/>
          </a:p>
        </p:txBody>
      </p:sp>
      <p:sp>
        <p:nvSpPr>
          <p:cNvPr id="153" name="Rectangle 9"/>
          <p:cNvSpPr/>
          <p:nvPr/>
        </p:nvSpPr>
        <p:spPr>
          <a:xfrm>
            <a:off x="609600" y="1752600"/>
            <a:ext cx="1571625" cy="1133475"/>
          </a:xfrm>
          <a:prstGeom prst="rect">
            <a:avLst/>
          </a:prstGeom>
          <a:solidFill>
            <a:srgbClr val="E1F5EE"/>
          </a:solidFill>
          <a:ln w="12700">
            <a:solidFill>
              <a:srgbClr val="E2E1DC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4" name="Rectangle 10"/>
          <p:cNvSpPr/>
          <p:nvPr/>
        </p:nvSpPr>
        <p:spPr>
          <a:xfrm>
            <a:off x="2181225" y="1752600"/>
            <a:ext cx="3457575" cy="1133475"/>
          </a:xfrm>
          <a:prstGeom prst="rect">
            <a:avLst/>
          </a:prstGeom>
          <a:solidFill>
            <a:srgbClr val="FFFFFF"/>
          </a:solidFill>
          <a:ln w="12700">
            <a:solidFill>
              <a:srgbClr val="E2E1DC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5" name="Rectangle 11"/>
          <p:cNvSpPr/>
          <p:nvPr/>
        </p:nvSpPr>
        <p:spPr>
          <a:xfrm>
            <a:off x="5638800" y="1752600"/>
            <a:ext cx="2838450" cy="1133475"/>
          </a:xfrm>
          <a:prstGeom prst="rect">
            <a:avLst/>
          </a:prstGeom>
          <a:solidFill>
            <a:srgbClr val="FFFFFF"/>
          </a:solidFill>
          <a:ln w="12700">
            <a:solidFill>
              <a:srgbClr val="E2E1DC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6" name="TextBox 12"/>
          <p:cNvSpPr txBox="1"/>
          <p:nvPr/>
        </p:nvSpPr>
        <p:spPr>
          <a:xfrm>
            <a:off x="723900" y="1752600"/>
            <a:ext cx="1343025" cy="1133475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6700"/>
              </a:lnSpc>
            </a:pPr>
            <a:r>
              <a:rPr sz="1125" b="1">
                <a:solidFill>
                  <a:srgbClr val="0B5A46"/>
                </a:solidFill>
                <a:latin typeface="Microsoft YaHei"/>
                <a:ea typeface="Microsoft YaHei"/>
                <a:cs typeface="Microsoft YaHei"/>
              </a:rPr>
              <a:t>已实现 · 可演示</a:t>
            </a:r>
            <a:endParaRPr/>
          </a:p>
        </p:txBody>
      </p:sp>
      <p:sp>
        <p:nvSpPr>
          <p:cNvPr id="157" name="TextBox 13"/>
          <p:cNvSpPr txBox="1"/>
          <p:nvPr/>
        </p:nvSpPr>
        <p:spPr>
          <a:xfrm>
            <a:off x="2295525" y="1866900"/>
            <a:ext cx="3228975" cy="90487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lang="zh-CN" sz="1125" b="0">
                <a:solidFill>
                  <a:srgbClr val="1F1F1D"/>
                </a:solidFill>
                <a:latin typeface="Microsoft YaHei"/>
                <a:ea typeface="Microsoft YaHei"/>
                <a:cs typeface="Microsoft YaHei"/>
              </a:rPr>
              <a:t>契约十四个接口（全部可用）、统一错误层、原子提交与版本护栏、依赖六态与缺口一键补齐、零材料轻路径、图谱邻域、会话内画像、符号验证四类断言、错题归因、变式题、教师视图与演示级登录、多智能体降级</a:t>
            </a:r>
            <a:r>
              <a:rPr lang="zh-CN" sz="1125" b="0">
                <a:solidFill>
                  <a:srgbClr val="1F1F1D"/>
                </a:solidFill>
                <a:latin typeface="Microsoft YaHei"/>
                <a:ea typeface="Microsoft YaHei"/>
                <a:cs typeface="Microsoft YaHei"/>
              </a:rPr>
              <a:t></a:t>
            </a:r>
            <a:endParaRPr lang="zh-CN" sz="1125" b="0">
              <a:solidFill>
                <a:srgbClr val="1F1F1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58" name="TextBox 14"/>
          <p:cNvSpPr txBox="1"/>
          <p:nvPr/>
        </p:nvSpPr>
        <p:spPr>
          <a:xfrm>
            <a:off x="5753100" y="1866900"/>
            <a:ext cx="2609850" cy="90487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lang="zh-CN" sz="1125" b="0">
                <a:solidFill>
                  <a:srgbClr val="6B6B66"/>
                </a:solidFill>
                <a:latin typeface="Microsoft YaHei"/>
                <a:ea typeface="Microsoft YaHei"/>
                <a:cs typeface="Microsoft YaHei"/>
              </a:rPr>
              <a:t>回归 927 项全部通过（离线或 mock，不消耗模型额度）；线上真实通道实测：补缺口走到「已验证」＋ symbolic、图谱 5 节点 10 条边、识图 200 / 2.07 s</a:t>
            </a:r>
            <a:r>
              <a:rPr lang="zh-CN" sz="1125" b="0">
                <a:solidFill>
                  <a:srgbClr val="6B6B66"/>
                </a:solidFill>
                <a:latin typeface="Microsoft YaHei"/>
                <a:ea typeface="Microsoft YaHei"/>
                <a:cs typeface="Microsoft YaHei"/>
              </a:rPr>
              <a:t></a:t>
            </a:r>
            <a:endParaRPr lang="zh-CN" sz="1125" b="0">
              <a:solidFill>
                <a:srgbClr val="6B6B66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59" name="Rectangle 15"/>
          <p:cNvSpPr/>
          <p:nvPr/>
        </p:nvSpPr>
        <p:spPr>
          <a:xfrm>
            <a:off x="609600" y="2886075"/>
            <a:ext cx="1571625" cy="1133475"/>
          </a:xfrm>
          <a:prstGeom prst="rect">
            <a:avLst/>
          </a:prstGeom>
          <a:solidFill>
            <a:srgbClr val="FDF0D5"/>
          </a:solidFill>
          <a:ln w="12700">
            <a:solidFill>
              <a:srgbClr val="E2E1DC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0" name="Rectangle 16"/>
          <p:cNvSpPr/>
          <p:nvPr/>
        </p:nvSpPr>
        <p:spPr>
          <a:xfrm>
            <a:off x="2181225" y="2886075"/>
            <a:ext cx="3457575" cy="1133475"/>
          </a:xfrm>
          <a:prstGeom prst="rect">
            <a:avLst/>
          </a:prstGeom>
          <a:solidFill>
            <a:srgbClr val="FFFFFF"/>
          </a:solidFill>
          <a:ln w="12700">
            <a:solidFill>
              <a:srgbClr val="E2E1DC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1" name="Rectangle 17"/>
          <p:cNvSpPr/>
          <p:nvPr/>
        </p:nvSpPr>
        <p:spPr>
          <a:xfrm>
            <a:off x="5638800" y="2886075"/>
            <a:ext cx="2838450" cy="1133475"/>
          </a:xfrm>
          <a:prstGeom prst="rect">
            <a:avLst/>
          </a:prstGeom>
          <a:solidFill>
            <a:srgbClr val="FFFFFF"/>
          </a:solidFill>
          <a:ln w="12700">
            <a:solidFill>
              <a:srgbClr val="E2E1DC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2" name="TextBox 18"/>
          <p:cNvSpPr txBox="1"/>
          <p:nvPr/>
        </p:nvSpPr>
        <p:spPr>
          <a:xfrm>
            <a:off x="723900" y="2886075"/>
            <a:ext cx="1343025" cy="1133475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6700"/>
              </a:lnSpc>
            </a:pPr>
            <a:r>
              <a:rPr lang="zh-CN" sz="1125" b="1">
                <a:solidFill>
                  <a:srgbClr val="854F0B"/>
                </a:solidFill>
                <a:latin typeface="Microsoft YaHei"/>
                <a:ea typeface="Microsoft YaHei"/>
                <a:cs typeface="Microsoft YaHei"/>
              </a:rPr>
              <a:t>未实测 · 不得视为已验证</a:t>
            </a:r>
            <a:r>
              <a:rPr lang="zh-CN" sz="1125" b="1">
                <a:solidFill>
                  <a:srgbClr val="854F0B"/>
                </a:solidFill>
                <a:latin typeface="Microsoft YaHei"/>
                <a:ea typeface="Microsoft YaHei"/>
                <a:cs typeface="Microsoft YaHei"/>
              </a:rPr>
              <a:t></a:t>
            </a:r>
            <a:endParaRPr lang="zh-CN" sz="1125" b="1">
              <a:solidFill>
                <a:srgbClr val="854F0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63" name="TextBox 19"/>
          <p:cNvSpPr txBox="1"/>
          <p:nvPr/>
        </p:nvSpPr>
        <p:spPr>
          <a:xfrm>
            <a:off x="2295525" y="3000375"/>
            <a:ext cx="3228975" cy="90487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lang="zh-CN" sz="1125" b="0">
                <a:solidFill>
                  <a:srgbClr val="1F1F1D"/>
                </a:solidFill>
                <a:latin typeface="Microsoft YaHei"/>
                <a:ea typeface="Microsoft YaHei"/>
                <a:cs typeface="Microsoft YaHei"/>
              </a:rPr>
              <a:t>降级标注的真实 HTTP 端到端；教师视图「样本不足」提示在真实多会话数据下；答疑与出题在真实通道下的完整走查</a:t>
            </a:r>
            <a:r>
              <a:rPr lang="zh-CN" sz="1125" b="0">
                <a:solidFill>
                  <a:srgbClr val="1F1F1D"/>
                </a:solidFill>
                <a:latin typeface="Microsoft YaHei"/>
                <a:ea typeface="Microsoft YaHei"/>
                <a:cs typeface="Microsoft YaHei"/>
              </a:rPr>
              <a:t></a:t>
            </a:r>
            <a:endParaRPr lang="zh-CN" sz="1125" b="0">
              <a:solidFill>
                <a:srgbClr val="1F1F1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64" name="TextBox 20"/>
          <p:cNvSpPr txBox="1"/>
          <p:nvPr/>
        </p:nvSpPr>
        <p:spPr>
          <a:xfrm>
            <a:off x="5753100" y="3000375"/>
            <a:ext cx="2609850" cy="90487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lang="zh-CN" sz="1125" b="0">
                <a:solidFill>
                  <a:srgbClr val="6B6B66"/>
                </a:solidFill>
                <a:latin typeface="Microsoft YaHei"/>
                <a:ea typeface="Microsoft YaHei"/>
                <a:cs typeface="Microsoft YaHei"/>
              </a:rPr>
              <a:t>只列「还没在真实验证过」的项；凡未实测，一律不写成已验证</a:t>
            </a:r>
            <a:r>
              <a:rPr lang="zh-CN" sz="1125" b="0">
                <a:solidFill>
                  <a:srgbClr val="6B6B66"/>
                </a:solidFill>
                <a:latin typeface="Microsoft YaHei"/>
                <a:ea typeface="Microsoft YaHei"/>
                <a:cs typeface="Microsoft YaHei"/>
              </a:rPr>
              <a:t></a:t>
            </a:r>
            <a:endParaRPr lang="zh-CN" sz="1125" b="0">
              <a:solidFill>
                <a:srgbClr val="6B6B66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65" name="Rectangle 21"/>
          <p:cNvSpPr/>
          <p:nvPr/>
        </p:nvSpPr>
        <p:spPr>
          <a:xfrm>
            <a:off x="609600" y="4019550"/>
            <a:ext cx="1571625" cy="1133475"/>
          </a:xfrm>
          <a:prstGeom prst="rect">
            <a:avLst/>
          </a:prstGeom>
          <a:solidFill>
            <a:srgbClr val="FDF0D5"/>
          </a:solidFill>
          <a:ln w="12700">
            <a:solidFill>
              <a:srgbClr val="E2E1DC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6" name="Rectangle 22"/>
          <p:cNvSpPr/>
          <p:nvPr/>
        </p:nvSpPr>
        <p:spPr>
          <a:xfrm>
            <a:off x="2181225" y="4019550"/>
            <a:ext cx="3457575" cy="1133475"/>
          </a:xfrm>
          <a:prstGeom prst="rect">
            <a:avLst/>
          </a:prstGeom>
          <a:solidFill>
            <a:srgbClr val="FFFFFF"/>
          </a:solidFill>
          <a:ln w="12700">
            <a:solidFill>
              <a:srgbClr val="E2E1DC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7" name="Rectangle 23"/>
          <p:cNvSpPr/>
          <p:nvPr/>
        </p:nvSpPr>
        <p:spPr>
          <a:xfrm>
            <a:off x="5638800" y="4019550"/>
            <a:ext cx="2838450" cy="1133475"/>
          </a:xfrm>
          <a:prstGeom prst="rect">
            <a:avLst/>
          </a:prstGeom>
          <a:solidFill>
            <a:srgbClr val="FFFFFF"/>
          </a:solidFill>
          <a:ln w="12700">
            <a:solidFill>
              <a:srgbClr val="E2E1DC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8" name="TextBox 24"/>
          <p:cNvSpPr txBox="1"/>
          <p:nvPr/>
        </p:nvSpPr>
        <p:spPr>
          <a:xfrm>
            <a:off x="723900" y="4019550"/>
            <a:ext cx="1343025" cy="1133475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6700"/>
              </a:lnSpc>
            </a:pPr>
            <a:r>
              <a:rPr lang="zh-CN" sz="1125" b="1">
                <a:solidFill>
                  <a:srgbClr val="854F0B"/>
                </a:solidFill>
                <a:latin typeface="Microsoft YaHei"/>
                <a:ea typeface="Microsoft YaHei"/>
                <a:cs typeface="Microsoft YaHei"/>
              </a:rPr>
              <a:t>已知边界 · 如实标注</a:t>
            </a:r>
            <a:r>
              <a:rPr lang="zh-CN" sz="1125" b="1">
                <a:solidFill>
                  <a:srgbClr val="854F0B"/>
                </a:solidFill>
                <a:latin typeface="Microsoft YaHei"/>
                <a:ea typeface="Microsoft YaHei"/>
                <a:cs typeface="Microsoft YaHei"/>
              </a:rPr>
              <a:t></a:t>
            </a:r>
            <a:endParaRPr lang="zh-CN" sz="1125" b="1">
              <a:solidFill>
                <a:srgbClr val="854F0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69" name="TextBox 25"/>
          <p:cNvSpPr txBox="1"/>
          <p:nvPr/>
        </p:nvSpPr>
        <p:spPr>
          <a:xfrm>
            <a:off x="2295525" y="4133850"/>
            <a:ext cx="3228975" cy="90487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lang="zh-CN" sz="1125" b="0">
                <a:solidFill>
                  <a:srgbClr val="1F1F1D"/>
                </a:solidFill>
                <a:latin typeface="Microsoft YaHei"/>
                <a:ea typeface="Microsoft YaHei"/>
                <a:cs typeface="Microsoft YaHei"/>
              </a:rPr>
              <a:t>符号验证只覆盖四类断言，超出即「未验证」；语音依赖浏览器与联网；冷启动首访可能先 503；会话存内存，重启即失</a:t>
            </a:r>
            <a:r>
              <a:rPr lang="zh-CN" sz="1125" b="0">
                <a:solidFill>
                  <a:srgbClr val="1F1F1D"/>
                </a:solidFill>
                <a:latin typeface="Microsoft YaHei"/>
                <a:ea typeface="Microsoft YaHei"/>
                <a:cs typeface="Microsoft YaHei"/>
              </a:rPr>
              <a:t></a:t>
            </a:r>
            <a:endParaRPr lang="zh-CN" sz="1125" b="0">
              <a:solidFill>
                <a:srgbClr val="1F1F1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70" name="TextBox 26"/>
          <p:cNvSpPr txBox="1"/>
          <p:nvPr/>
        </p:nvSpPr>
        <p:spPr>
          <a:xfrm>
            <a:off x="5753100" y="4133850"/>
            <a:ext cx="2609850" cy="90487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lang="zh-CN" sz="1125" b="0">
                <a:solidFill>
                  <a:srgbClr val="6B6B66"/>
                </a:solidFill>
                <a:latin typeface="Microsoft YaHei"/>
                <a:ea typeface="Microsoft YaHei"/>
                <a:cs typeface="Microsoft YaHei"/>
              </a:rPr>
              <a:t>四类断言之外一律标「未验证」，不硬凑、也不当成通过</a:t>
            </a:r>
            <a:r>
              <a:rPr lang="zh-CN" sz="1125" b="0">
                <a:solidFill>
                  <a:srgbClr val="6B6B66"/>
                </a:solidFill>
                <a:latin typeface="Microsoft YaHei"/>
                <a:ea typeface="Microsoft YaHei"/>
                <a:cs typeface="Microsoft YaHei"/>
              </a:rPr>
              <a:t></a:t>
            </a:r>
            <a:endParaRPr lang="zh-CN" sz="1125" b="0">
              <a:solidFill>
                <a:srgbClr val="6B6B66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71" name="Rectangle 27"/>
          <p:cNvSpPr/>
          <p:nvPr/>
        </p:nvSpPr>
        <p:spPr>
          <a:xfrm>
            <a:off x="609600" y="5153025"/>
            <a:ext cx="1571625" cy="1133475"/>
          </a:xfrm>
          <a:prstGeom prst="rect">
            <a:avLst/>
          </a:prstGeom>
          <a:solidFill>
            <a:srgbClr val="F7F7F5"/>
          </a:solidFill>
          <a:ln w="12700">
            <a:solidFill>
              <a:srgbClr val="E2E1DC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2" name="Rectangle 28"/>
          <p:cNvSpPr/>
          <p:nvPr/>
        </p:nvSpPr>
        <p:spPr>
          <a:xfrm>
            <a:off x="2181225" y="5153025"/>
            <a:ext cx="3457575" cy="1133475"/>
          </a:xfrm>
          <a:prstGeom prst="rect">
            <a:avLst/>
          </a:prstGeom>
          <a:solidFill>
            <a:srgbClr val="FFFFFF"/>
          </a:solidFill>
          <a:ln w="12700">
            <a:solidFill>
              <a:srgbClr val="E2E1DC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3" name="Rectangle 29"/>
          <p:cNvSpPr/>
          <p:nvPr/>
        </p:nvSpPr>
        <p:spPr>
          <a:xfrm>
            <a:off x="5638800" y="5153025"/>
            <a:ext cx="2838450" cy="1133475"/>
          </a:xfrm>
          <a:prstGeom prst="rect">
            <a:avLst/>
          </a:prstGeom>
          <a:solidFill>
            <a:srgbClr val="FFFFFF"/>
          </a:solidFill>
          <a:ln w="12700">
            <a:solidFill>
              <a:srgbClr val="E2E1DC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4" name="TextBox 30"/>
          <p:cNvSpPr txBox="1"/>
          <p:nvPr/>
        </p:nvSpPr>
        <p:spPr>
          <a:xfrm>
            <a:off x="723900" y="5153025"/>
            <a:ext cx="1343025" cy="1133475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6700"/>
              </a:lnSpc>
            </a:pPr>
            <a:r>
              <a:rPr lang="zh-CN" sz="1125" b="1">
                <a:solidFill>
                  <a:srgbClr val="1F1F1D"/>
                </a:solidFill>
                <a:latin typeface="Microsoft YaHei"/>
                <a:ea typeface="Microsoft YaHei"/>
                <a:cs typeface="Microsoft YaHei"/>
              </a:rPr>
              <a:t>后续 · 仍需做</a:t>
            </a:r>
            <a:r>
              <a:rPr lang="zh-CN" sz="1125" b="1">
                <a:solidFill>
                  <a:srgbClr val="1F1F1D"/>
                </a:solidFill>
                <a:latin typeface="Microsoft YaHei"/>
                <a:ea typeface="Microsoft YaHei"/>
                <a:cs typeface="Microsoft YaHei"/>
              </a:rPr>
              <a:t></a:t>
            </a:r>
            <a:endParaRPr lang="zh-CN" sz="1125" b="1">
              <a:solidFill>
                <a:srgbClr val="1F1F1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75" name="TextBox 31"/>
          <p:cNvSpPr txBox="1"/>
          <p:nvPr/>
        </p:nvSpPr>
        <p:spPr>
          <a:xfrm>
            <a:off x="2295525" y="5267325"/>
            <a:ext cx="3228975" cy="90487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lang="zh-CN" sz="1125" b="0">
                <a:solidFill>
                  <a:srgbClr val="1F1F1D"/>
                </a:solidFill>
                <a:latin typeface="Microsoft YaHei"/>
                <a:ea typeface="Microsoft YaHei"/>
                <a:cs typeface="Microsoft YaHei"/>
              </a:rPr>
              <a:t>结构性拆分（9 个文件超 300 行）、契约两处遗留（事件冗余 / 材料替换语义）、锁文件缺平台可选依赖</a:t>
            </a:r>
            <a:r>
              <a:rPr lang="zh-CN" sz="1125" b="0">
                <a:solidFill>
                  <a:srgbClr val="1F1F1D"/>
                </a:solidFill>
                <a:latin typeface="Microsoft YaHei"/>
                <a:ea typeface="Microsoft YaHei"/>
                <a:cs typeface="Microsoft YaHei"/>
              </a:rPr>
              <a:t></a:t>
            </a:r>
            <a:endParaRPr lang="zh-CN" sz="1125" b="0">
              <a:solidFill>
                <a:srgbClr val="1F1F1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76" name="TextBox 32"/>
          <p:cNvSpPr txBox="1"/>
          <p:nvPr/>
        </p:nvSpPr>
        <p:spPr>
          <a:xfrm>
            <a:off x="5753100" y="5267325"/>
            <a:ext cx="2609850" cy="90487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lang="zh-CN" sz="1125" b="0">
                <a:solidFill>
                  <a:srgbClr val="6B6B66"/>
                </a:solidFill>
                <a:latin typeface="Microsoft YaHei"/>
                <a:ea typeface="Microsoft YaHei"/>
                <a:cs typeface="Microsoft YaHei"/>
              </a:rPr>
              <a:t>见 docs/todo.md 的 I43 / I2 / I3 / I39</a:t>
            </a:r>
            <a:r>
              <a:rPr lang="zh-CN" sz="1125" b="0">
                <a:solidFill>
                  <a:srgbClr val="6B6B66"/>
                </a:solidFill>
                <a:latin typeface="Microsoft YaHei"/>
                <a:ea typeface="Microsoft YaHei"/>
                <a:cs typeface="Microsoft YaHei"/>
              </a:rPr>
              <a:t></a:t>
            </a:r>
            <a:endParaRPr lang="zh-CN" sz="1125" b="0">
              <a:solidFill>
                <a:srgbClr val="6B6B66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77" name="Rounded Rectangle 33"/>
          <p:cNvSpPr/>
          <p:nvPr/>
        </p:nvSpPr>
        <p:spPr>
          <a:xfrm>
            <a:off x="8667750" y="1333500"/>
            <a:ext cx="2914650" cy="2476500"/>
          </a:xfrm>
          <a:prstGeom prst="roundRect">
            <a:avLst>
              <a:gd name="adj" fmla="val 4615"/>
            </a:avLst>
          </a:prstGeom>
          <a:solidFill>
            <a:srgbClr val="E1F5EE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8" name="TextBox 34"/>
          <p:cNvSpPr txBox="1"/>
          <p:nvPr/>
        </p:nvSpPr>
        <p:spPr>
          <a:xfrm>
            <a:off x="8877300" y="1524000"/>
            <a:ext cx="249555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75" b="0">
                <a:solidFill>
                  <a:srgbClr val="0B5A46"/>
                </a:solidFill>
                <a:latin typeface="Microsoft YaHei"/>
                <a:ea typeface="Microsoft YaHei"/>
                <a:cs typeface="Microsoft YaHei"/>
              </a:rPr>
              <a:t>判据</a:t>
            </a:r>
            <a:endParaRPr/>
          </a:p>
        </p:txBody>
      </p:sp>
      <p:sp>
        <p:nvSpPr>
          <p:cNvPr id="179" name="TextBox 35"/>
          <p:cNvSpPr txBox="1"/>
          <p:nvPr/>
        </p:nvSpPr>
        <p:spPr>
          <a:xfrm>
            <a:off x="8877300" y="1790700"/>
            <a:ext cx="2495550" cy="10477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3300"/>
              </a:lnSpc>
            </a:pPr>
            <a:r>
              <a:rPr sz="1350" b="1">
                <a:solidFill>
                  <a:srgbClr val="0B5A46"/>
                </a:solidFill>
                <a:latin typeface="Microsoft YaHei"/>
                <a:ea typeface="Microsoft YaHei"/>
                <a:cs typeface="Microsoft YaHei"/>
              </a:rPr>
              <a:t>这份片子里每一句关于「能做什么」的话，都对应一份可运行的实现，或者一条通过了的断言。</a:t>
            </a:r>
            <a:endParaRPr/>
          </a:p>
        </p:txBody>
      </p:sp>
      <p:sp>
        <p:nvSpPr>
          <p:cNvPr id="180" name="Rectangle 36"/>
          <p:cNvSpPr/>
          <p:nvPr/>
        </p:nvSpPr>
        <p:spPr>
          <a:xfrm>
            <a:off x="8877300" y="2914650"/>
            <a:ext cx="2495550" cy="14288"/>
          </a:xfrm>
          <a:prstGeom prst="rect">
            <a:avLst/>
          </a:prstGeom>
          <a:solidFill>
            <a:srgbClr val="0F6E5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1" name="TextBox 37"/>
          <p:cNvSpPr txBox="1"/>
          <p:nvPr/>
        </p:nvSpPr>
        <p:spPr>
          <a:xfrm>
            <a:off x="8877300" y="3028950"/>
            <a:ext cx="2495550" cy="6667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1700"/>
              </a:lnSpc>
            </a:pPr>
            <a:r>
              <a:rPr sz="1200" b="0">
                <a:solidFill>
                  <a:srgbClr val="0B5A46"/>
                </a:solidFill>
                <a:latin typeface="Microsoft YaHei"/>
                <a:ea typeface="Microsoft YaHei"/>
                <a:cs typeface="Microsoft YaHei"/>
              </a:rPr>
              <a:t>对不上，就算我们的缺陷 —— 而且它也不会被写进这份片子。</a:t>
            </a:r>
            <a:endParaRPr/>
          </a:p>
        </p:txBody>
      </p:sp>
      <p:sp>
        <p:nvSpPr>
          <p:cNvPr id="185" name="Rectangle 41"/>
          <p:cNvSpPr/>
          <p:nvPr/>
        </p:nvSpPr>
        <p:spPr>
          <a:xfrm>
            <a:off x="609600" y="6419850"/>
            <a:ext cx="38100" cy="171450"/>
          </a:xfrm>
          <a:prstGeom prst="rect">
            <a:avLst/>
          </a:prstGeom>
          <a:solidFill>
            <a:srgbClr val="0F6E5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6" name="TextBox 42"/>
          <p:cNvSpPr txBox="1"/>
          <p:nvPr/>
        </p:nvSpPr>
        <p:spPr>
          <a:xfrm>
            <a:off x="742950" y="6362700"/>
            <a:ext cx="7239000" cy="2476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B6B66"/>
                </a:solidFill>
                <a:latin typeface="Microsoft YaHei"/>
                <a:ea typeface="Microsoft YaHei"/>
                <a:cs typeface="Microsoft YaHei"/>
              </a:rPr>
              <a:t>微积分学伴 · 大湾区 AI Coding 创新大赛</a:t>
            </a:r>
            <a:endParaRPr/>
          </a:p>
        </p:txBody>
      </p:sp>
      <p:sp>
        <p:nvSpPr>
          <p:cNvPr id="187" name="TextBox 43"/>
          <p:cNvSpPr txBox="1"/>
          <p:nvPr/>
        </p:nvSpPr>
        <p:spPr>
          <a:xfrm>
            <a:off x="9620250" y="6362700"/>
            <a:ext cx="1962150" cy="2476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050" b="0">
                <a:solidFill>
                  <a:srgbClr val="6B6B66"/>
                </a:solidFill>
                <a:latin typeface="Consolas"/>
                <a:ea typeface="Consolas"/>
                <a:cs typeface="Consolas"/>
              </a:rPr>
              <a:t>13 / 14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spTree>
      <p:nvGrpSpPr>
        <p:cNvPr id="18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0F6E56"/>
              </a:gs>
              <a:gs pos="100000">
                <a:srgbClr val="0B5A46"/>
              </a:gs>
            </a:gsLst>
            <a:lin ang="18900000" scaled="0"/>
          </a:gra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0" name="Oval 2"/>
          <p:cNvSpPr/>
          <p:nvPr/>
        </p:nvSpPr>
        <p:spPr>
          <a:xfrm>
            <a:off x="-3048000" y="3810000"/>
            <a:ext cx="6096000" cy="6096000"/>
          </a:xfrm>
          <a:prstGeom prst="ellipse">
            <a:avLst/>
          </a:prstGeom>
          <a:noFill/>
          <a:ln w="12700">
            <a:solidFill>
              <a:srgbClr val="CADFDA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1" name="Oval 3"/>
          <p:cNvSpPr/>
          <p:nvPr/>
        </p:nvSpPr>
        <p:spPr>
          <a:xfrm>
            <a:off x="-1905000" y="4953000"/>
            <a:ext cx="3810000" cy="3810000"/>
          </a:xfrm>
          <a:prstGeom prst="ellipse">
            <a:avLst/>
          </a:prstGeom>
          <a:noFill/>
          <a:ln w="12700">
            <a:solidFill>
              <a:srgbClr val="CADFDA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2" name="Oval 4"/>
          <p:cNvSpPr/>
          <p:nvPr/>
        </p:nvSpPr>
        <p:spPr>
          <a:xfrm>
            <a:off x="9525000" y="-2476500"/>
            <a:ext cx="4572000" cy="4572000"/>
          </a:xfrm>
          <a:prstGeom prst="ellipse">
            <a:avLst/>
          </a:prstGeom>
          <a:noFill/>
          <a:ln w="12700">
            <a:solidFill>
              <a:srgbClr val="CADFDA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3" name="Oval 5"/>
          <p:cNvSpPr/>
          <p:nvPr/>
        </p:nvSpPr>
        <p:spPr>
          <a:xfrm>
            <a:off x="10477500" y="-1524000"/>
            <a:ext cx="2667000" cy="2667000"/>
          </a:xfrm>
          <a:prstGeom prst="ellipse">
            <a:avLst/>
          </a:prstGeom>
          <a:noFill/>
          <a:ln w="12700">
            <a:solidFill>
              <a:srgbClr val="CADFDA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4" name="TextBox 6"/>
          <p:cNvSpPr txBox="1"/>
          <p:nvPr/>
        </p:nvSpPr>
        <p:spPr>
          <a:xfrm>
            <a:off x="609600" y="1600200"/>
            <a:ext cx="10972800" cy="2476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B7D4CC"/>
                </a:solidFill>
                <a:latin typeface="Microsoft YaHei"/>
                <a:ea typeface="Microsoft YaHei"/>
                <a:cs typeface="Microsoft YaHei"/>
              </a:rPr>
              <a:t>一句话</a:t>
            </a:r>
            <a:endParaRPr/>
          </a:p>
        </p:txBody>
      </p:sp>
      <p:sp>
        <p:nvSpPr>
          <p:cNvPr id="195" name="TextBox 7"/>
          <p:cNvSpPr txBox="1"/>
          <p:nvPr/>
        </p:nvSpPr>
        <p:spPr>
          <a:xfrm>
            <a:off x="1428750" y="1962150"/>
            <a:ext cx="9334500" cy="20002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3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先回答学生问的问题；</a:t>
            </a:r>
            <a:endParaRPr/>
          </a:p>
          <a:p>
            <a:pPr algn="ctr">
              <a:lnSpc>
                <a:spcPct val="125000"/>
              </a:lnSpc>
            </a:pPr>
            <a:r>
              <a:rPr sz="3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当他问不出来的时候，</a:t>
            </a:r>
            <a:endParaRPr/>
          </a:p>
          <a:p>
            <a:pPr algn="ctr">
              <a:lnSpc>
                <a:spcPct val="125000"/>
              </a:lnSpc>
            </a:pPr>
            <a:r>
              <a:rPr sz="3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替他找出缺的那一块并补上。</a:t>
            </a:r>
            <a:endParaRPr/>
          </a:p>
        </p:txBody>
      </p:sp>
      <p:sp>
        <p:nvSpPr>
          <p:cNvPr id="196" name="Rectangle 8"/>
          <p:cNvSpPr/>
          <p:nvPr/>
        </p:nvSpPr>
        <p:spPr>
          <a:xfrm>
            <a:off x="5638800" y="4191000"/>
            <a:ext cx="914400" cy="38100"/>
          </a:xfrm>
          <a:prstGeom prst="rect">
            <a:avLst/>
          </a:prstGeom>
          <a:solidFill>
            <a:srgbClr val="CFE2DD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7" name="TextBox 9"/>
          <p:cNvSpPr txBox="1"/>
          <p:nvPr/>
        </p:nvSpPr>
        <p:spPr>
          <a:xfrm>
            <a:off x="2286000" y="4457700"/>
            <a:ext cx="7620000" cy="8572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50000"/>
              </a:lnSpc>
            </a:pPr>
            <a:r>
              <a:rPr sz="1500" b="0">
                <a:solidFill>
                  <a:srgbClr val="E7F1EE"/>
                </a:solidFill>
                <a:latin typeface="Microsoft YaHei"/>
                <a:ea typeface="Microsoft YaHei"/>
                <a:cs typeface="Microsoft YaHei"/>
              </a:rPr>
              <a:t>每一步都有据可查、可验证、可追踪。</a:t>
            </a:r>
            <a:endParaRPr/>
          </a:p>
          <a:p>
            <a:pPr algn="ctr">
              <a:lnSpc>
                <a:spcPct val="150000"/>
              </a:lnSpc>
            </a:pPr>
            <a:r>
              <a:rPr sz="1500" b="0">
                <a:solidFill>
                  <a:srgbClr val="E7F1EE"/>
                </a:solidFill>
                <a:latin typeface="Microsoft YaHei"/>
                <a:ea typeface="Microsoft YaHei"/>
                <a:cs typeface="Microsoft YaHei"/>
              </a:rPr>
              <a:t>一个教学智能体，可以在「帮到学生」和「不欺骗学生」之间同时站住。</a:t>
            </a:r>
            <a:endParaRPr/>
          </a:p>
        </p:txBody>
      </p:sp>
      <p:sp>
        <p:nvSpPr>
          <p:cNvPr id="198" name="Rectangle 10"/>
          <p:cNvSpPr/>
          <p:nvPr/>
        </p:nvSpPr>
        <p:spPr>
          <a:xfrm>
            <a:off x="609600" y="6362700"/>
            <a:ext cx="38100" cy="190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9" name="TextBox 11"/>
          <p:cNvSpPr txBox="1"/>
          <p:nvPr/>
        </p:nvSpPr>
        <p:spPr>
          <a:xfrm>
            <a:off x="742950" y="6324600"/>
            <a:ext cx="6667500" cy="2476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CFE2DD"/>
                </a:solidFill>
                <a:latin typeface="Microsoft YaHei"/>
                <a:ea typeface="Microsoft YaHei"/>
                <a:cs typeface="Microsoft YaHei"/>
              </a:rPr>
              <a:t>微积分学伴 · 大湾区 AI Coding 创新大赛 · 方向一</a:t>
            </a:r>
            <a:endParaRPr/>
          </a:p>
        </p:txBody>
      </p:sp>
      <p:sp>
        <p:nvSpPr>
          <p:cNvPr id="200" name="TextBox 12"/>
          <p:cNvSpPr txBox="1"/>
          <p:nvPr/>
        </p:nvSpPr>
        <p:spPr>
          <a:xfrm>
            <a:off x="9620250" y="6324600"/>
            <a:ext cx="1962150" cy="2476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050" b="0">
                <a:solidFill>
                  <a:srgbClr val="CFE2DD"/>
                </a:solidFill>
                <a:latin typeface="Consolas"/>
                <a:ea typeface="Consolas"/>
                <a:cs typeface="Consolas"/>
              </a:rPr>
              <a:t>14 / 14</a:t>
            </a:r>
            <a:endParaRPr/>
          </a:p>
        </p:txBody>
      </p:sp>
      <p:sp>
        <p:nvSpPr>
          <p:cNvPr id="201" name="TextBox Team"/>
          <p:cNvSpPr txBox="1"/>
          <p:nvPr/>
        </p:nvSpPr>
        <p:spPr>
          <a:xfrm>
            <a:off x="2286000" y="5334000"/>
            <a:ext cx="762000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sz="1050" b="0">
                <a:solidFill>
                  <a:srgbClr val="CFE2DD"/>
                </a:solidFill>
                <a:latin typeface="Microsoft YaHei"/>
                <a:ea typeface="Microsoft YaHei"/>
                <a:cs typeface="Microsoft YaHei"/>
              </a:rPr>
              <a:t>团队 · 东马星辰 ｜ 三个不同学科，分工明确</a:t>
            </a:r>
          </a:p>
          <a:p>
            <a:pPr algn="ctr"/>
            <a:r>
              <a:rPr sz="1050" b="0">
                <a:solidFill>
                  <a:srgbClr val="CFE2DD"/>
                </a:solidFill>
                <a:latin typeface="Microsoft YaHei"/>
                <a:ea typeface="Microsoft YaHei"/>
                <a:cs typeface="Microsoft YaHei"/>
              </a:rPr>
              <a:t>王东麒（材料科学与工程）· 苏振轩（电气工程及其自动化）· 黄浩（计算机科学与技术）</a:t>
            </a:r>
          </a:p>
          <a:p>
            <a:pPr algn="ctr"/>
            <a:r>
              <a:rPr sz="1050" b="0">
                <a:solidFill>
                  <a:srgbClr val="CFE2DD"/>
                </a:solidFill>
                <a:latin typeface="Microsoft YaHei"/>
                <a:ea typeface="Microsoft YaHei"/>
                <a:cs typeface="Microsoft YaHei"/>
              </a:rPr>
              <a:t>分工：学习工作台 ／ 教学智能 ／ 服务、集成与部署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2026-09-26T01:46:01Z</dcterms:created>
  <dcterms:modified xsi:type="dcterms:W3CDTF">2026-09-26T01:46:01Z</dcterms:modified>
</cp:coreProperties>
</file>